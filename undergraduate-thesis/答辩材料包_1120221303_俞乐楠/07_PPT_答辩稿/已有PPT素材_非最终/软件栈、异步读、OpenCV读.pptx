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725" r:id="rId2"/>
    <p:sldId id="2726" r:id="rId3"/>
    <p:sldId id="2727" r:id="rId4"/>
    <p:sldId id="2733" r:id="rId5"/>
    <p:sldId id="2730" r:id="rId6"/>
    <p:sldId id="2729" r:id="rId7"/>
    <p:sldId id="2728" r:id="rId8"/>
    <p:sldId id="2732" r:id="rId9"/>
    <p:sldId id="273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5"/>
    <p:restoredTop sz="94641"/>
  </p:normalViewPr>
  <p:slideViewPr>
    <p:cSldViewPr snapToGrid="0">
      <p:cViewPr varScale="1">
        <p:scale>
          <a:sx n="95" d="100"/>
          <a:sy n="95" d="100"/>
        </p:scale>
        <p:origin x="184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01:54:42.9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33,'56'-2,"0"0,-1 0,-1 0,1 2,-1 0,41 0,-19 0,-16 0,-15 0,-4 0,1 0,-1 0,2 0,-1 0,-1 0,0 0,-4 0,-2 0,-8 0,-6 0,-5 0,-2 0,7 0,-4 0,5 0,-8 0,0 0,2 0,4 0,1 0,0 0,-2 0,-3 0,0 0,0 0,0 0,-1-11,0-3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01:54:44.6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0,'82'0,"-29"0,4 0,19 0,5 0,13 0,2 0,2 0,-1 0,-6 0,-3 0,-15 0,-4 0,-15 0,-5 0,25 0,-27 0,-15 0,-6 0,-6 0,-2 0,-3 0,-1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01:54:58.8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1 743,'80'0,"-30"0,3 0,7 0,4 0,10-1,3-1,6-1,0-2,0-2,-1-2,4-3,0-2,2-2,1-1,2-2,0 0,-3 1,0-1,-7 3,-2 0,-10 2,-3 1,-9 2,-3 1,30-6,-27 6,-24 5,-13 2,-9 0,-31-20,-13 4,-46-22,28 23,-4 2,-12-3,-6 0,-14-1,-5 0,25 7,-1 1,-2-1,-4 1,-2-1,0 1,0 0,-1 0,2 1,2 1,1 1,1 0,-29-4,5 2,11 1,4 0,12 2,6-1,-26-4,36 3,27 5,17 2,53 2,-9 1,45 0,-4 0,-20 0,5 0,12-1,4-1,10-1,2 0,-1-1,-1 0,-11 1,-2-1,-9 1,-3 1,-11 0,-4 0,28-1,-17 1,-13 2,-11 0,-7 0,-5 0,-3 0,7 0,12 0,12 3,4 4,-8 2,-13 3,-15 0,-11-1,-9 8,-16-5,-17 9,-22-2,-29 8,32-12,-4 2,-10 1,-4 0,-9 2,-3-1,-1-1,0-1,-1-2,2-1,7-3,4-3,11-2,3-2,-34 0,30-5,18-1,12 0,6 0,0 0,2 0,4 0,102-7,16-1,-32 3,8-1,2 0,0-1,1 1,2 0,9-1,2 0,0 1,0 1,1 0,-2 0,-5 2,-2 1,-3 0,23 0,-8 1,-21 1,-6 0,-14 0,-4 0,21 0,-12-1,-2-7,6-9,-27 6,-3-3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01:55:01.0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613 8,'85'0,"0"0,3 0,1 0,-1 0,-1 0,1 0,-2 0,-5 0,-3 0,-10 0,-4 0,33 0,-32 0,-27 0,-22 0,-80 0,-30 0,33 1,-8 0,-2 2,-10 3,-3 2,-1 1,-9 1,-1 3,0 0,-2 3,1 1,2 0,8 1,2-1,4 1,-13 3,8-1,22-5,12-2,25-2,97-23,6-3,14-1,-13 1,5-1,2 0,5 0,2 1,-1 0,-2 1,1 2,-2 0,-4 1,-1 2,-2 0,-9 3,-2 1,-1 1,26-3,-4 1,-16 2,-6 0,-16 1,-4 0,24-2,-30 2,-18 2,-11 1,-2 1,7 3,-6 2,-43 8,-22-7,-11 2,-9 0,-10-1,-6 0,6-1,-5 1,-5-1,12-1,-4-1,-1-1,0 1,-3-2,0 1,0-1,0-1,4 0,-1-1,2 0,4 0,-8 0,4-2,7 1,-6 0,10 0,-15-1,56-3,32 0,44-4,26 5,-5-1,9 0,-11 2,4 0,3 0,20-2,6 0,-9-1,-2 2,-6 0,-3-2,1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01:55:10.8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4311 234,'-77'0,"-1"0,16 0,-9 0,-25 0,33 0,-6 0,-20 0,-6 0,21 0,-3 0,1 0,0 0,0 0,2 0,-27 0,4 0,16 0,6 0,20 0,4 0,-29 0,22 0,9 0,-7-1,-13-2,-9-6,-8-6,-7-4,44 8,-1 0,-2-1,-1 1,-1 0,0 1,1 0,1 1,-46-4,12 6,11 4,4 3,3 0,-7 0,-14 0,38 0,-2 0,-6 0,-3 0,-5 0,-3-2,-3 1,0-1,0 0,0 1,5-1,1 1,12 0,3 1,-24 0,26 0,24 0,7 1,-1 5,-2 1,-1 2,6-1,94-1,14 3,-23-5,12-1,3 0,10 0,3 0,4-1,-12-1,2 1,3-2,3 1,-10-1,2 0,2 0,1 0,0-1,4 0,0 0,1 0,1 0,-1 0,3 0,0 0,1 0,-1 0,1 0,-16 0,0 0,1 0,-1 0,0 0,-1 0,14 0,-1 0,0 0,-1 0,0-1,-3 0,0-1,-1 1,0-2,-2 1,-3-1,-1-1,0 1,-1-2,-2 1,14-1,-2-1,-1 0,-2 0,-11 0,-1 0,-2 0,-3 1,10-1,-3 2,-4 0,15 0,-7 2,-18 1,-3 1,-8 0,-2 0,45-4,-46 0,0-2,0 0,-1-1,37-7,-23 5,-23 6,-14 2,-3 1,4 0,2 0,-2 0,-7 0,-10 3,-63 15,0-8,-13 0,-10 2,-12 2,-5 1,4-2,-4 0,-5 1,-4 1,16-3,-3 2,-3-1,-2 2,-2-1,-2 1,12-2,-2 1,-1 0,-2 0,-1 1,-1-1,-1 1,-1-1,1 0,-3 1,0-1,-2 1,0-1,-1 1,0-1,1 0,0 0,-1 0,-1 0,0 0,0-1,0 1,1-1,0 0,2 0,0 0,-4-1,1 1,0-1,1 0,1 0,1-1,2 0,3-1,-14 1,2-1,2 0,3-1,3-1,4 0,-14-1,6 0,4-2,5 0,-1-1,6-2,7 0,-2-2,12 0,1-1,57-4,48-4,30-1,0 3,10 0,5 0,9 0,4 1,-17 3,2 1,3 1,2 0,-6 1,2-1,2 0,1 1,1 1,4 0,2 0,1 1,-1 1,1-1,-1 0,2 1,-1 0,-1 0,-2 0,12 1,-2 1,-3 0,-4-1,9 2,-6-1,-6 0,7-1,-12-1,1 0,-61-3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6T09:19:16.4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0,'70'0,"1"0,9 0,3 0,5 0,3 0,6 0,0 0,-9 0,-3 0,-12 0,-3 0,-14 0,-5 0,19 0,-22 0,-21 0,-11 2,-3 1,-1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6T09:19:16.6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6T09:19:17.9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1,'86'0,"0"0,8 0,2 0,-27 0,1 0,2 0,5 0,1 0,0 0,-5 0,-1 0,-2 0,23 0,-5 0,-21 0,-6 0,12 0,-35 0,-37 0,-18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6T09:20:03.9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0 264,'77'1,"-1"0,1 0,-1 0,2-1,3 1,5 0,3-1,2 0,3 1,-5-2,4 1,2 0,2-1,2 1,2-1,0 0,1-1,-10 1,1-1,1 0,2 0,0-1,1 1,0-1,0 1,0-1,0 0,0 0,2 0,0 0,1 0,-1 0,0 0,-1-1,-1 1,-1-1,-2 0,0 0,-1 0,-1-1,0 0,-2 1,-1-1,-2 0,-1 0,-2 0,7-1,-1 0,-2 0,-1 0,-4-1,-1 1,-3 1,10-2,-3 1,-3 0,-5 0,-3 0,14-2,-7-1,-8 2,-4 0,-12 1,-11 1,-52-1,-36-12,15 7,-12-6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6T09:23:07.4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157 1,'51'0,"1"0,21 0,8 0,-10 0,5 0,3 0,11 0,4 0,0 0,5 0,1 0,-1 0,-5 0,0 0,-3 0,-8 0,-2 0,-3 0,21 0,-8 0,-23 0,-6 0,22 0,-39 0,-26 0,-17 0,-51 0,13 0,-47 3,13 6,21-1,-6 3,-23 6,-9 4,13-2,-4 2,-3 1,8-3,-4 1,-1 0,-1 1,-5 1,-2 1,0-1,2 0,4-1,0-1,1-1,4 0,-13 1,4 0,6-3,-6 3,11-4,-4 1,56-9,111 1,-24-5,9-1,6 2,8-1,3 0,-19-1,1-1,2 0,1-1,7 1,2-1,1 0,-2 0,-5 0,0-1,-2 0,-1 0,18 0,-3 0,-3 0,-14 0,-2 0,-5 0,16 0,-7 0,-13 0,-5 0,21 0,-34 0,-21 0,-12 0,-63-9,-22-6,-7 0,-13-1,19 3,-2-1,5 2,1-1,5 2,-2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A386F-2694-9B42-A888-1CE1808A48AA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1594C-55EB-D546-ADAE-1C2194D79C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8688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578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7E794-D1B6-2092-2052-2E33BAB6B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1FE0C3-B6C4-C0F3-C1CE-A9168A8E0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83685D-5ED1-A9C3-3AAB-3038FC785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34FA4D-FBBB-D918-262A-31D482FF02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108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CF5A1-9767-90DE-5C97-024F6172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21BC2F-B9A6-BF6B-355F-3B88AC299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7AE03E-BFFB-D448-3A25-6ADA4A30C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要读什么东西些什么东西，接口是啥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FAAA8-E3E7-ADD2-75E8-66E8323E54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659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1E3EC-9EE9-EF4F-0C20-95CFD5FA5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93971D-58CB-D9D4-8B82-4B18B9036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4FA3F3-29F1-4886-CCEB-BF629946A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2BDA60-0111-7FD8-A7D2-25B89C54B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576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D3030-6981-D102-D0AC-55452EF3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774D47-F83B-FBBD-7AD8-02190C951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953EA1-FD63-9340-A0EA-40B279D71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数据视频流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86A95B-3513-459A-3AE9-5BFE194BB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502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ADB84-6815-8B0B-AC80-B390398B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4BCC40-BCB0-DA6D-FCEA-3FA478BE6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EABA41-E904-8597-0295-E155F2E57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FECC3B-2576-57F9-22A5-7960BB733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041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A0C4-162C-85C4-97F9-E9081F73E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095BEC-A767-9755-BBB7-975D552D1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064FD0-9A75-6EE4-AF28-044D3F320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接口语义</a:t>
            </a:r>
            <a:endParaRPr lang="en-US" altLang="zh-CN" dirty="0"/>
          </a:p>
          <a:p>
            <a:r>
              <a:rPr lang="en-US" altLang="zh-CN" dirty="0" err="1"/>
              <a:t>pytorch</a:t>
            </a:r>
            <a:r>
              <a:rPr lang="zh-CN" altLang="en-US" dirty="0"/>
              <a:t>任务分配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95D34-C383-DAF3-FB6B-C77B4214A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3160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43E63-CA77-CD87-F2C0-140FE58A6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4E0FB2-8EB7-9781-9BE7-50F7397EF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B26BF5-0FC3-FBD0-2293-AEBC90110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table</a:t>
            </a:r>
            <a:r>
              <a:rPr lang="zh-CN" altLang="en-US" dirty="0"/>
              <a:t>的声明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FAD6DA-D214-F3DB-C680-BEC58DD9A6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295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5574D-731B-429B-C2EC-BF178CB84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6993D8-95EA-D5C8-ACD9-FF43A91F3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C6EDA6-DE2E-6400-F775-7CF4D9C8C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942BF8-9ECE-8D15-9EB8-F4441E303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2426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17370293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8117716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056727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8804646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98726559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71181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24610914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4748880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0551740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44712234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0789178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42002154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59188109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43022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47738554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61656084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12957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688828945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4381674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92076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78146800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96841306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06420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973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p14="http://schemas.microsoft.com/office/powerpoint/2010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19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5.xml"/><Relationship Id="rId3" Type="http://schemas.openxmlformats.org/officeDocument/2006/relationships/image" Target="../media/image9.png"/><Relationship Id="rId7" Type="http://schemas.openxmlformats.org/officeDocument/2006/relationships/customXml" Target="../ink/ink2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3.xml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20.png"/><Relationship Id="rId12" Type="http://schemas.openxmlformats.org/officeDocument/2006/relationships/image" Target="../media/image1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.xml"/><Relationship Id="rId11" Type="http://schemas.openxmlformats.org/officeDocument/2006/relationships/customXml" Target="../ink/ink9.xml"/><Relationship Id="rId5" Type="http://schemas.openxmlformats.org/officeDocument/2006/relationships/image" Target="../media/image110.png"/><Relationship Id="rId15" Type="http://schemas.openxmlformats.org/officeDocument/2006/relationships/image" Target="../media/image170.png"/><Relationship Id="rId10" Type="http://schemas.openxmlformats.org/officeDocument/2006/relationships/image" Target="../media/image17.png"/><Relationship Id="rId4" Type="http://schemas.openxmlformats.org/officeDocument/2006/relationships/customXml" Target="../ink/ink6.xml"/><Relationship Id="rId9" Type="http://schemas.openxmlformats.org/officeDocument/2006/relationships/image" Target="../media/image130.png"/><Relationship Id="rId14" Type="http://schemas.openxmlformats.org/officeDocument/2006/relationships/customXml" Target="../ink/ink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7CFF9-A525-4EAF-B3FE-037F2439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DBA5AE-23A6-F5B0-8C1B-3DBB7581527D}"/>
              </a:ext>
            </a:extLst>
          </p:cNvPr>
          <p:cNvSpPr/>
          <p:nvPr/>
        </p:nvSpPr>
        <p:spPr>
          <a:xfrm>
            <a:off x="10250398" y="1233055"/>
            <a:ext cx="1399309" cy="40593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User</a:t>
            </a:r>
          </a:p>
          <a:p>
            <a:pPr algn="ctr"/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21A5FB-2D29-75C4-E8FE-467C27C38A58}"/>
              </a:ext>
            </a:extLst>
          </p:cNvPr>
          <p:cNvSpPr/>
          <p:nvPr/>
        </p:nvSpPr>
        <p:spPr>
          <a:xfrm>
            <a:off x="7827820" y="1233055"/>
            <a:ext cx="1399309" cy="405938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OS</a:t>
            </a:r>
          </a:p>
          <a:p>
            <a:pPr algn="ctr"/>
            <a:r>
              <a:rPr kumimoji="1" lang="en-US" altLang="zh-CN" dirty="0"/>
              <a:t>Kernel</a:t>
            </a:r>
          </a:p>
          <a:p>
            <a:pPr algn="ctr"/>
            <a:r>
              <a:rPr kumimoji="1" lang="en-US" altLang="zh-CN" dirty="0"/>
              <a:t>EL2/EL1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28C82B-DD7C-1A97-0D0B-2620151269CC}"/>
              </a:ext>
            </a:extLst>
          </p:cNvPr>
          <p:cNvSpPr/>
          <p:nvPr/>
        </p:nvSpPr>
        <p:spPr>
          <a:xfrm>
            <a:off x="5658309" y="1233055"/>
            <a:ext cx="1399309" cy="178723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Hardware</a:t>
            </a:r>
          </a:p>
          <a:p>
            <a:pPr algn="ctr"/>
            <a:endParaRPr kumimoji="1" lang="en-US" altLang="zh-CN" dirty="0"/>
          </a:p>
          <a:p>
            <a:pPr algn="ctr"/>
            <a:r>
              <a:rPr kumimoji="1" lang="en-US" altLang="zh-CN" dirty="0" err="1"/>
              <a:t>OnlyCPU</a:t>
            </a:r>
            <a:endParaRPr kumimoji="1"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ED54C0-52D1-600D-A9C6-4180BBBC365F}"/>
              </a:ext>
            </a:extLst>
          </p:cNvPr>
          <p:cNvSpPr/>
          <p:nvPr/>
        </p:nvSpPr>
        <p:spPr>
          <a:xfrm>
            <a:off x="5658310" y="3428898"/>
            <a:ext cx="1399309" cy="18635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Hardware</a:t>
            </a:r>
          </a:p>
          <a:p>
            <a:pPr algn="ctr"/>
            <a:r>
              <a:rPr kumimoji="1" lang="en-US" altLang="zh-CN" dirty="0"/>
              <a:t>CPU+GPU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1DDC83-848B-4B62-B028-5EDD9F14DEE7}"/>
              </a:ext>
            </a:extLst>
          </p:cNvPr>
          <p:cNvSpPr txBox="1"/>
          <p:nvPr/>
        </p:nvSpPr>
        <p:spPr>
          <a:xfrm>
            <a:off x="4706326" y="5694116"/>
            <a:ext cx="3938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CPU</a:t>
            </a:r>
            <a:r>
              <a:rPr kumimoji="1" lang="en-US" altLang="zh-CN" dirty="0">
                <a:sym typeface="Wingdings" pitchFamily="2" charset="2"/>
              </a:rPr>
              <a:t>&lt;--PCIE(</a:t>
            </a:r>
            <a:r>
              <a:rPr kumimoji="1" lang="en-US" altLang="zh-CN" dirty="0" err="1">
                <a:sym typeface="Wingdings" pitchFamily="2" charset="2"/>
              </a:rPr>
              <a:t>ioctl</a:t>
            </a:r>
            <a:r>
              <a:rPr kumimoji="1" lang="zh-CN" altLang="en-US" dirty="0">
                <a:sym typeface="Wingdings" pitchFamily="2" charset="2"/>
              </a:rPr>
              <a:t>调用</a:t>
            </a:r>
            <a:r>
              <a:rPr kumimoji="1" lang="en-US" altLang="zh-CN" dirty="0">
                <a:sym typeface="Wingdings" pitchFamily="2" charset="2"/>
              </a:rPr>
              <a:t>)--</a:t>
            </a:r>
            <a:r>
              <a:rPr kumimoji="1" lang="en-US" altLang="zh-CN" dirty="0"/>
              <a:t>&gt;GPU</a:t>
            </a:r>
          </a:p>
          <a:p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22E2CA-679C-613E-88C7-5D589E7F9122}"/>
              </a:ext>
            </a:extLst>
          </p:cNvPr>
          <p:cNvSpPr/>
          <p:nvPr/>
        </p:nvSpPr>
        <p:spPr>
          <a:xfrm>
            <a:off x="2656607" y="1229591"/>
            <a:ext cx="1863439" cy="17872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Cameras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853FC0-CB8E-942C-7176-1A16521E3764}"/>
              </a:ext>
            </a:extLst>
          </p:cNvPr>
          <p:cNvSpPr/>
          <p:nvPr/>
        </p:nvSpPr>
        <p:spPr>
          <a:xfrm>
            <a:off x="2656607" y="3425433"/>
            <a:ext cx="1863439" cy="186353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2Arms</a:t>
            </a:r>
            <a:r>
              <a:rPr kumimoji="1" lang="zh-CN" altLang="en-US" dirty="0"/>
              <a:t>*</a:t>
            </a:r>
            <a:r>
              <a:rPr kumimoji="1" lang="en-US" altLang="zh-CN" dirty="0"/>
              <a:t>6Jionts</a:t>
            </a: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A11B69E-5EF6-13AB-65E8-1B799B14E0FF}"/>
              </a:ext>
            </a:extLst>
          </p:cNvPr>
          <p:cNvCxnSpPr>
            <a:stCxn id="2" idx="1"/>
            <a:endCxn id="3" idx="3"/>
          </p:cNvCxnSpPr>
          <p:nvPr/>
        </p:nvCxnSpPr>
        <p:spPr>
          <a:xfrm flipH="1">
            <a:off x="9227129" y="3262746"/>
            <a:ext cx="10232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504B70AD-BC82-C10A-C814-CF1F8ABBB499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7057619" y="3255818"/>
            <a:ext cx="770201" cy="6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6E75E68-8756-D3B4-80EC-91B75DDE9CC3}"/>
              </a:ext>
            </a:extLst>
          </p:cNvPr>
          <p:cNvCxnSpPr>
            <a:stCxn id="4" idx="1"/>
            <a:endCxn id="10" idx="3"/>
          </p:cNvCxnSpPr>
          <p:nvPr/>
        </p:nvCxnSpPr>
        <p:spPr>
          <a:xfrm flipH="1" flipV="1">
            <a:off x="4520046" y="2123209"/>
            <a:ext cx="1138263" cy="3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21A8708F-B1CC-4CF7-D1EB-53885C86FF76}"/>
              </a:ext>
            </a:extLst>
          </p:cNvPr>
          <p:cNvCxnSpPr>
            <a:stCxn id="4" idx="1"/>
            <a:endCxn id="14" idx="3"/>
          </p:cNvCxnSpPr>
          <p:nvPr/>
        </p:nvCxnSpPr>
        <p:spPr>
          <a:xfrm flipH="1">
            <a:off x="4520046" y="2126673"/>
            <a:ext cx="1138263" cy="2230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5466EE5-DDE8-9E71-C5B2-4AD1E5CE26FB}"/>
              </a:ext>
            </a:extLst>
          </p:cNvPr>
          <p:cNvSpPr txBox="1"/>
          <p:nvPr/>
        </p:nvSpPr>
        <p:spPr>
          <a:xfrm>
            <a:off x="3620750" y="863722"/>
            <a:ext cx="3360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V4L2</a:t>
            </a:r>
            <a:r>
              <a:rPr kumimoji="1" lang="zh-CN" altLang="en-US" dirty="0"/>
              <a:t>子系统（</a:t>
            </a:r>
            <a:r>
              <a:rPr kumimoji="1" lang="en-US" altLang="zh-CN" dirty="0"/>
              <a:t>Vedio4Linux2</a:t>
            </a:r>
            <a:r>
              <a:rPr kumimoji="1" lang="zh-CN" altLang="en-US" dirty="0"/>
              <a:t>）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83AADE6-48C9-ACA9-F45E-B56197CAC9DE}"/>
              </a:ext>
            </a:extLst>
          </p:cNvPr>
          <p:cNvSpPr txBox="1"/>
          <p:nvPr/>
        </p:nvSpPr>
        <p:spPr>
          <a:xfrm>
            <a:off x="4471764" y="3092572"/>
            <a:ext cx="138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Read/write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043850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487DC-3DD7-284B-2FF7-0A04D8283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F5B615A-D785-A065-A89B-7BFC6F52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软件栈描述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F84629-557B-80FD-3C73-33010C95A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FB5E004-D1B5-05A5-C247-E92237958878}"/>
              </a:ext>
            </a:extLst>
          </p:cNvPr>
          <p:cNvSpPr/>
          <p:nvPr/>
        </p:nvSpPr>
        <p:spPr>
          <a:xfrm>
            <a:off x="2890475" y="997936"/>
            <a:ext cx="2507916" cy="1652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torrh.nn</a:t>
            </a:r>
            <a:endParaRPr kumimoji="1" lang="en-US" altLang="zh-CN" dirty="0"/>
          </a:p>
          <a:p>
            <a:pPr algn="ctr"/>
            <a:r>
              <a:rPr kumimoji="1" lang="en-US" altLang="zh-CN" dirty="0" err="1"/>
              <a:t>torchCPU</a:t>
            </a:r>
            <a:r>
              <a:rPr kumimoji="1" lang="zh-CN" altLang="en-US" dirty="0"/>
              <a:t>并行线程池</a:t>
            </a:r>
            <a:endParaRPr kumimoji="1" lang="en-US" altLang="zh-CN" dirty="0"/>
          </a:p>
          <a:p>
            <a:pPr algn="ctr"/>
            <a:r>
              <a:rPr kumimoji="1" lang="en-US" altLang="zh-CN" dirty="0"/>
              <a:t>OpenMP/caffe2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pthreadpool</a:t>
            </a:r>
            <a:endParaRPr kumimoji="1" lang="zh-CN" altLang="en-US" dirty="0"/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B7A59E85-2EF9-31BD-FF26-A06C21B36360}"/>
              </a:ext>
            </a:extLst>
          </p:cNvPr>
          <p:cNvGrpSpPr/>
          <p:nvPr/>
        </p:nvGrpSpPr>
        <p:grpSpPr>
          <a:xfrm>
            <a:off x="433051" y="1399309"/>
            <a:ext cx="2346998" cy="4059382"/>
            <a:chOff x="821057" y="1399309"/>
            <a:chExt cx="2346998" cy="4059382"/>
          </a:xfrm>
        </p:grpSpPr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2B9BFC4E-59FD-8407-43AE-585F95E6FA41}"/>
                </a:ext>
              </a:extLst>
            </p:cNvPr>
            <p:cNvSpPr/>
            <p:nvPr/>
          </p:nvSpPr>
          <p:spPr>
            <a:xfrm>
              <a:off x="821057" y="1399309"/>
              <a:ext cx="2346998" cy="405938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Lerobot</a:t>
              </a:r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zh-CN" altLang="en-US" dirty="0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79314F8D-0129-793F-C426-4568A27634F7}"/>
                </a:ext>
              </a:extLst>
            </p:cNvPr>
            <p:cNvSpPr/>
            <p:nvPr/>
          </p:nvSpPr>
          <p:spPr>
            <a:xfrm>
              <a:off x="1438508" y="2286000"/>
              <a:ext cx="853068" cy="48507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推理</a:t>
              </a: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2BEB25F2-4B8C-F742-09DE-1A9ACEA565B1}"/>
                </a:ext>
              </a:extLst>
            </p:cNvPr>
            <p:cNvSpPr/>
            <p:nvPr/>
          </p:nvSpPr>
          <p:spPr>
            <a:xfrm>
              <a:off x="2007220" y="3046625"/>
              <a:ext cx="853068" cy="48507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执行</a:t>
              </a: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F0E5F7ED-1FD1-80C0-4B58-C9FBA2E68BBA}"/>
                </a:ext>
              </a:extLst>
            </p:cNvPr>
            <p:cNvSpPr/>
            <p:nvPr/>
          </p:nvSpPr>
          <p:spPr>
            <a:xfrm>
              <a:off x="959160" y="3046625"/>
              <a:ext cx="735980" cy="48507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观测</a:t>
              </a:r>
            </a:p>
          </p:txBody>
        </p:sp>
        <p:cxnSp>
          <p:nvCxnSpPr>
            <p:cNvPr id="96" name="直线箭头连接符 95">
              <a:extLst>
                <a:ext uri="{FF2B5EF4-FFF2-40B4-BE49-F238E27FC236}">
                  <a16:creationId xmlns:a16="http://schemas.microsoft.com/office/drawing/2014/main" id="{F08D894B-9F98-ACBD-C56B-8CE081CECD77}"/>
                </a:ext>
              </a:extLst>
            </p:cNvPr>
            <p:cNvCxnSpPr>
              <a:stCxn id="94" idx="0"/>
              <a:endCxn id="92" idx="2"/>
            </p:cNvCxnSpPr>
            <p:nvPr/>
          </p:nvCxnSpPr>
          <p:spPr>
            <a:xfrm flipV="1">
              <a:off x="1327150" y="2771078"/>
              <a:ext cx="537892" cy="2755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线箭头连接符 97">
              <a:extLst>
                <a:ext uri="{FF2B5EF4-FFF2-40B4-BE49-F238E27FC236}">
                  <a16:creationId xmlns:a16="http://schemas.microsoft.com/office/drawing/2014/main" id="{DA7C9FDC-E775-28F9-42FC-392337B8AC85}"/>
                </a:ext>
              </a:extLst>
            </p:cNvPr>
            <p:cNvCxnSpPr>
              <a:endCxn id="93" idx="0"/>
            </p:cNvCxnSpPr>
            <p:nvPr/>
          </p:nvCxnSpPr>
          <p:spPr>
            <a:xfrm>
              <a:off x="1865042" y="2771078"/>
              <a:ext cx="568712" cy="2755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直线箭头连接符 99">
              <a:extLst>
                <a:ext uri="{FF2B5EF4-FFF2-40B4-BE49-F238E27FC236}">
                  <a16:creationId xmlns:a16="http://schemas.microsoft.com/office/drawing/2014/main" id="{ABBF4EB1-9FAD-10FF-C078-75574FD31177}"/>
                </a:ext>
              </a:extLst>
            </p:cNvPr>
            <p:cNvCxnSpPr>
              <a:stCxn id="93" idx="1"/>
            </p:cNvCxnSpPr>
            <p:nvPr/>
          </p:nvCxnSpPr>
          <p:spPr>
            <a:xfrm flipH="1">
              <a:off x="1695140" y="3289164"/>
              <a:ext cx="312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37F07836-2570-3860-9B7F-F0D036B38841}"/>
                </a:ext>
              </a:extLst>
            </p:cNvPr>
            <p:cNvSpPr/>
            <p:nvPr/>
          </p:nvSpPr>
          <p:spPr>
            <a:xfrm>
              <a:off x="1081708" y="3951586"/>
              <a:ext cx="1851024" cy="124598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后台读取进程</a:t>
              </a:r>
              <a:r>
                <a:rPr kumimoji="1" lang="en-US" altLang="zh-CN" dirty="0"/>
                <a:t>_</a:t>
              </a:r>
              <a:r>
                <a:rPr kumimoji="1" lang="en-US" altLang="zh-CN" dirty="0" err="1"/>
                <a:t>read_loop</a:t>
              </a:r>
              <a:endParaRPr kumimoji="1" lang="zh-CN" altLang="en-US" dirty="0"/>
            </a:p>
          </p:txBody>
        </p:sp>
        <p:cxnSp>
          <p:nvCxnSpPr>
            <p:cNvPr id="104" name="直线箭头连接符 103">
              <a:extLst>
                <a:ext uri="{FF2B5EF4-FFF2-40B4-BE49-F238E27FC236}">
                  <a16:creationId xmlns:a16="http://schemas.microsoft.com/office/drawing/2014/main" id="{7931A653-B40C-D552-A8E8-A71D68426F24}"/>
                </a:ext>
              </a:extLst>
            </p:cNvPr>
            <p:cNvCxnSpPr>
              <a:cxnSpLocks/>
              <a:stCxn id="94" idx="2"/>
              <a:endCxn id="102" idx="0"/>
            </p:cNvCxnSpPr>
            <p:nvPr/>
          </p:nvCxnSpPr>
          <p:spPr>
            <a:xfrm>
              <a:off x="1327150" y="3531703"/>
              <a:ext cx="680070" cy="41988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95360E4C-A4DA-726D-FD8C-AAFD63C2A476}"/>
                </a:ext>
              </a:extLst>
            </p:cNvPr>
            <p:cNvSpPr txBox="1"/>
            <p:nvPr/>
          </p:nvSpPr>
          <p:spPr>
            <a:xfrm>
              <a:off x="1582365" y="3531703"/>
              <a:ext cx="1585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Async</a:t>
              </a:r>
              <a:r>
                <a:rPr kumimoji="1" lang="zh-CN" altLang="en-US" dirty="0"/>
                <a:t>异步读</a:t>
              </a:r>
            </a:p>
          </p:txBody>
        </p:sp>
      </p:grpSp>
      <p:sp>
        <p:nvSpPr>
          <p:cNvPr id="108" name="矩形 107">
            <a:extLst>
              <a:ext uri="{FF2B5EF4-FFF2-40B4-BE49-F238E27FC236}">
                <a16:creationId xmlns:a16="http://schemas.microsoft.com/office/drawing/2014/main" id="{1DE2B9CF-AFE2-B7BE-522A-174B4C70BA77}"/>
              </a:ext>
            </a:extLst>
          </p:cNvPr>
          <p:cNvSpPr/>
          <p:nvPr/>
        </p:nvSpPr>
        <p:spPr>
          <a:xfrm>
            <a:off x="2992393" y="4374111"/>
            <a:ext cx="2677161" cy="1652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OpenCV</a:t>
            </a:r>
          </a:p>
          <a:p>
            <a:pPr algn="ctr"/>
            <a:r>
              <a:rPr kumimoji="1" lang="en-US" altLang="zh-CN" dirty="0"/>
              <a:t>Read-&gt;grab-&gt;</a:t>
            </a:r>
            <a:r>
              <a:rPr lang="en-US" altLang="zh-CN" dirty="0" err="1"/>
              <a:t>tryIoctl</a:t>
            </a:r>
            <a:endParaRPr lang="en-US" altLang="zh-CN" dirty="0"/>
          </a:p>
          <a:p>
            <a:pPr algn="ctr"/>
            <a:r>
              <a:rPr kumimoji="1" lang="en-US" altLang="zh-CN" dirty="0"/>
              <a:t>-&gt;</a:t>
            </a:r>
            <a:r>
              <a:rPr lang="en-US" altLang="zh-CN" dirty="0"/>
              <a:t>select()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里面循环调用</a:t>
            </a:r>
            <a:r>
              <a:rPr lang="en-US" altLang="zh-CN" dirty="0" err="1"/>
              <a:t>tryIoctl</a:t>
            </a:r>
            <a:r>
              <a:rPr lang="zh-CN" altLang="en-US" dirty="0"/>
              <a:t>来获取视频流，</a:t>
            </a:r>
            <a:r>
              <a:rPr lang="en-US" altLang="zh-CN" dirty="0"/>
              <a:t>select</a:t>
            </a:r>
            <a:r>
              <a:rPr lang="zh-CN" altLang="en-US" dirty="0"/>
              <a:t>会被</a:t>
            </a:r>
            <a:r>
              <a:rPr lang="en-US" altLang="zh-CN" dirty="0"/>
              <a:t>kernel</a:t>
            </a:r>
            <a:r>
              <a:rPr lang="zh-CN" altLang="en-US" dirty="0"/>
              <a:t>等待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13C7381B-46AD-01CF-F8FB-07FFFF360162}"/>
              </a:ext>
            </a:extLst>
          </p:cNvPr>
          <p:cNvCxnSpPr>
            <a:stCxn id="92" idx="3"/>
            <a:endCxn id="101" idx="1"/>
          </p:cNvCxnSpPr>
          <p:nvPr/>
        </p:nvCxnSpPr>
        <p:spPr>
          <a:xfrm flipV="1">
            <a:off x="1903570" y="1823977"/>
            <a:ext cx="986905" cy="704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1ED87A23-89E0-A074-4EDF-343912B5CEA8}"/>
              </a:ext>
            </a:extLst>
          </p:cNvPr>
          <p:cNvCxnSpPr>
            <a:stCxn id="102" idx="3"/>
            <a:endCxn id="108" idx="1"/>
          </p:cNvCxnSpPr>
          <p:nvPr/>
        </p:nvCxnSpPr>
        <p:spPr>
          <a:xfrm>
            <a:off x="2544726" y="4574580"/>
            <a:ext cx="447667" cy="625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直线箭头连接符 131">
            <a:extLst>
              <a:ext uri="{FF2B5EF4-FFF2-40B4-BE49-F238E27FC236}">
                <a16:creationId xmlns:a16="http://schemas.microsoft.com/office/drawing/2014/main" id="{0FE032F8-327C-4D37-6A73-06C7A740CD4A}"/>
              </a:ext>
            </a:extLst>
          </p:cNvPr>
          <p:cNvCxnSpPr>
            <a:stCxn id="108" idx="3"/>
            <a:endCxn id="124" idx="1"/>
          </p:cNvCxnSpPr>
          <p:nvPr/>
        </p:nvCxnSpPr>
        <p:spPr>
          <a:xfrm flipV="1">
            <a:off x="5669554" y="4955034"/>
            <a:ext cx="716515" cy="245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直线箭头连接符 133">
            <a:extLst>
              <a:ext uri="{FF2B5EF4-FFF2-40B4-BE49-F238E27FC236}">
                <a16:creationId xmlns:a16="http://schemas.microsoft.com/office/drawing/2014/main" id="{07D9C917-AC5D-1757-3B9A-B7445F5BCDE1}"/>
              </a:ext>
            </a:extLst>
          </p:cNvPr>
          <p:cNvCxnSpPr>
            <a:cxnSpLocks/>
            <a:stCxn id="124" idx="3"/>
            <a:endCxn id="125" idx="1"/>
          </p:cNvCxnSpPr>
          <p:nvPr/>
        </p:nvCxnSpPr>
        <p:spPr>
          <a:xfrm flipV="1">
            <a:off x="7958072" y="4826889"/>
            <a:ext cx="1105158" cy="128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3E44F234-67A0-DFB5-2107-34B706B4C850}"/>
              </a:ext>
            </a:extLst>
          </p:cNvPr>
          <p:cNvGrpSpPr/>
          <p:nvPr/>
        </p:nvGrpSpPr>
        <p:grpSpPr>
          <a:xfrm>
            <a:off x="6127567" y="1399309"/>
            <a:ext cx="2346998" cy="4059382"/>
            <a:chOff x="6127567" y="1399309"/>
            <a:chExt cx="2346998" cy="4059382"/>
          </a:xfrm>
        </p:grpSpPr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90240289-F39E-1399-1252-6EA464638CAC}"/>
                </a:ext>
              </a:extLst>
            </p:cNvPr>
            <p:cNvSpPr/>
            <p:nvPr/>
          </p:nvSpPr>
          <p:spPr>
            <a:xfrm>
              <a:off x="6127567" y="1399309"/>
              <a:ext cx="2346998" cy="405938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Glibc</a:t>
              </a: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3A56E7F3-3196-3660-02BC-67D02F1DE6F5}"/>
                </a:ext>
              </a:extLst>
            </p:cNvPr>
            <p:cNvSpPr/>
            <p:nvPr/>
          </p:nvSpPr>
          <p:spPr>
            <a:xfrm>
              <a:off x="6386069" y="4712495"/>
              <a:ext cx="1572003" cy="48507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__select64</a:t>
              </a:r>
              <a:endParaRPr kumimoji="1" lang="zh-CN" altLang="en-US" dirty="0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F98CFC71-DB04-50B2-3CE8-F05C69D6BB60}"/>
                </a:ext>
              </a:extLst>
            </p:cNvPr>
            <p:cNvSpPr/>
            <p:nvPr/>
          </p:nvSpPr>
          <p:spPr>
            <a:xfrm>
              <a:off x="6255415" y="1538133"/>
              <a:ext cx="2136231" cy="100673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 err="1"/>
                <a:t>pthread_mutex_lock</a:t>
              </a:r>
              <a:r>
                <a:rPr lang="en-US" altLang="zh-CN" dirty="0"/>
                <a:t>…</a:t>
              </a:r>
              <a:r>
                <a:rPr lang="zh-CN" altLang="en-US" dirty="0"/>
                <a:t>全是一层封装</a:t>
              </a:r>
              <a:endParaRPr lang="en-US" altLang="zh-CN" dirty="0"/>
            </a:p>
          </p:txBody>
        </p:sp>
      </p:grpSp>
      <p:cxnSp>
        <p:nvCxnSpPr>
          <p:cNvPr id="139" name="直线箭头连接符 138">
            <a:extLst>
              <a:ext uri="{FF2B5EF4-FFF2-40B4-BE49-F238E27FC236}">
                <a16:creationId xmlns:a16="http://schemas.microsoft.com/office/drawing/2014/main" id="{0E13CF8D-CA03-30EA-5681-463B4597C258}"/>
              </a:ext>
            </a:extLst>
          </p:cNvPr>
          <p:cNvCxnSpPr>
            <a:cxnSpLocks/>
            <a:stCxn id="125" idx="0"/>
            <a:endCxn id="108" idx="0"/>
          </p:cNvCxnSpPr>
          <p:nvPr/>
        </p:nvCxnSpPr>
        <p:spPr>
          <a:xfrm flipH="1">
            <a:off x="4330974" y="4321535"/>
            <a:ext cx="5853074" cy="52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C755AD84-E98B-9EC7-206B-8A6E45F14870}"/>
              </a:ext>
            </a:extLst>
          </p:cNvPr>
          <p:cNvGrpSpPr/>
          <p:nvPr/>
        </p:nvGrpSpPr>
        <p:grpSpPr>
          <a:xfrm>
            <a:off x="8894494" y="1399309"/>
            <a:ext cx="2582321" cy="4059382"/>
            <a:chOff x="8894494" y="1399309"/>
            <a:chExt cx="2582321" cy="4059382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C65B6791-F1F5-8D35-A7D5-A5B41C7C6D33}"/>
                </a:ext>
              </a:extLst>
            </p:cNvPr>
            <p:cNvSpPr/>
            <p:nvPr/>
          </p:nvSpPr>
          <p:spPr>
            <a:xfrm>
              <a:off x="8894494" y="1399309"/>
              <a:ext cx="2582321" cy="405938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Linux kernel</a:t>
              </a:r>
              <a:endParaRPr kumimoji="1" lang="zh-CN" altLang="en-US" dirty="0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ACF517CA-F58F-61D0-B0E2-8777282D8B33}"/>
                </a:ext>
              </a:extLst>
            </p:cNvPr>
            <p:cNvSpPr/>
            <p:nvPr/>
          </p:nvSpPr>
          <p:spPr>
            <a:xfrm>
              <a:off x="9063230" y="4321535"/>
              <a:ext cx="2241635" cy="10107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SYSCALL_DEFINE6(pselect6)</a:t>
              </a:r>
              <a:r>
                <a:rPr lang="zh-CN" altLang="en-US" dirty="0"/>
                <a:t> 等待一个</a:t>
              </a:r>
              <a:endParaRPr lang="en-US" altLang="zh-CN" dirty="0"/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BD3D60FC-182C-D385-4A48-8BDF1C4CAA83}"/>
                </a:ext>
              </a:extLst>
            </p:cNvPr>
            <p:cNvSpPr/>
            <p:nvPr/>
          </p:nvSpPr>
          <p:spPr>
            <a:xfrm>
              <a:off x="9063230" y="2007944"/>
              <a:ext cx="2241635" cy="10107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SYSCALL_DEFINE6(</a:t>
              </a:r>
              <a:r>
                <a:rPr lang="en-US" altLang="zh-CN" dirty="0" err="1"/>
                <a:t>futex</a:t>
              </a:r>
              <a:r>
                <a:rPr lang="en-US" altLang="zh-CN" dirty="0"/>
                <a:t>)</a:t>
              </a:r>
            </a:p>
          </p:txBody>
        </p:sp>
      </p:grpSp>
      <p:cxnSp>
        <p:nvCxnSpPr>
          <p:cNvPr id="146" name="直线箭头连接符 145">
            <a:extLst>
              <a:ext uri="{FF2B5EF4-FFF2-40B4-BE49-F238E27FC236}">
                <a16:creationId xmlns:a16="http://schemas.microsoft.com/office/drawing/2014/main" id="{F81B80D2-5429-6FD4-5903-461E5056027C}"/>
              </a:ext>
            </a:extLst>
          </p:cNvPr>
          <p:cNvCxnSpPr>
            <a:cxnSpLocks/>
            <a:stCxn id="101" idx="3"/>
            <a:endCxn id="154" idx="1"/>
          </p:cNvCxnSpPr>
          <p:nvPr/>
        </p:nvCxnSpPr>
        <p:spPr>
          <a:xfrm flipV="1">
            <a:off x="5398391" y="676873"/>
            <a:ext cx="290205" cy="1147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77E30B6E-62B2-3807-355B-5B5AAEFC0FDB}"/>
              </a:ext>
            </a:extLst>
          </p:cNvPr>
          <p:cNvCxnSpPr>
            <a:cxnSpLocks/>
            <a:stCxn id="136" idx="3"/>
          </p:cNvCxnSpPr>
          <p:nvPr/>
        </p:nvCxnSpPr>
        <p:spPr>
          <a:xfrm>
            <a:off x="8391646" y="2041500"/>
            <a:ext cx="540932" cy="612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矩形 153">
            <a:extLst>
              <a:ext uri="{FF2B5EF4-FFF2-40B4-BE49-F238E27FC236}">
                <a16:creationId xmlns:a16="http://schemas.microsoft.com/office/drawing/2014/main" id="{4DD1C669-6AA2-A31C-E55D-15DA9F5FC818}"/>
              </a:ext>
            </a:extLst>
          </p:cNvPr>
          <p:cNvSpPr/>
          <p:nvPr/>
        </p:nvSpPr>
        <p:spPr>
          <a:xfrm>
            <a:off x="5688596" y="262539"/>
            <a:ext cx="3374634" cy="82866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GCC</a:t>
            </a:r>
            <a:r>
              <a:rPr kumimoji="1" lang="zh-CN" altLang="en-US" dirty="0"/>
              <a:t>的</a:t>
            </a:r>
            <a:r>
              <a:rPr lang="en-US" altLang="zh-CN" b="1" dirty="0" err="1"/>
              <a:t>libstdc</a:t>
            </a:r>
            <a:r>
              <a:rPr lang="en-US" altLang="zh-CN" b="1" dirty="0"/>
              <a:t>++-&gt; </a:t>
            </a:r>
            <a:r>
              <a:rPr lang="en-US" altLang="zh-CN" b="1" dirty="0" err="1"/>
              <a:t>libgcc</a:t>
            </a:r>
            <a:endParaRPr lang="en-US" altLang="zh-CN" dirty="0"/>
          </a:p>
          <a:p>
            <a:pPr algn="ctr"/>
            <a:r>
              <a:rPr kumimoji="1" lang="en-US" altLang="zh-CN" dirty="0"/>
              <a:t>Mutex()(</a:t>
            </a:r>
            <a:r>
              <a:rPr lang="zh-CN" altLang="en-US" dirty="0"/>
              <a:t>全是一层封装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2376DD82-6D15-96F7-8C8F-2AAF6DECAA34}"/>
              </a:ext>
            </a:extLst>
          </p:cNvPr>
          <p:cNvCxnSpPr>
            <a:cxnSpLocks/>
            <a:stCxn id="154" idx="2"/>
            <a:endCxn id="136" idx="0"/>
          </p:cNvCxnSpPr>
          <p:nvPr/>
        </p:nvCxnSpPr>
        <p:spPr>
          <a:xfrm flipH="1">
            <a:off x="7323531" y="1091207"/>
            <a:ext cx="52382" cy="446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633B4C41-F72B-A92F-5EBE-E976F28635A5}"/>
              </a:ext>
            </a:extLst>
          </p:cNvPr>
          <p:cNvSpPr txBox="1"/>
          <p:nvPr/>
        </p:nvSpPr>
        <p:spPr>
          <a:xfrm>
            <a:off x="6456745" y="5848886"/>
            <a:ext cx="3727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这边每一层都会负责一些细碎逻辑</a:t>
            </a:r>
          </a:p>
        </p:txBody>
      </p:sp>
      <p:cxnSp>
        <p:nvCxnSpPr>
          <p:cNvPr id="176" name="直线箭头连接符 175">
            <a:extLst>
              <a:ext uri="{FF2B5EF4-FFF2-40B4-BE49-F238E27FC236}">
                <a16:creationId xmlns:a16="http://schemas.microsoft.com/office/drawing/2014/main" id="{BD7A9049-9A1E-E39A-EC4B-515D35010CE5}"/>
              </a:ext>
            </a:extLst>
          </p:cNvPr>
          <p:cNvCxnSpPr>
            <a:stCxn id="144" idx="2"/>
            <a:endCxn id="101" idx="2"/>
          </p:cNvCxnSpPr>
          <p:nvPr/>
        </p:nvCxnSpPr>
        <p:spPr>
          <a:xfrm flipH="1" flipV="1">
            <a:off x="4144433" y="2650018"/>
            <a:ext cx="6039615" cy="368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746110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BF441-8F7A-4CA6-7867-39AB52F13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43805B69-C58E-C131-B3B2-FA774EFF5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控制舵机</a:t>
            </a:r>
            <a:r>
              <a:rPr lang="en-US" altLang="zh-CN" dirty="0"/>
              <a:t>write/read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221481-E19C-A823-3C8E-A278EEF56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C9110A0-979D-F4BF-B03D-DA1EB5F1F7B2}"/>
              </a:ext>
            </a:extLst>
          </p:cNvPr>
          <p:cNvGrpSpPr/>
          <p:nvPr/>
        </p:nvGrpSpPr>
        <p:grpSpPr>
          <a:xfrm>
            <a:off x="433051" y="1399309"/>
            <a:ext cx="2346998" cy="4059382"/>
            <a:chOff x="821057" y="1399309"/>
            <a:chExt cx="2346998" cy="405938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003B8B9-A6AA-9710-D716-7D3A1B8DB45F}"/>
                </a:ext>
              </a:extLst>
            </p:cNvPr>
            <p:cNvSpPr/>
            <p:nvPr/>
          </p:nvSpPr>
          <p:spPr>
            <a:xfrm>
              <a:off x="821057" y="1399309"/>
              <a:ext cx="2346998" cy="405938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Lerobot</a:t>
              </a:r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zh-CN" altLang="en-US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A7DA910-7E93-AE4A-E501-BC124D3B31AF}"/>
                </a:ext>
              </a:extLst>
            </p:cNvPr>
            <p:cNvSpPr/>
            <p:nvPr/>
          </p:nvSpPr>
          <p:spPr>
            <a:xfrm>
              <a:off x="1438508" y="2286000"/>
              <a:ext cx="853068" cy="48507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推理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4A0013D-9A5E-97CB-372E-29B6FF6AF38B}"/>
                </a:ext>
              </a:extLst>
            </p:cNvPr>
            <p:cNvSpPr/>
            <p:nvPr/>
          </p:nvSpPr>
          <p:spPr>
            <a:xfrm>
              <a:off x="2007220" y="3046625"/>
              <a:ext cx="853068" cy="48507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执行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FB95E0B-420A-F666-EE63-4C224544DCF5}"/>
                </a:ext>
              </a:extLst>
            </p:cNvPr>
            <p:cNvSpPr/>
            <p:nvPr/>
          </p:nvSpPr>
          <p:spPr>
            <a:xfrm>
              <a:off x="959160" y="3046625"/>
              <a:ext cx="735980" cy="48507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观测</a:t>
              </a:r>
            </a:p>
          </p:txBody>
        </p: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54D32ED4-1111-9DB1-4A05-16FB667355F4}"/>
                </a:ext>
              </a:extLst>
            </p:cNvPr>
            <p:cNvCxnSpPr>
              <a:stCxn id="13" idx="0"/>
              <a:endCxn id="11" idx="2"/>
            </p:cNvCxnSpPr>
            <p:nvPr/>
          </p:nvCxnSpPr>
          <p:spPr>
            <a:xfrm flipV="1">
              <a:off x="1327150" y="2771078"/>
              <a:ext cx="537892" cy="2755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9B5DFA5C-70B6-6C7E-BD98-4C6C90D677EA}"/>
                </a:ext>
              </a:extLst>
            </p:cNvPr>
            <p:cNvCxnSpPr>
              <a:endCxn id="12" idx="0"/>
            </p:cNvCxnSpPr>
            <p:nvPr/>
          </p:nvCxnSpPr>
          <p:spPr>
            <a:xfrm>
              <a:off x="1865042" y="2771078"/>
              <a:ext cx="568712" cy="2755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532FE04C-3520-B475-D45A-EE8EA2E583D9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1695140" y="3289164"/>
              <a:ext cx="312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0F00395-1052-F980-0D01-9BA79644004D}"/>
                </a:ext>
              </a:extLst>
            </p:cNvPr>
            <p:cNvSpPr/>
            <p:nvPr/>
          </p:nvSpPr>
          <p:spPr>
            <a:xfrm>
              <a:off x="1081708" y="3951586"/>
              <a:ext cx="1851024" cy="124598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后台读取进程</a:t>
              </a:r>
              <a:r>
                <a:rPr kumimoji="1" lang="en-US" altLang="zh-CN" dirty="0"/>
                <a:t>_</a:t>
              </a:r>
              <a:r>
                <a:rPr kumimoji="1" lang="en-US" altLang="zh-CN" dirty="0" err="1"/>
                <a:t>read_loop</a:t>
              </a:r>
              <a:endParaRPr kumimoji="1" lang="zh-CN" altLang="en-US" dirty="0"/>
            </a:p>
          </p:txBody>
        </p:sp>
        <p:cxnSp>
          <p:nvCxnSpPr>
            <p:cNvPr id="18" name="直线箭头连接符 17">
              <a:extLst>
                <a:ext uri="{FF2B5EF4-FFF2-40B4-BE49-F238E27FC236}">
                  <a16:creationId xmlns:a16="http://schemas.microsoft.com/office/drawing/2014/main" id="{463D2DE4-A063-9AC2-0724-E367FEB33912}"/>
                </a:ext>
              </a:extLst>
            </p:cNvPr>
            <p:cNvCxnSpPr>
              <a:cxnSpLocks/>
              <a:stCxn id="13" idx="2"/>
              <a:endCxn id="17" idx="0"/>
            </p:cNvCxnSpPr>
            <p:nvPr/>
          </p:nvCxnSpPr>
          <p:spPr>
            <a:xfrm>
              <a:off x="1327150" y="3531703"/>
              <a:ext cx="680070" cy="41988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622CB85-D1D1-C9B2-8F04-E5D4AB22C1B5}"/>
                </a:ext>
              </a:extLst>
            </p:cNvPr>
            <p:cNvSpPr txBox="1"/>
            <p:nvPr/>
          </p:nvSpPr>
          <p:spPr>
            <a:xfrm>
              <a:off x="1582365" y="3531703"/>
              <a:ext cx="1585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Async</a:t>
              </a:r>
              <a:r>
                <a:rPr kumimoji="1" lang="zh-CN" altLang="en-US" dirty="0"/>
                <a:t>异步读</a:t>
              </a: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02055A83-F01E-CA9D-CDF0-6BE9C8A8F927}"/>
              </a:ext>
            </a:extLst>
          </p:cNvPr>
          <p:cNvSpPr/>
          <p:nvPr/>
        </p:nvSpPr>
        <p:spPr>
          <a:xfrm>
            <a:off x="3097696" y="4147293"/>
            <a:ext cx="2536613" cy="8545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Feetech</a:t>
            </a:r>
            <a:r>
              <a:rPr lang="zh-CN" altLang="en-US" dirty="0"/>
              <a:t>飞特舵机库</a:t>
            </a:r>
            <a:r>
              <a:rPr lang="en-US" altLang="zh-CN" dirty="0"/>
              <a:t>-&gt;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PySerial</a:t>
            </a:r>
            <a:r>
              <a:rPr kumimoji="1" lang="en-US" altLang="zh-CN" dirty="0"/>
              <a:t>-&gt; </a:t>
            </a:r>
            <a:r>
              <a:rPr kumimoji="1" lang="en-US" altLang="zh-CN" dirty="0" err="1"/>
              <a:t>os.write</a:t>
            </a:r>
            <a:endParaRPr lang="zh-CN" altLang="en-US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679E600-7048-9CF5-8A0E-849386745391}"/>
              </a:ext>
            </a:extLst>
          </p:cNvPr>
          <p:cNvGrpSpPr/>
          <p:nvPr/>
        </p:nvGrpSpPr>
        <p:grpSpPr>
          <a:xfrm>
            <a:off x="8894494" y="1399309"/>
            <a:ext cx="2582321" cy="4059382"/>
            <a:chOff x="8894494" y="1399309"/>
            <a:chExt cx="2582321" cy="4059382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D56EFC2-95EC-3651-9AB1-127C4986BF36}"/>
                </a:ext>
              </a:extLst>
            </p:cNvPr>
            <p:cNvSpPr/>
            <p:nvPr/>
          </p:nvSpPr>
          <p:spPr>
            <a:xfrm>
              <a:off x="8894494" y="1399309"/>
              <a:ext cx="2582321" cy="405938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Linux kernel</a:t>
              </a:r>
              <a:endParaRPr kumimoji="1" lang="zh-CN" altLang="en-US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CF6E535-5D63-CDB1-0AD2-45C143CE0967}"/>
                </a:ext>
              </a:extLst>
            </p:cNvPr>
            <p:cNvSpPr/>
            <p:nvPr/>
          </p:nvSpPr>
          <p:spPr>
            <a:xfrm>
              <a:off x="9064836" y="4069225"/>
              <a:ext cx="2241635" cy="10107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SYSCALL_DEFINE6(write)</a:t>
              </a: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AD6E041E-561B-B18D-C769-8A6A02D48AAF}"/>
              </a:ext>
            </a:extLst>
          </p:cNvPr>
          <p:cNvSpPr txBox="1"/>
          <p:nvPr/>
        </p:nvSpPr>
        <p:spPr>
          <a:xfrm>
            <a:off x="6648255" y="5545871"/>
            <a:ext cx="5110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这里都是上个学期就整理好的一步步解析然后写</a:t>
            </a:r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8BFAA3F-BCBB-7266-D03D-A130AA481069}"/>
              </a:ext>
            </a:extLst>
          </p:cNvPr>
          <p:cNvCxnSpPr>
            <a:stCxn id="12" idx="3"/>
            <a:endCxn id="23" idx="1"/>
          </p:cNvCxnSpPr>
          <p:nvPr/>
        </p:nvCxnSpPr>
        <p:spPr>
          <a:xfrm>
            <a:off x="2472282" y="3289164"/>
            <a:ext cx="625414" cy="1285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CC9F448B-D473-E2C7-2745-5E62333B701C}"/>
              </a:ext>
            </a:extLst>
          </p:cNvPr>
          <p:cNvSpPr/>
          <p:nvPr/>
        </p:nvSpPr>
        <p:spPr>
          <a:xfrm>
            <a:off x="3097695" y="1886036"/>
            <a:ext cx="2536613" cy="8545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Feetech</a:t>
            </a:r>
            <a:r>
              <a:rPr lang="zh-CN" altLang="en-US" dirty="0"/>
              <a:t>飞特舵机库</a:t>
            </a:r>
            <a:r>
              <a:rPr lang="en-US" altLang="zh-CN" dirty="0"/>
              <a:t>-&gt;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PySerial</a:t>
            </a:r>
            <a:r>
              <a:rPr kumimoji="1" lang="en-US" altLang="zh-CN" dirty="0"/>
              <a:t>-&gt; </a:t>
            </a:r>
            <a:r>
              <a:rPr kumimoji="1" lang="en-US" altLang="zh-CN" dirty="0" err="1"/>
              <a:t>os.read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6D2BF13-497A-B652-4823-0C18105A5A91}"/>
              </a:ext>
            </a:extLst>
          </p:cNvPr>
          <p:cNvSpPr/>
          <p:nvPr/>
        </p:nvSpPr>
        <p:spPr>
          <a:xfrm>
            <a:off x="9011221" y="1957101"/>
            <a:ext cx="2241635" cy="10107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SYSCALL_DEFINE6(read/pselect6)</a:t>
            </a: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EF0DFAA8-F7AB-9E5C-9718-E33915C6184E}"/>
              </a:ext>
            </a:extLst>
          </p:cNvPr>
          <p:cNvCxnSpPr>
            <a:stCxn id="13" idx="3"/>
            <a:endCxn id="39" idx="1"/>
          </p:cNvCxnSpPr>
          <p:nvPr/>
        </p:nvCxnSpPr>
        <p:spPr>
          <a:xfrm flipV="1">
            <a:off x="1307134" y="2313322"/>
            <a:ext cx="1790561" cy="975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3D2E1189-F084-00BF-7BE3-B140866A5206}"/>
              </a:ext>
            </a:extLst>
          </p:cNvPr>
          <p:cNvGrpSpPr/>
          <p:nvPr/>
        </p:nvGrpSpPr>
        <p:grpSpPr>
          <a:xfrm>
            <a:off x="5758395" y="1059460"/>
            <a:ext cx="3077736" cy="4343569"/>
            <a:chOff x="5720576" y="1115122"/>
            <a:chExt cx="3077736" cy="4343569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2D127B9-96F4-64A3-FCAD-3597235B0D87}"/>
                </a:ext>
              </a:extLst>
            </p:cNvPr>
            <p:cNvSpPr/>
            <p:nvPr/>
          </p:nvSpPr>
          <p:spPr>
            <a:xfrm>
              <a:off x="5720576" y="1115122"/>
              <a:ext cx="3077736" cy="43435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Cpython</a:t>
              </a:r>
              <a:endParaRPr kumimoji="1"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8F4D947-979C-0732-D712-59C672EF761C}"/>
                </a:ext>
              </a:extLst>
            </p:cNvPr>
            <p:cNvSpPr/>
            <p:nvPr/>
          </p:nvSpPr>
          <p:spPr>
            <a:xfrm>
              <a:off x="5951956" y="4100461"/>
              <a:ext cx="2743200" cy="10971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Cpython</a:t>
              </a:r>
              <a:r>
                <a:rPr kumimoji="1" lang="zh-CN" altLang="en-US" dirty="0"/>
                <a:t>的</a:t>
              </a:r>
              <a:r>
                <a:rPr lang="en-US" altLang="zh-CN" dirty="0"/>
                <a:t>_</a:t>
              </a:r>
              <a:r>
                <a:rPr lang="en-US" altLang="zh-CN" dirty="0" err="1"/>
                <a:t>Py_write_impl</a:t>
              </a:r>
              <a:endParaRPr lang="en-US" altLang="zh-CN" dirty="0"/>
            </a:p>
            <a:p>
              <a:pPr algn="ctr"/>
              <a:r>
                <a:rPr lang="zh-CN" altLang="en-US" dirty="0"/>
                <a:t>调用</a:t>
              </a:r>
              <a:r>
                <a:rPr lang="en-US" altLang="zh-CN" dirty="0"/>
                <a:t>write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B1AAED-8188-0161-259B-56F6F899BC6B}"/>
                </a:ext>
              </a:extLst>
            </p:cNvPr>
            <p:cNvSpPr/>
            <p:nvPr/>
          </p:nvSpPr>
          <p:spPr>
            <a:xfrm>
              <a:off x="5951954" y="1660427"/>
              <a:ext cx="2743200" cy="10971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Cpython</a:t>
              </a:r>
              <a:r>
                <a:rPr kumimoji="1" lang="zh-CN" altLang="en-US" dirty="0"/>
                <a:t>调用</a:t>
              </a:r>
              <a:r>
                <a:rPr kumimoji="1" lang="en-US" altLang="zh-CN" dirty="0"/>
                <a:t>read/write</a:t>
              </a:r>
              <a:endParaRPr lang="en-US" altLang="zh-CN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9B2EF77-69B5-1154-07E2-92729BBADD05}"/>
                </a:ext>
              </a:extLst>
            </p:cNvPr>
            <p:cNvSpPr txBox="1"/>
            <p:nvPr/>
          </p:nvSpPr>
          <p:spPr>
            <a:xfrm>
              <a:off x="6227180" y="3437681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上下其实是一样的</a:t>
              </a:r>
            </a:p>
          </p:txBody>
        </p:sp>
      </p:grp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7DD3A512-2FD4-8A4A-E8C1-482184747A77}"/>
              </a:ext>
            </a:extLst>
          </p:cNvPr>
          <p:cNvCxnSpPr>
            <a:stCxn id="23" idx="3"/>
            <a:endCxn id="22" idx="1"/>
          </p:cNvCxnSpPr>
          <p:nvPr/>
        </p:nvCxnSpPr>
        <p:spPr>
          <a:xfrm>
            <a:off x="5634309" y="4574579"/>
            <a:ext cx="355466" cy="18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C57CED78-9C32-4F7C-A7AB-9180334B2D1A}"/>
              </a:ext>
            </a:extLst>
          </p:cNvPr>
          <p:cNvCxnSpPr>
            <a:stCxn id="22" idx="3"/>
            <a:endCxn id="27" idx="1"/>
          </p:cNvCxnSpPr>
          <p:nvPr/>
        </p:nvCxnSpPr>
        <p:spPr>
          <a:xfrm flipV="1">
            <a:off x="8732975" y="4574579"/>
            <a:ext cx="331861" cy="18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BCAF2D10-8B87-2E4D-A2CA-7FA86DA427F6}"/>
              </a:ext>
            </a:extLst>
          </p:cNvPr>
          <p:cNvCxnSpPr>
            <a:stCxn id="39" idx="3"/>
            <a:endCxn id="41" idx="1"/>
          </p:cNvCxnSpPr>
          <p:nvPr/>
        </p:nvCxnSpPr>
        <p:spPr>
          <a:xfrm flipV="1">
            <a:off x="5634308" y="2153321"/>
            <a:ext cx="355465" cy="160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99151250-79D4-9495-9913-6CF31E62C879}"/>
              </a:ext>
            </a:extLst>
          </p:cNvPr>
          <p:cNvCxnSpPr>
            <a:stCxn id="41" idx="3"/>
            <a:endCxn id="40" idx="1"/>
          </p:cNvCxnSpPr>
          <p:nvPr/>
        </p:nvCxnSpPr>
        <p:spPr>
          <a:xfrm>
            <a:off x="8732973" y="2153321"/>
            <a:ext cx="278248" cy="309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01087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E775A-655D-E25A-2ACD-06B74CD0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41988D28-A23A-7E8E-C8AB-757EFBA08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异步读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AD284C-D7CC-5507-244B-64653207D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086647-A9F8-EBED-9ADA-0ED580ED8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51" y="881223"/>
            <a:ext cx="10551653" cy="596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915223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6490E-94AE-EBAF-942F-FD1482C9C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D3AB7BD0-40B6-69F7-7DAB-C85F3E6D7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OpenCV</a:t>
            </a:r>
            <a:r>
              <a:rPr lang="zh-CN" altLang="en-US" dirty="0"/>
              <a:t>读视频流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39C487-2DB5-8728-0043-93A3F4F61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9147D3-6130-CE6F-94E5-334659EF1194}"/>
              </a:ext>
            </a:extLst>
          </p:cNvPr>
          <p:cNvSpPr txBox="1"/>
          <p:nvPr/>
        </p:nvSpPr>
        <p:spPr>
          <a:xfrm>
            <a:off x="451574" y="1061910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grabFrame</a:t>
            </a:r>
            <a:r>
              <a:rPr lang="en-US" altLang="zh-CN" b="1" dirty="0"/>
              <a:t>-&gt;</a:t>
            </a:r>
            <a:r>
              <a:rPr lang="en-US" altLang="zh-CN" dirty="0" err="1"/>
              <a:t>tryIoctl</a:t>
            </a:r>
            <a:r>
              <a:rPr lang="en-US" altLang="zh-CN" dirty="0"/>
              <a:t>-&gt;select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B839E9-CC0E-32B6-3409-11C3E34C8519}"/>
              </a:ext>
            </a:extLst>
          </p:cNvPr>
          <p:cNvSpPr txBox="1"/>
          <p:nvPr/>
        </p:nvSpPr>
        <p:spPr>
          <a:xfrm>
            <a:off x="7498803" y="1246576"/>
            <a:ext cx="4141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tryIoctl</a:t>
            </a:r>
            <a:r>
              <a:rPr lang="zh-CN" altLang="en-US" dirty="0"/>
              <a:t>里面一个死循环反复尝试</a:t>
            </a:r>
            <a:r>
              <a:rPr lang="en-US" altLang="zh-CN" dirty="0"/>
              <a:t>select</a:t>
            </a:r>
            <a:endParaRPr kumimoji="1"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4D632A7-4703-8062-4D00-3C83F0852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032" y="1668704"/>
            <a:ext cx="7772400" cy="426395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AACBC903-3721-B471-6147-4DDD20B8CDE2}"/>
              </a:ext>
            </a:extLst>
          </p:cNvPr>
          <p:cNvSpPr txBox="1"/>
          <p:nvPr/>
        </p:nvSpPr>
        <p:spPr>
          <a:xfrm>
            <a:off x="180453" y="1725479"/>
            <a:ext cx="6642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grabFrame</a:t>
            </a:r>
            <a:r>
              <a:rPr lang="zh-CN" altLang="en-US" b="1" dirty="0"/>
              <a:t>把数据从缓冲区放入队列，调用</a:t>
            </a:r>
            <a:r>
              <a:rPr lang="en-US" altLang="zh-CN" b="1" dirty="0" err="1"/>
              <a:t>tryIoctl</a:t>
            </a:r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47D1181-AC23-965F-B250-580A6EB8C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150" y="2151586"/>
            <a:ext cx="35179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601050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338FD-295D-F5E6-0EF5-82EABEBA4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E0DD5C2-9762-65C1-F1F5-54C2000E5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时间分析</a:t>
            </a:r>
            <a:r>
              <a:rPr lang="en-US" altLang="zh-CN" dirty="0"/>
              <a:t>——</a:t>
            </a:r>
            <a:r>
              <a:rPr lang="zh-CN" altLang="en-US" dirty="0"/>
              <a:t>在内核打印时间戳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783BE5-EFBD-2445-6AF8-10F7479DB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5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7D293A-574C-DD1C-5F16-65E2B8340DB4}"/>
              </a:ext>
            </a:extLst>
          </p:cNvPr>
          <p:cNvSpPr txBox="1"/>
          <p:nvPr/>
        </p:nvSpPr>
        <p:spPr>
          <a:xfrm>
            <a:off x="511504" y="1036570"/>
            <a:ext cx="11168991" cy="2278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4078F2"/>
                </a:solidFill>
                <a:effectLst/>
                <a:latin typeface="JetBrains Mono"/>
              </a:rPr>
              <a:t>python-37210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 [002] ..... 3603.578759: </a:t>
            </a:r>
            <a:r>
              <a:rPr lang="en-US" altLang="zh-CN" b="0" dirty="0" err="1">
                <a:solidFill>
                  <a:srgbClr val="4DA621"/>
                </a:solidFill>
                <a:effectLst/>
                <a:latin typeface="JetBrains Mono"/>
              </a:rPr>
              <a:t>do_select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: pselect6: </a:t>
            </a:r>
            <a:r>
              <a:rPr lang="en-US" altLang="zh-CN" b="0" dirty="0">
                <a:solidFill>
                  <a:srgbClr val="C99100"/>
                </a:solidFill>
                <a:effectLst/>
                <a:latin typeface="JetBrains Mono"/>
              </a:rPr>
              <a:t>total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JetBrains Mono"/>
              </a:rPr>
              <a:t>=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500 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JetBrains Mono"/>
              </a:rPr>
              <a:t>ns,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 sleep=</a:t>
            </a:r>
            <a:r>
              <a:rPr lang="en-US" altLang="zh-CN" b="0" dirty="0">
                <a:solidFill>
                  <a:srgbClr val="E54595"/>
                </a:solidFill>
                <a:effectLst/>
                <a:latin typeface="JetBrains Mono"/>
              </a:rPr>
              <a:t>0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 ns, context=</a:t>
            </a:r>
            <a:r>
              <a:rPr lang="en-US" altLang="zh-CN" b="0" dirty="0">
                <a:solidFill>
                  <a:srgbClr val="E54595"/>
                </a:solidFill>
                <a:effectLst/>
                <a:latin typeface="JetBrains Mono"/>
              </a:rPr>
              <a:t>500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 ns, ret=1, </a:t>
            </a:r>
            <a:r>
              <a:rPr lang="en-US" altLang="zh-CN" b="0" dirty="0" err="1">
                <a:solidFill>
                  <a:srgbClr val="4DA621"/>
                </a:solidFill>
                <a:effectLst/>
                <a:latin typeface="JetBrains Mono"/>
              </a:rPr>
              <a:t>end_time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=</a:t>
            </a:r>
            <a:r>
              <a:rPr lang="en-US" altLang="zh-CN" b="0" dirty="0">
                <a:solidFill>
                  <a:srgbClr val="E54595"/>
                </a:solidFill>
                <a:effectLst/>
                <a:latin typeface="JetBrains Mono"/>
              </a:rPr>
              <a:t>3603.568352321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 s, </a:t>
            </a:r>
            <a:r>
              <a:rPr lang="en-US" altLang="zh-CN" b="0" dirty="0" err="1">
                <a:solidFill>
                  <a:srgbClr val="4DA621"/>
                </a:solidFill>
                <a:effectLst/>
                <a:latin typeface="JetBrains Mono"/>
              </a:rPr>
              <a:t>fd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=3, </a:t>
            </a:r>
            <a:r>
              <a:rPr lang="en-US" altLang="zh-CN" sz="2800" b="1" dirty="0">
                <a:solidFill>
                  <a:srgbClr val="4DA621"/>
                </a:solidFill>
                <a:latin typeface="JetBrains Mono"/>
              </a:rPr>
              <a:t>file=ttyACM0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[003] ..... 3603.742606: </a:t>
            </a:r>
            <a:r>
              <a:rPr lang="en-US" altLang="zh-CN" b="0" dirty="0" err="1">
                <a:solidFill>
                  <a:srgbClr val="4DA621"/>
                </a:solidFill>
                <a:effectLst/>
                <a:latin typeface="JetBrains Mono"/>
              </a:rPr>
              <a:t>do_select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: pselect6: </a:t>
            </a:r>
            <a:r>
              <a:rPr lang="en-US" altLang="zh-CN" b="0" dirty="0">
                <a:solidFill>
                  <a:srgbClr val="C99100"/>
                </a:solidFill>
                <a:effectLst/>
                <a:latin typeface="JetBrains Mono"/>
              </a:rPr>
              <a:t>total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JetBrains Mono"/>
              </a:rPr>
              <a:t>=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26500720 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JetBrains Mono"/>
              </a:rPr>
              <a:t>ns,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 sleep=</a:t>
            </a:r>
            <a:r>
              <a:rPr lang="en-US" altLang="zh-CN" b="0" dirty="0">
                <a:solidFill>
                  <a:srgbClr val="E54595"/>
                </a:solidFill>
                <a:effectLst/>
                <a:latin typeface="JetBrains Mono"/>
              </a:rPr>
              <a:t>26493590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 ns</a:t>
            </a:r>
            <a:r>
              <a:rPr lang="en-US" altLang="zh-CN" sz="2800" b="1" dirty="0">
                <a:solidFill>
                  <a:srgbClr val="4DA621"/>
                </a:solidFill>
                <a:effectLst/>
                <a:latin typeface="JetBrains Mono"/>
              </a:rPr>
              <a:t>, context=</a:t>
            </a:r>
            <a:r>
              <a:rPr lang="en-US" altLang="zh-CN" sz="2800" b="1" dirty="0">
                <a:solidFill>
                  <a:srgbClr val="E54595"/>
                </a:solidFill>
                <a:effectLst/>
                <a:latin typeface="JetBrains Mono"/>
              </a:rPr>
              <a:t>7130</a:t>
            </a:r>
            <a:r>
              <a:rPr lang="en-US" altLang="zh-CN" sz="2800" b="1" dirty="0">
                <a:solidFill>
                  <a:srgbClr val="4DA621"/>
                </a:solidFill>
                <a:effectLst/>
                <a:latin typeface="JetBrains Mono"/>
              </a:rPr>
              <a:t> ns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, ret=1, </a:t>
            </a:r>
            <a:r>
              <a:rPr lang="en-US" altLang="zh-CN" b="0" dirty="0" err="1">
                <a:solidFill>
                  <a:srgbClr val="4DA621"/>
                </a:solidFill>
                <a:effectLst/>
                <a:latin typeface="JetBrains Mono"/>
              </a:rPr>
              <a:t>end_time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=</a:t>
            </a:r>
            <a:r>
              <a:rPr lang="en-US" altLang="zh-CN" b="0" dirty="0">
                <a:solidFill>
                  <a:srgbClr val="E54595"/>
                </a:solidFill>
                <a:effectLst/>
                <a:latin typeface="JetBrains Mono"/>
              </a:rPr>
              <a:t>3603.732198091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 s, </a:t>
            </a:r>
            <a:r>
              <a:rPr lang="en-US" altLang="zh-CN" b="0" dirty="0" err="1">
                <a:solidFill>
                  <a:srgbClr val="4DA621"/>
                </a:solidFill>
                <a:effectLst/>
                <a:latin typeface="JetBrains Mono"/>
              </a:rPr>
              <a:t>fd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=8, </a:t>
            </a:r>
            <a:r>
              <a:rPr lang="en-US" altLang="zh-CN" sz="2800" b="1" dirty="0">
                <a:solidFill>
                  <a:srgbClr val="4DA621"/>
                </a:solidFill>
                <a:effectLst/>
                <a:latin typeface="JetBrains Mono"/>
              </a:rPr>
              <a:t>file=video0</a:t>
            </a:r>
            <a:endParaRPr lang="en-US" altLang="zh-CN" sz="2800" b="1" dirty="0">
              <a:solidFill>
                <a:srgbClr val="31353A"/>
              </a:solidFill>
              <a:effectLst/>
              <a:latin typeface="JetBrains Mono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4078F2"/>
                </a:solidFill>
                <a:effectLst/>
                <a:latin typeface="JetBrains Mono"/>
              </a:rPr>
              <a:t>python-38074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 [002] ..... 3603.762889: </a:t>
            </a:r>
            <a:r>
              <a:rPr lang="en-US" altLang="zh-CN" b="0" dirty="0" err="1">
                <a:solidFill>
                  <a:srgbClr val="4DA621"/>
                </a:solidFill>
                <a:effectLst/>
                <a:latin typeface="JetBrains Mono"/>
              </a:rPr>
              <a:t>do_select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: pselect6: </a:t>
            </a:r>
            <a:r>
              <a:rPr lang="en-US" altLang="zh-CN" b="0" dirty="0">
                <a:solidFill>
                  <a:srgbClr val="C99100"/>
                </a:solidFill>
                <a:effectLst/>
                <a:latin typeface="JetBrains Mono"/>
              </a:rPr>
              <a:t>total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JetBrains Mono"/>
              </a:rPr>
              <a:t>=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26327830 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JetBrains Mono"/>
              </a:rPr>
              <a:t>ns,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 </a:t>
            </a:r>
            <a:r>
              <a:rPr lang="en-US" altLang="zh-CN" sz="2400" b="1" dirty="0">
                <a:solidFill>
                  <a:srgbClr val="4DA621"/>
                </a:solidFill>
                <a:effectLst/>
                <a:latin typeface="JetBrains Mono"/>
              </a:rPr>
              <a:t>sleep=</a:t>
            </a:r>
            <a:r>
              <a:rPr lang="en-US" altLang="zh-CN" sz="2400" b="1" dirty="0">
                <a:solidFill>
                  <a:srgbClr val="E54595"/>
                </a:solidFill>
                <a:effectLst/>
                <a:latin typeface="JetBrains Mono"/>
              </a:rPr>
              <a:t>26314238</a:t>
            </a:r>
            <a:r>
              <a:rPr lang="en-US" altLang="zh-CN" sz="2400" b="1" dirty="0">
                <a:solidFill>
                  <a:srgbClr val="4DA621"/>
                </a:solidFill>
                <a:effectLst/>
                <a:latin typeface="JetBrains Mono"/>
              </a:rPr>
              <a:t> ns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, context=</a:t>
            </a:r>
            <a:r>
              <a:rPr lang="en-US" altLang="zh-CN" b="0" dirty="0">
                <a:solidFill>
                  <a:srgbClr val="E54595"/>
                </a:solidFill>
                <a:effectLst/>
                <a:latin typeface="JetBrains Mono"/>
              </a:rPr>
              <a:t>13592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 ns, ret=1, </a:t>
            </a:r>
            <a:r>
              <a:rPr lang="en-US" altLang="zh-CN" b="0" dirty="0" err="1">
                <a:solidFill>
                  <a:srgbClr val="4DA621"/>
                </a:solidFill>
                <a:effectLst/>
                <a:latin typeface="JetBrains Mono"/>
              </a:rPr>
              <a:t>end_time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=</a:t>
            </a:r>
            <a:r>
              <a:rPr lang="en-US" altLang="zh-CN" b="0" dirty="0">
                <a:solidFill>
                  <a:srgbClr val="E54595"/>
                </a:solidFill>
                <a:effectLst/>
                <a:latin typeface="JetBrains Mono"/>
              </a:rPr>
              <a:t>3603.752480149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 s, </a:t>
            </a:r>
            <a:r>
              <a:rPr lang="en-US" altLang="zh-CN" b="0" dirty="0" err="1">
                <a:solidFill>
                  <a:srgbClr val="4DA621"/>
                </a:solidFill>
                <a:effectLst/>
                <a:latin typeface="JetBrains Mono"/>
              </a:rPr>
              <a:t>fd</a:t>
            </a:r>
            <a:r>
              <a:rPr lang="en-US" altLang="zh-CN" b="0" dirty="0">
                <a:solidFill>
                  <a:srgbClr val="4DA621"/>
                </a:solidFill>
                <a:effectLst/>
                <a:latin typeface="JetBrains Mono"/>
              </a:rPr>
              <a:t>=9, file=</a:t>
            </a:r>
            <a:r>
              <a:rPr lang="en-US" altLang="zh-CN" sz="2800" b="1" dirty="0">
                <a:solidFill>
                  <a:srgbClr val="4DA621"/>
                </a:solidFill>
                <a:latin typeface="JetBrains Mono"/>
              </a:rPr>
              <a:t>video2</a:t>
            </a:r>
          </a:p>
          <a:p>
            <a:pPr>
              <a:lnSpc>
                <a:spcPts val="1650"/>
              </a:lnSpc>
            </a:pPr>
            <a:endParaRPr lang="en-US" altLang="zh-CN" b="0" dirty="0">
              <a:solidFill>
                <a:srgbClr val="31353A"/>
              </a:solidFill>
              <a:effectLst/>
              <a:latin typeface="JetBrains Mono"/>
            </a:endParaRPr>
          </a:p>
          <a:p>
            <a:pPr>
              <a:lnSpc>
                <a:spcPts val="1650"/>
              </a:lnSpc>
            </a:pPr>
            <a:r>
              <a:rPr lang="zh-CN" altLang="en-US" b="0" dirty="0">
                <a:solidFill>
                  <a:srgbClr val="31353A"/>
                </a:solidFill>
                <a:effectLst/>
                <a:latin typeface="JetBrains Mono"/>
              </a:rPr>
              <a:t>我在内核中把</a:t>
            </a:r>
            <a:r>
              <a:rPr lang="en-US" altLang="zh-CN" b="0" dirty="0" err="1">
                <a:solidFill>
                  <a:srgbClr val="31353A"/>
                </a:solidFill>
                <a:effectLst/>
                <a:latin typeface="JetBrains Mono"/>
              </a:rPr>
              <a:t>fd</a:t>
            </a:r>
            <a:r>
              <a:rPr lang="zh-CN" altLang="en-US" b="0" dirty="0">
                <a:solidFill>
                  <a:srgbClr val="31353A"/>
                </a:solidFill>
                <a:effectLst/>
                <a:latin typeface="JetBrains Mono"/>
              </a:rPr>
              <a:t>解析成文件名可以知道是一个</a:t>
            </a:r>
            <a:r>
              <a:rPr lang="en-US" altLang="zh-CN" b="0" dirty="0">
                <a:solidFill>
                  <a:srgbClr val="31353A"/>
                </a:solidFill>
                <a:effectLst/>
                <a:latin typeface="JetBrains Mono"/>
              </a:rPr>
              <a:t>ARM</a:t>
            </a:r>
            <a:r>
              <a:rPr lang="zh-CN" altLang="en-US" b="0" dirty="0">
                <a:solidFill>
                  <a:srgbClr val="31353A"/>
                </a:solidFill>
                <a:effectLst/>
                <a:latin typeface="JetBrains Mono"/>
              </a:rPr>
              <a:t>和两个</a:t>
            </a:r>
            <a:r>
              <a:rPr lang="en-US" altLang="zh-CN" b="0" dirty="0" err="1">
                <a:solidFill>
                  <a:srgbClr val="31353A"/>
                </a:solidFill>
                <a:effectLst/>
                <a:latin typeface="JetBrains Mono"/>
              </a:rPr>
              <a:t>openCV</a:t>
            </a:r>
            <a:r>
              <a:rPr lang="zh-CN" altLang="en-US" b="0" dirty="0">
                <a:solidFill>
                  <a:srgbClr val="31353A"/>
                </a:solidFill>
                <a:effectLst/>
                <a:latin typeface="JetBrains Mono"/>
              </a:rPr>
              <a:t>摄像头的，包括</a:t>
            </a:r>
            <a:r>
              <a:rPr lang="zh-CN" altLang="en-US" sz="2400" b="1" dirty="0">
                <a:solidFill>
                  <a:srgbClr val="31353A"/>
                </a:solidFill>
                <a:effectLst/>
                <a:latin typeface="JetBrains Mono"/>
              </a:rPr>
              <a:t>上下文时间</a:t>
            </a:r>
            <a:r>
              <a:rPr lang="zh-CN" altLang="en-US" b="0" dirty="0">
                <a:solidFill>
                  <a:srgbClr val="31353A"/>
                </a:solidFill>
                <a:effectLst/>
                <a:latin typeface="JetBrains Mono"/>
              </a:rPr>
              <a:t>和</a:t>
            </a:r>
            <a:r>
              <a:rPr lang="zh-CN" altLang="en-US" sz="2400" b="1" dirty="0">
                <a:solidFill>
                  <a:srgbClr val="31353A"/>
                </a:solidFill>
                <a:effectLst/>
                <a:latin typeface="JetBrains Mono"/>
              </a:rPr>
              <a:t>阻塞时间</a:t>
            </a:r>
            <a:endParaRPr lang="en-US" altLang="zh-CN" sz="2400" b="1" dirty="0">
              <a:solidFill>
                <a:srgbClr val="31353A"/>
              </a:solidFill>
              <a:effectLst/>
              <a:latin typeface="JetBrains Mono"/>
            </a:endParaRPr>
          </a:p>
          <a:p>
            <a:pPr>
              <a:lnSpc>
                <a:spcPts val="1650"/>
              </a:lnSpc>
            </a:pPr>
            <a:endParaRPr lang="en-US" altLang="zh-CN" sz="2400" b="1" dirty="0">
              <a:solidFill>
                <a:srgbClr val="31353A"/>
              </a:solidFill>
              <a:latin typeface="JetBrains Mono"/>
            </a:endParaRPr>
          </a:p>
          <a:p>
            <a:pPr>
              <a:lnSpc>
                <a:spcPts val="1650"/>
              </a:lnSpc>
            </a:pPr>
            <a:endParaRPr lang="en-US" altLang="zh-CN" b="1" dirty="0">
              <a:solidFill>
                <a:srgbClr val="31353A"/>
              </a:solidFill>
              <a:effectLst/>
              <a:latin typeface="JetBrains Mono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DC28C3-C412-F6E1-B3B8-0C8E2C2D1772}"/>
              </a:ext>
            </a:extLst>
          </p:cNvPr>
          <p:cNvSpPr txBox="1"/>
          <p:nvPr/>
        </p:nvSpPr>
        <p:spPr>
          <a:xfrm>
            <a:off x="3287210" y="40511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DEB055-54F1-F61C-604B-642635DC5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95" y="2985287"/>
            <a:ext cx="6872871" cy="38727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FB994EB-C973-3517-C022-7AA2FA644341}"/>
              </a:ext>
            </a:extLst>
          </p:cNvPr>
          <p:cNvSpPr txBox="1"/>
          <p:nvPr/>
        </p:nvSpPr>
        <p:spPr>
          <a:xfrm>
            <a:off x="7292926" y="3065856"/>
            <a:ext cx="47949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然后把时间统计计算了</a:t>
            </a:r>
            <a:endParaRPr kumimoji="1" lang="en-US" altLang="zh-CN" dirty="0"/>
          </a:p>
          <a:p>
            <a:r>
              <a:rPr kumimoji="1" lang="en-US" altLang="zh-CN" dirty="0"/>
              <a:t>CPU</a:t>
            </a:r>
            <a:r>
              <a:rPr kumimoji="1" lang="zh-CN" altLang="en-US" dirty="0"/>
              <a:t>时间占</a:t>
            </a:r>
            <a:r>
              <a:rPr kumimoji="1" lang="en-US" altLang="zh-CN" dirty="0"/>
              <a:t>Episode</a:t>
            </a:r>
            <a:r>
              <a:rPr kumimoji="1" lang="zh-CN" altLang="en-US" dirty="0"/>
              <a:t>时间</a:t>
            </a:r>
            <a:r>
              <a:rPr kumimoji="1" lang="en-US" altLang="zh-CN" dirty="0"/>
              <a:t>: 1.1445s (2.8606%)</a:t>
            </a:r>
          </a:p>
          <a:p>
            <a:r>
              <a:rPr kumimoji="1" lang="zh-CN" altLang="en-US" dirty="0"/>
              <a:t>睡眠时间是很长的，但是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时间占用不大</a:t>
            </a:r>
            <a:endParaRPr kumimoji="1" lang="en-US" altLang="zh-CN" dirty="0"/>
          </a:p>
          <a:p>
            <a:r>
              <a:rPr kumimoji="1" lang="zh-CN" altLang="en-US" dirty="0"/>
              <a:t>另一个</a:t>
            </a:r>
            <a:r>
              <a:rPr kumimoji="1" lang="en-US" altLang="zh-CN" dirty="0"/>
              <a:t>pselect6</a:t>
            </a:r>
            <a:r>
              <a:rPr kumimoji="1" lang="zh-CN" altLang="en-US" dirty="0"/>
              <a:t>调用占了</a:t>
            </a:r>
            <a:r>
              <a:rPr kumimoji="1" lang="en-US" altLang="zh-CN" dirty="0"/>
              <a:t>0.5%</a:t>
            </a:r>
            <a:endParaRPr kumimoji="1"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0239CC7-AECB-0AD1-AFE4-ACEBA5D57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648" y="4393173"/>
            <a:ext cx="5846180" cy="24648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999481B-DD0A-E316-5F7D-01F2E0CD9EFF}"/>
                  </a:ext>
                </a:extLst>
              </p14:cNvPr>
              <p14:cNvContentPartPr/>
              <p14:nvPr/>
            </p14:nvContentPartPr>
            <p14:xfrm>
              <a:off x="555919" y="3160537"/>
              <a:ext cx="478080" cy="122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999481B-DD0A-E316-5F7D-01F2E0CD9E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2279" y="3052537"/>
                <a:ext cx="58572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57F5B15C-A2A5-1B55-C7BE-7572AE180E72}"/>
                  </a:ext>
                </a:extLst>
              </p14:cNvPr>
              <p14:cNvContentPartPr/>
              <p14:nvPr/>
            </p14:nvContentPartPr>
            <p14:xfrm>
              <a:off x="3469399" y="3161617"/>
              <a:ext cx="50580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57F5B15C-A2A5-1B55-C7BE-7572AE180E7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15399" y="3053617"/>
                <a:ext cx="6134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B4EE669D-08E9-4FC6-F47B-4AB12B7C34F5}"/>
                  </a:ext>
                </a:extLst>
              </p14:cNvPr>
              <p14:cNvContentPartPr/>
              <p14:nvPr/>
            </p14:nvContentPartPr>
            <p14:xfrm>
              <a:off x="4445719" y="3983857"/>
              <a:ext cx="884160" cy="26784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B4EE669D-08E9-4FC6-F47B-4AB12B7C34F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92079" y="3876217"/>
                <a:ext cx="991800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BAABB79A-CD27-B598-656D-015AC661BD27}"/>
                  </a:ext>
                </a:extLst>
              </p14:cNvPr>
              <p14:cNvContentPartPr/>
              <p14:nvPr/>
            </p14:nvContentPartPr>
            <p14:xfrm>
              <a:off x="5172919" y="3797377"/>
              <a:ext cx="786240" cy="9180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BAABB79A-CD27-B598-656D-015AC661BD2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18919" y="3689737"/>
                <a:ext cx="89388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BE3F676E-A81B-B62D-EA37-6273E8B8A88B}"/>
                  </a:ext>
                </a:extLst>
              </p14:cNvPr>
              <p14:cNvContentPartPr/>
              <p14:nvPr/>
            </p14:nvContentPartPr>
            <p14:xfrm>
              <a:off x="9864439" y="3406417"/>
              <a:ext cx="2294280" cy="27576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BE3F676E-A81B-B62D-EA37-6273E8B8A88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810799" y="3298777"/>
                <a:ext cx="2401920" cy="49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1768551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3069D-4B26-5EDF-FC40-E094CF7B9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11DA14D-EC3A-41BD-0990-1C3A341C8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futex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6A3504-1846-8AAC-93DA-2327E5C81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64F0D5-5F87-4675-3B2A-E32B5D65D92A}"/>
              </a:ext>
            </a:extLst>
          </p:cNvPr>
          <p:cNvSpPr txBox="1"/>
          <p:nvPr/>
        </p:nvSpPr>
        <p:spPr>
          <a:xfrm>
            <a:off x="203200" y="1016000"/>
            <a:ext cx="46863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Fast </a:t>
            </a:r>
            <a:r>
              <a:rPr kumimoji="1" lang="en-US" altLang="zh-CN" dirty="0" err="1"/>
              <a:t>Userspace</a:t>
            </a:r>
            <a:r>
              <a:rPr kumimoji="1" lang="en-US" altLang="zh-CN" dirty="0"/>
              <a:t> Mutex - Linux </a:t>
            </a:r>
            <a:r>
              <a:rPr kumimoji="1" lang="zh-CN" altLang="en-US" dirty="0"/>
              <a:t>内核提供的高效同步机制，结合了用户空间和内核空间的优势</a:t>
            </a:r>
          </a:p>
          <a:p>
            <a:r>
              <a:rPr kumimoji="1" lang="zh-CN" altLang="en-US" dirty="0"/>
              <a:t>功能</a:t>
            </a:r>
          </a:p>
          <a:p>
            <a:r>
              <a:rPr kumimoji="1" lang="en-US" altLang="zh-CN" dirty="0"/>
              <a:t>- </a:t>
            </a:r>
            <a:r>
              <a:rPr kumimoji="1" lang="zh-CN" altLang="en-US" dirty="0"/>
              <a:t>用户空间</a:t>
            </a:r>
            <a:r>
              <a:rPr kumimoji="1" lang="zh-CN" altLang="en-US" dirty="0">
                <a:highlight>
                  <a:srgbClr val="FFFF00"/>
                </a:highlight>
              </a:rPr>
              <a:t>锁</a:t>
            </a:r>
            <a:r>
              <a:rPr kumimoji="1" lang="zh-CN" altLang="en-US" dirty="0"/>
              <a:t> ：无竞争时完全在用户空间操作，无需系统调用</a:t>
            </a:r>
          </a:p>
          <a:p>
            <a:r>
              <a:rPr kumimoji="1" lang="en-US" altLang="zh-CN" dirty="0"/>
              <a:t>- </a:t>
            </a:r>
            <a:r>
              <a:rPr kumimoji="1" lang="zh-CN" altLang="en-US" dirty="0"/>
              <a:t>内核</a:t>
            </a:r>
            <a:r>
              <a:rPr kumimoji="1" lang="zh-CN" altLang="en-US" dirty="0">
                <a:highlight>
                  <a:srgbClr val="FFFF00"/>
                </a:highlight>
              </a:rPr>
              <a:t>等待</a:t>
            </a:r>
            <a:r>
              <a:rPr kumimoji="1" lang="zh-CN" altLang="en-US" dirty="0"/>
              <a:t>队列 ：有竞争时进入内核等待</a:t>
            </a:r>
          </a:p>
          <a:p>
            <a:r>
              <a:rPr kumimoji="1" lang="en-US" altLang="zh-CN" dirty="0"/>
              <a:t>- </a:t>
            </a:r>
            <a:r>
              <a:rPr kumimoji="1" lang="zh-CN" altLang="en-US" dirty="0"/>
              <a:t>高效</a:t>
            </a:r>
            <a:r>
              <a:rPr kumimoji="1" lang="zh-CN" altLang="en-US" dirty="0">
                <a:highlight>
                  <a:srgbClr val="FFFF00"/>
                </a:highlight>
              </a:rPr>
              <a:t>唤醒</a:t>
            </a:r>
            <a:r>
              <a:rPr kumimoji="1" lang="zh-CN" altLang="en-US" dirty="0"/>
              <a:t> ：支持精确唤醒指定数量的线程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55E4D40-4546-A65D-C3EE-F4D721172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27450"/>
            <a:ext cx="3873500" cy="1968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DD649EF2-3D1E-7A49-C104-D54504739EF9}"/>
                  </a:ext>
                </a:extLst>
              </p14:cNvPr>
              <p14:cNvContentPartPr/>
              <p14:nvPr/>
            </p14:nvContentPartPr>
            <p14:xfrm>
              <a:off x="1734730" y="4248845"/>
              <a:ext cx="463320" cy="39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DD649EF2-3D1E-7A49-C104-D54504739E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1090" y="4140845"/>
                <a:ext cx="5709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90596956-5C36-13AD-8A0F-3788B8D76E48}"/>
                  </a:ext>
                </a:extLst>
              </p14:cNvPr>
              <p14:cNvContentPartPr/>
              <p14:nvPr/>
            </p14:nvContentPartPr>
            <p14:xfrm>
              <a:off x="2155930" y="4246685"/>
              <a:ext cx="360" cy="36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90596956-5C36-13AD-8A0F-3788B8D76E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02290" y="413904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24B94FB0-0EDF-9991-7068-D8B0A5E62F46}"/>
                  </a:ext>
                </a:extLst>
              </p14:cNvPr>
              <p14:cNvContentPartPr/>
              <p14:nvPr/>
            </p14:nvContentPartPr>
            <p14:xfrm>
              <a:off x="1649770" y="4704245"/>
              <a:ext cx="519480" cy="36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24B94FB0-0EDF-9991-7068-D8B0A5E62F4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96130" y="4596605"/>
                <a:ext cx="62712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60CB0921-6293-D251-30CB-2E72AB7BF483}"/>
              </a:ext>
            </a:extLst>
          </p:cNvPr>
          <p:cNvGrpSpPr/>
          <p:nvPr/>
        </p:nvGrpSpPr>
        <p:grpSpPr>
          <a:xfrm>
            <a:off x="5928474" y="235111"/>
            <a:ext cx="5461000" cy="2387600"/>
            <a:chOff x="5631622" y="1339850"/>
            <a:chExt cx="5461000" cy="2387600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08B74014-6E92-A12C-4F9A-00F0E422C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631622" y="1339850"/>
              <a:ext cx="5461000" cy="23876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E1C2BE9C-999D-2515-5278-2BE22C3AB38D}"/>
                    </a:ext>
                  </a:extLst>
                </p14:cNvPr>
                <p14:cNvContentPartPr/>
                <p14:nvPr/>
              </p14:nvContentPartPr>
              <p14:xfrm>
                <a:off x="5859970" y="2269205"/>
                <a:ext cx="2079000" cy="9756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E1C2BE9C-999D-2515-5278-2BE22C3AB38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05970" y="2161205"/>
                  <a:ext cx="2186640" cy="313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A1831CC6-97B5-00F5-DD8A-10117AB70BFC}"/>
              </a:ext>
            </a:extLst>
          </p:cNvPr>
          <p:cNvSpPr txBox="1"/>
          <p:nvPr/>
        </p:nvSpPr>
        <p:spPr>
          <a:xfrm>
            <a:off x="9551504" y="4164496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一个个枚举要做的逻辑</a:t>
            </a:r>
            <a:endParaRPr kumimoji="1" lang="en-US" altLang="zh-CN" dirty="0"/>
          </a:p>
          <a:p>
            <a:r>
              <a:rPr kumimoji="1" lang="en-US" altLang="zh-CN" dirty="0"/>
              <a:t>Wait</a:t>
            </a:r>
            <a:r>
              <a:rPr kumimoji="1" lang="zh-CN" altLang="en-US" dirty="0"/>
              <a:t>就等着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4741D93-7971-8828-AF83-91F06B656D6A}"/>
              </a:ext>
            </a:extLst>
          </p:cNvPr>
          <p:cNvGrpSpPr/>
          <p:nvPr/>
        </p:nvGrpSpPr>
        <p:grpSpPr>
          <a:xfrm>
            <a:off x="5414894" y="2694837"/>
            <a:ext cx="4025900" cy="5727700"/>
            <a:chOff x="5414894" y="2694837"/>
            <a:chExt cx="4025900" cy="572770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C545652-0273-182B-91C3-A9CACEF90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414894" y="2694837"/>
              <a:ext cx="4025900" cy="57277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3203B23E-5B42-1016-A868-4EE2D2F2D6AD}"/>
                    </a:ext>
                  </a:extLst>
                </p14:cNvPr>
                <p14:cNvContentPartPr/>
                <p14:nvPr/>
              </p14:nvContentPartPr>
              <p14:xfrm>
                <a:off x="6334435" y="5780270"/>
                <a:ext cx="861120" cy="19512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3203B23E-5B42-1016-A868-4EE2D2F2D6A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80795" y="5672630"/>
                  <a:ext cx="968760" cy="410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98614283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B780D-9D62-09F7-2276-92E72B4F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465C6535-D34D-2D84-D412-CB2E9584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pselec6</a:t>
            </a:r>
            <a:r>
              <a:rPr lang="zh-CN" altLang="en-US" dirty="0"/>
              <a:t> </a:t>
            </a:r>
            <a:r>
              <a:rPr lang="en-US" altLang="zh-CN" b="0" dirty="0"/>
              <a:t>fs/</a:t>
            </a:r>
            <a:r>
              <a:rPr lang="en-US" altLang="zh-CN" b="0" dirty="0" err="1"/>
              <a:t>select.c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C70BB6-862A-10C3-7F70-5B5FF7899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7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BA8252-1654-D540-AB90-B9067401F684}"/>
              </a:ext>
            </a:extLst>
          </p:cNvPr>
          <p:cNvSpPr txBox="1"/>
          <p:nvPr/>
        </p:nvSpPr>
        <p:spPr>
          <a:xfrm>
            <a:off x="609600" y="1130674"/>
            <a:ext cx="6096000" cy="316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31353A"/>
                </a:solidFill>
                <a:effectLst/>
                <a:latin typeface="JetBrains Mono"/>
              </a:rPr>
              <a:t>POSIX select with </a:t>
            </a:r>
            <a:r>
              <a:rPr lang="en-US" altLang="zh-CN" b="0" dirty="0" err="1">
                <a:solidFill>
                  <a:srgbClr val="31353A"/>
                </a:solidFill>
                <a:effectLst/>
                <a:latin typeface="JetBrains Mono"/>
              </a:rPr>
              <a:t>timespec</a:t>
            </a:r>
            <a:r>
              <a:rPr lang="en-US" altLang="zh-CN" b="0" dirty="0">
                <a:solidFill>
                  <a:srgbClr val="31353A"/>
                </a:solidFill>
                <a:effectLst/>
                <a:latin typeface="JetBrains Mono"/>
              </a:rPr>
              <a:t> and signal masking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20C18C-9998-DED7-97D0-FAD9E334CF1A}"/>
              </a:ext>
            </a:extLst>
          </p:cNvPr>
          <p:cNvSpPr txBox="1"/>
          <p:nvPr/>
        </p:nvSpPr>
        <p:spPr>
          <a:xfrm>
            <a:off x="609600" y="1696878"/>
            <a:ext cx="5067300" cy="118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31353A"/>
                </a:solidFill>
                <a:effectLst/>
                <a:latin typeface="JetBrains Mono"/>
              </a:rPr>
              <a:t>它的核心功能是：</a:t>
            </a:r>
            <a:r>
              <a:rPr lang="zh-CN" altLang="en-US" b="1" dirty="0">
                <a:solidFill>
                  <a:srgbClr val="000080"/>
                </a:solidFill>
                <a:effectLst/>
                <a:latin typeface="JetBrains Mono"/>
              </a:rPr>
              <a:t>监视多个文件描述符（</a:t>
            </a:r>
            <a:r>
              <a:rPr lang="en-US" altLang="zh-CN" b="1" dirty="0" err="1">
                <a:solidFill>
                  <a:srgbClr val="000080"/>
                </a:solidFill>
                <a:effectLst/>
                <a:latin typeface="JetBrains Mono"/>
              </a:rPr>
              <a:t>fd</a:t>
            </a:r>
            <a:r>
              <a:rPr lang="zh-CN" altLang="en-US" b="1" dirty="0">
                <a:solidFill>
                  <a:srgbClr val="000080"/>
                </a:solidFill>
                <a:effectLst/>
                <a:latin typeface="JetBrains Mono"/>
              </a:rPr>
              <a:t>），等待其中任意一个变为</a:t>
            </a:r>
            <a:r>
              <a:rPr lang="en-US" altLang="zh-CN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"</a:t>
            </a:r>
            <a:r>
              <a:rPr lang="zh-CN" altLang="en-US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可读</a:t>
            </a:r>
            <a:r>
              <a:rPr lang="en-US" altLang="zh-CN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"</a:t>
            </a:r>
            <a:r>
              <a:rPr lang="zh-CN" altLang="en-US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、</a:t>
            </a:r>
            <a:r>
              <a:rPr lang="en-US" altLang="zh-CN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"</a:t>
            </a:r>
            <a:r>
              <a:rPr lang="zh-CN" altLang="en-US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可写</a:t>
            </a:r>
            <a:r>
              <a:rPr lang="en-US" altLang="zh-CN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"</a:t>
            </a:r>
            <a:r>
              <a:rPr lang="zh-CN" altLang="en-US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或</a:t>
            </a:r>
            <a:r>
              <a:rPr lang="en-US" altLang="zh-CN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"</a:t>
            </a:r>
            <a:r>
              <a:rPr lang="zh-CN" altLang="en-US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发生异常</a:t>
            </a:r>
            <a:r>
              <a:rPr lang="en-US" altLang="zh-CN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"</a:t>
            </a:r>
            <a:r>
              <a:rPr lang="zh-CN" altLang="en-US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，或者等待超时。</a:t>
            </a:r>
            <a:endParaRPr lang="zh-CN" altLang="en-US" b="0" dirty="0">
              <a:solidFill>
                <a:srgbClr val="31353A"/>
              </a:solidFill>
              <a:effectLst/>
              <a:highlight>
                <a:srgbClr val="FFFF00"/>
              </a:highlight>
              <a:latin typeface="JetBrains Mono"/>
            </a:endParaRPr>
          </a:p>
          <a:p>
            <a:pPr>
              <a:lnSpc>
                <a:spcPts val="1650"/>
              </a:lnSpc>
              <a:buNone/>
            </a:pPr>
            <a:br>
              <a:rPr lang="zh-CN" altLang="en-US" b="0" dirty="0">
                <a:solidFill>
                  <a:srgbClr val="31353A"/>
                </a:solidFill>
                <a:effectLst/>
                <a:latin typeface="JetBrains Mono"/>
              </a:rPr>
            </a:br>
            <a:endParaRPr lang="zh-CN" altLang="en-US" b="0" dirty="0">
              <a:solidFill>
                <a:srgbClr val="31353A"/>
              </a:solidFill>
              <a:effectLst/>
              <a:latin typeface="JetBrains Mono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5A0CB6-39D9-3B69-31C8-5A2BD4E9AB59}"/>
              </a:ext>
            </a:extLst>
          </p:cNvPr>
          <p:cNvSpPr txBox="1"/>
          <p:nvPr/>
        </p:nvSpPr>
        <p:spPr>
          <a:xfrm>
            <a:off x="6400800" y="1073899"/>
            <a:ext cx="5689600" cy="302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CN" b="1" dirty="0" err="1">
                <a:solidFill>
                  <a:srgbClr val="175CE6"/>
                </a:solidFill>
                <a:effectLst/>
                <a:latin typeface="JetBrains Mono"/>
              </a:rPr>
              <a:t>do_select</a:t>
            </a:r>
            <a:r>
              <a:rPr lang="zh-CN" altLang="en-US" dirty="0"/>
              <a:t>工作在</a:t>
            </a:r>
            <a:r>
              <a:rPr lang="en-US" altLang="zh-CN" dirty="0"/>
              <a:t>"</a:t>
            </a:r>
            <a:r>
              <a:rPr lang="zh-CN" altLang="en-US" dirty="0"/>
              <a:t>非阻塞轮询</a:t>
            </a:r>
            <a:r>
              <a:rPr lang="en-US" altLang="zh-CN" dirty="0"/>
              <a:t>"</a:t>
            </a:r>
            <a:r>
              <a:rPr lang="zh-CN" altLang="en-US" dirty="0"/>
              <a:t>模式：</a:t>
            </a:r>
          </a:p>
          <a:p>
            <a:pPr>
              <a:lnSpc>
                <a:spcPts val="1650"/>
              </a:lnSpc>
              <a:buNone/>
            </a:pPr>
            <a:endParaRPr lang="en-US" altLang="zh-CN" b="1" dirty="0">
              <a:solidFill>
                <a:srgbClr val="175CE6"/>
              </a:solidFill>
              <a:effectLst/>
              <a:latin typeface="JetBrains Mono"/>
            </a:endParaRPr>
          </a:p>
          <a:p>
            <a:r>
              <a:rPr lang="en-US" altLang="zh-CN" dirty="0"/>
              <a:t>-</a:t>
            </a:r>
            <a:r>
              <a:rPr lang="zh-CN" altLang="en-US" dirty="0"/>
              <a:t> 将用户态的 </a:t>
            </a:r>
            <a:r>
              <a:rPr lang="en-US" altLang="zh-CN" dirty="0"/>
              <a:t>`</a:t>
            </a:r>
            <a:r>
              <a:rPr lang="en-US" altLang="zh-CN" dirty="0" err="1"/>
              <a:t>timespec</a:t>
            </a:r>
            <a:r>
              <a:rPr lang="en-US" altLang="zh-CN" dirty="0"/>
              <a:t>`</a:t>
            </a:r>
            <a:r>
              <a:rPr lang="zh-CN" altLang="en-US" dirty="0"/>
              <a:t>（秒</a:t>
            </a:r>
            <a:r>
              <a:rPr lang="en-US" altLang="zh-CN" dirty="0"/>
              <a:t>+</a:t>
            </a:r>
            <a:r>
              <a:rPr lang="zh-CN" altLang="en-US" dirty="0"/>
              <a:t>纳秒）转换为内核使用的 </a:t>
            </a:r>
            <a:r>
              <a:rPr lang="en-US" altLang="zh-CN" dirty="0"/>
              <a:t>`timespec64`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调用 </a:t>
            </a:r>
            <a:r>
              <a:rPr lang="en-US" altLang="zh-CN" dirty="0"/>
              <a:t>`</a:t>
            </a:r>
            <a:r>
              <a:rPr lang="en-US" altLang="zh-CN" dirty="0" err="1"/>
              <a:t>poll_select_set_timeout</a:t>
            </a:r>
            <a:r>
              <a:rPr lang="en-US" altLang="zh-CN" dirty="0"/>
              <a:t>()` </a:t>
            </a:r>
            <a:r>
              <a:rPr lang="zh-CN" altLang="en-US" dirty="0"/>
              <a:t>设置超时时间</a:t>
            </a:r>
          </a:p>
          <a:p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zh-CN" altLang="en-US" b="1" dirty="0"/>
              <a:t>**原子地**</a:t>
            </a:r>
            <a:r>
              <a:rPr lang="zh-CN" altLang="en-US" dirty="0"/>
              <a:t>设置信号掩码（关键特性！）</a:t>
            </a:r>
          </a:p>
          <a:p>
            <a:r>
              <a:rPr lang="en-US" altLang="zh-CN" dirty="0"/>
              <a:t>-</a:t>
            </a:r>
            <a:r>
              <a:rPr lang="zh-CN" altLang="en-US" dirty="0"/>
              <a:t> 调用 </a:t>
            </a:r>
            <a:r>
              <a:rPr lang="en-US" altLang="zh-CN" dirty="0"/>
              <a:t>`</a:t>
            </a:r>
            <a:r>
              <a:rPr lang="en-US" altLang="zh-CN" dirty="0" err="1"/>
              <a:t>core_sys_select</a:t>
            </a:r>
            <a:r>
              <a:rPr lang="en-US" altLang="zh-CN" dirty="0"/>
              <a:t>()` </a:t>
            </a:r>
            <a:r>
              <a:rPr lang="zh-CN" altLang="en-US" dirty="0"/>
              <a:t>执行实际的 </a:t>
            </a:r>
            <a:r>
              <a:rPr lang="en-US" altLang="zh-CN" dirty="0"/>
              <a:t>select </a:t>
            </a:r>
            <a:r>
              <a:rPr lang="zh-CN" altLang="en-US" dirty="0"/>
              <a:t>逻辑</a:t>
            </a:r>
          </a:p>
          <a:p>
            <a:r>
              <a:rPr lang="en-US" altLang="zh-CN" dirty="0"/>
              <a:t>-</a:t>
            </a:r>
            <a:r>
              <a:rPr lang="zh-CN" altLang="en-US" dirty="0"/>
              <a:t> 调用 </a:t>
            </a:r>
            <a:r>
              <a:rPr lang="en-US" altLang="zh-CN" dirty="0"/>
              <a:t>`</a:t>
            </a:r>
            <a:r>
              <a:rPr lang="en-US" altLang="zh-CN" dirty="0" err="1"/>
              <a:t>poll_select_finish</a:t>
            </a:r>
            <a:r>
              <a:rPr lang="en-US" altLang="zh-CN" dirty="0"/>
              <a:t>()` </a:t>
            </a:r>
            <a:r>
              <a:rPr lang="zh-CN" altLang="en-US" dirty="0"/>
              <a:t>处理返回结果</a:t>
            </a:r>
          </a:p>
          <a:p>
            <a:br>
              <a:rPr lang="zh-CN" altLang="en-US" dirty="0"/>
            </a:br>
            <a:endParaRPr lang="zh-CN" altLang="en-US" dirty="0"/>
          </a:p>
          <a:p>
            <a:pPr>
              <a:lnSpc>
                <a:spcPts val="1650"/>
              </a:lnSpc>
              <a:buNone/>
            </a:pPr>
            <a:endParaRPr lang="en-US" altLang="zh-CN" b="0" dirty="0">
              <a:solidFill>
                <a:srgbClr val="31353A"/>
              </a:solidFill>
              <a:effectLst/>
              <a:latin typeface="JetBrains Mono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FEE18E0-0332-B8FF-6426-5C858C7E1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3675901"/>
            <a:ext cx="5867400" cy="21082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E37B4C9-EB20-27E3-D68F-0959713C8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28301"/>
            <a:ext cx="64643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019259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493B5-B7C2-C5D8-B0F3-80317D73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4B906153-3812-CDDA-CF4E-C051D0E4E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Claw</a:t>
            </a:r>
            <a:r>
              <a:rPr lang="zh-CN" altLang="en-US" dirty="0"/>
              <a:t>？</a:t>
            </a:r>
            <a:r>
              <a:rPr lang="en-US" altLang="zh-CN" dirty="0"/>
              <a:t>Robot</a:t>
            </a:r>
            <a:r>
              <a:rPr lang="zh-CN" altLang="en-US" dirty="0"/>
              <a:t>？</a:t>
            </a:r>
            <a:r>
              <a:rPr lang="en-US" altLang="zh-CN" dirty="0" err="1"/>
              <a:t>VibeCoding</a:t>
            </a:r>
            <a:r>
              <a:rPr lang="zh-CN" altLang="en-US" dirty="0"/>
              <a:t>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399CFD-03E5-3827-C773-C5A79FCA7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8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0F4975-E892-DEFB-E535-B29C82E34680}"/>
              </a:ext>
            </a:extLst>
          </p:cNvPr>
          <p:cNvSpPr txBox="1"/>
          <p:nvPr/>
        </p:nvSpPr>
        <p:spPr>
          <a:xfrm>
            <a:off x="758358" y="1156236"/>
            <a:ext cx="379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</a:t>
            </a:r>
            <a:r>
              <a:rPr kumimoji="1" lang="en-US" altLang="zh-CN" b="1" dirty="0"/>
              <a:t>L</a:t>
            </a:r>
            <a:r>
              <a:rPr kumimoji="1" lang="en-US" altLang="zh-CN" dirty="0"/>
              <a:t>M</a:t>
            </a:r>
            <a:r>
              <a:rPr kumimoji="1" lang="zh-CN" altLang="en-US" dirty="0"/>
              <a:t>（</a:t>
            </a:r>
            <a:r>
              <a:rPr kumimoji="1" lang="en-US" altLang="zh-CN" dirty="0"/>
              <a:t>Visual</a:t>
            </a:r>
            <a:r>
              <a:rPr kumimoji="1" lang="zh-CN" altLang="en-US" dirty="0"/>
              <a:t> </a:t>
            </a:r>
            <a:r>
              <a:rPr kumimoji="1" lang="en-US" altLang="zh-CN" b="1" dirty="0"/>
              <a:t>Language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B901C4-1110-DEF4-680D-BED9DC47C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587" y="881223"/>
            <a:ext cx="6197008" cy="36334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7E7DC94-3716-750F-2D0E-56A1D8534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46" y="3579806"/>
            <a:ext cx="5452641" cy="327819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02A2737-8595-B014-8534-B0E1018720A1}"/>
              </a:ext>
            </a:extLst>
          </p:cNvPr>
          <p:cNvSpPr txBox="1"/>
          <p:nvPr/>
        </p:nvSpPr>
        <p:spPr>
          <a:xfrm>
            <a:off x="2304312" y="3153699"/>
            <a:ext cx="115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南大</a:t>
            </a:r>
            <a:r>
              <a:rPr kumimoji="1" lang="en-US" altLang="zh-CN" dirty="0" err="1"/>
              <a:t>os</a:t>
            </a:r>
            <a:r>
              <a:rPr kumimoji="1" lang="zh-CN" altLang="en-US" dirty="0"/>
              <a:t>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8BC7FE-0088-3A44-AE67-733642AAA35D}"/>
              </a:ext>
            </a:extLst>
          </p:cNvPr>
          <p:cNvSpPr txBox="1"/>
          <p:nvPr/>
        </p:nvSpPr>
        <p:spPr>
          <a:xfrm>
            <a:off x="357352" y="2571314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OpenCode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BDA496-2E58-D537-C3F2-C2DF356A9761}"/>
              </a:ext>
            </a:extLst>
          </p:cNvPr>
          <p:cNvSpPr txBox="1"/>
          <p:nvPr/>
        </p:nvSpPr>
        <p:spPr>
          <a:xfrm>
            <a:off x="421946" y="2034247"/>
            <a:ext cx="4628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CodeX</a:t>
            </a:r>
            <a:r>
              <a:rPr kumimoji="1" lang="zh-CN" altLang="en-US" dirty="0"/>
              <a:t> </a:t>
            </a:r>
            <a:r>
              <a:rPr kumimoji="1" lang="en-US" altLang="zh-CN" dirty="0"/>
              <a:t>CC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CN</a:t>
            </a:r>
            <a:r>
              <a:rPr kumimoji="1" lang="zh-CN" altLang="en-US" dirty="0"/>
              <a:t>）</a:t>
            </a:r>
            <a:r>
              <a:rPr kumimoji="1" lang="en-US" altLang="zh-CN" dirty="0"/>
              <a:t>Cursor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Antigravity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710166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765</Words>
  <Application>Microsoft Macintosh PowerPoint</Application>
  <PresentationFormat>宽屏</PresentationFormat>
  <Paragraphs>138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微软雅黑</vt:lpstr>
      <vt:lpstr>JetBrains Mono</vt:lpstr>
      <vt:lpstr>Arial</vt:lpstr>
      <vt:lpstr>Century Gothic</vt:lpstr>
      <vt:lpstr>Wingdings</vt:lpstr>
      <vt:lpstr>内页​​</vt:lpstr>
      <vt:lpstr>硬件</vt:lpstr>
      <vt:lpstr>软件栈描述</vt:lpstr>
      <vt:lpstr>控制舵机write/read</vt:lpstr>
      <vt:lpstr>异步读</vt:lpstr>
      <vt:lpstr>OpenCV读视频流</vt:lpstr>
      <vt:lpstr>时间分析——在内核打印时间戳</vt:lpstr>
      <vt:lpstr>futex</vt:lpstr>
      <vt:lpstr>pselec6 fs/select.c</vt:lpstr>
      <vt:lpstr>Claw？Robot？VibeCoding？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 Vel</dc:creator>
  <cp:lastModifiedBy>Vel-Virtual</cp:lastModifiedBy>
  <cp:revision>5</cp:revision>
  <dcterms:created xsi:type="dcterms:W3CDTF">2026-03-26T03:07:53Z</dcterms:created>
  <dcterms:modified xsi:type="dcterms:W3CDTF">2026-03-27T06:49:24Z</dcterms:modified>
</cp:coreProperties>
</file>