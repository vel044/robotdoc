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1824" r:id="rId2"/>
    <p:sldId id="2752" r:id="rId3"/>
    <p:sldId id="2755" r:id="rId4"/>
    <p:sldId id="2726" r:id="rId5"/>
    <p:sldId id="2756" r:id="rId6"/>
    <p:sldId id="2758" r:id="rId7"/>
    <p:sldId id="2759" r:id="rId8"/>
    <p:sldId id="275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7"/>
    <p:restoredTop sz="79096"/>
  </p:normalViewPr>
  <p:slideViewPr>
    <p:cSldViewPr snapToGrid="0">
      <p:cViewPr varScale="1">
        <p:scale>
          <a:sx n="122" d="100"/>
          <a:sy n="122" d="100"/>
        </p:scale>
        <p:origin x="1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508E1-47CB-4848-98FF-9BBE0C353587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7C-6289-5F4B-B26D-1416773B6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1234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5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VFS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，也就是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通用文件写入口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因为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/dev/ttyACM0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设备，所以后续被分发到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TTY/N_TTY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这一层操作了</a:t>
            </a:r>
            <a:r>
              <a:rPr lang="en-US" altLang="zh-CN" sz="1200" b="1" dirty="0" err="1">
                <a:solidFill>
                  <a:srgbClr val="333333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copy_from_user</a:t>
            </a:r>
            <a:r>
              <a:rPr lang="en-US" altLang="zh-CN" sz="1200" b="1" dirty="0">
                <a:solidFill>
                  <a:srgbClr val="333333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()</a:t>
            </a:r>
            <a:r>
              <a:rPr lang="zh-CN" altLang="en-US" sz="1200" b="1" dirty="0">
                <a:solidFill>
                  <a:srgbClr val="333333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从用户态复制内存到内核缓冲区</a:t>
            </a:r>
            <a:r>
              <a:rPr lang="zh-CN" altLang="en-US" sz="1200" b="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 比较耗时 后续可以看一下</a:t>
            </a:r>
            <a:r>
              <a:rPr lang="en-US" altLang="zh-CN" sz="1200" b="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·</a:t>
            </a:r>
            <a:r>
              <a:rPr lang="zh-CN" altLang="en-US" sz="1200" b="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花了多久</a:t>
            </a:r>
            <a:endParaRPr lang="en-US" altLang="zh-CN" sz="1200" b="1" dirty="0">
              <a:solidFill>
                <a:srgbClr val="333333"/>
              </a:solidFill>
              <a:highlight>
                <a:srgbClr val="FFFF00"/>
              </a:highlight>
              <a:latin typeface="Menlo" panose="020B0609030804020204" pitchFamily="49" charset="0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USB Request Block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，可以理解成“一次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传输任务单”。里面会记录：发给哪个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设备、哪个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buffer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在哪里、长度是多少、完成后回调谁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en-US" dirty="0"/>
              <a:t>和</a:t>
            </a:r>
            <a:r>
              <a:rPr lang="en-US" altLang="zh-CN" dirty="0" err="1"/>
              <a:t>xHCI</a:t>
            </a:r>
            <a:r>
              <a:rPr lang="zh-CN" altLang="en-US" dirty="0"/>
              <a:t>并列的有不少 </a:t>
            </a:r>
            <a:r>
              <a:rPr lang="en-US" altLang="zh-CN" dirty="0"/>
              <a:t>USB1.1</a:t>
            </a:r>
            <a:r>
              <a:rPr lang="zh-CN" altLang="en-US" dirty="0"/>
              <a:t> </a:t>
            </a:r>
            <a:r>
              <a:rPr lang="en-US" altLang="zh-CN" dirty="0"/>
              <a:t>2.0</a:t>
            </a:r>
            <a:r>
              <a:rPr lang="zh-CN" altLang="en-US" dirty="0"/>
              <a:t> 。。。。。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5D446-87E7-68EA-3254-8A273E83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515D20-8734-5DCA-6FEC-4987ECBD2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AB069A-85C1-FEB6-7885-B728EE577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3C1863-3313-B41B-8C00-AB297EF81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798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E9AA8-5746-55EA-36BA-3908E71A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F24523-3DDF-425C-B660-72FC81C35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0AA6C0-2304-ABFE-93CE-FBABF9918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9343CD-E680-BD0A-11CA-D38105105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331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2E531-8CAF-6A35-BEED-430215B9E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65CC6A-FC39-E02E-1654-3AAACB3CB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1A3DB4-F13C-28F5-C11A-C2A3C1F47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B44EA-5CFB-BF93-6A21-EEFDF92E3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653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8160-2A6A-2D8F-F463-3C41F413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D40178-97BF-4A98-7CFC-33C74F2C0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E0F7F3-100C-1531-4E78-8C625867A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实验平台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227566-6FDC-5F53-20FD-DE11DF64C8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785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74963793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0104409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30007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12934637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351086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2229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7738653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6561338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961275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5652113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753105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85614412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1864816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14850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1001987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94703223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993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27582060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6898323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16222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69876158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41935850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5620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63"/>
          <a:stretch/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3001113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42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4">
            <a:extLst>
              <a:ext uri="{FF2B5EF4-FFF2-40B4-BE49-F238E27FC236}">
                <a16:creationId xmlns:a16="http://schemas.microsoft.com/office/drawing/2014/main" id="{ADC8450B-B7A8-4345-A581-E9097A655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9208" y="4270263"/>
            <a:ext cx="7287114" cy="15785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答辩人：俞乐楠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导　师：宋林海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时　间：</a:t>
            </a:r>
            <a:fld id="{557380AF-A950-485A-9126-2F7168CD3CCC}" type="datetime1">
              <a:rPr lang="zh-CN" altLang="en-US" smtClean="0"/>
              <a:pPr>
                <a:lnSpc>
                  <a:spcPct val="150000"/>
                </a:lnSpc>
              </a:pPr>
              <a:t>2026/5/11</a:t>
            </a:fld>
            <a:endParaRPr lang="zh-CN" altLang="en-US" dirty="0"/>
          </a:p>
        </p:txBody>
      </p:sp>
      <p:sp>
        <p:nvSpPr>
          <p:cNvPr id="20" name="文本占位符 27">
            <a:extLst>
              <a:ext uri="{FF2B5EF4-FFF2-40B4-BE49-F238E27FC236}">
                <a16:creationId xmlns:a16="http://schemas.microsoft.com/office/drawing/2014/main" id="{CCDACD4C-1CA6-4E65-8D95-3D708C7F5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6000" b="1" dirty="0" err="1">
                <a:latin typeface="+mn-ea"/>
                <a:ea typeface="+mn-ea"/>
              </a:rPr>
              <a:t>Lerobot</a:t>
            </a:r>
            <a:r>
              <a:rPr lang="zh-CN" altLang="en-US" sz="6000" b="1" dirty="0">
                <a:latin typeface="+mn-ea"/>
                <a:ea typeface="+mn-ea"/>
              </a:rPr>
              <a:t>系统级别性能剖析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02FAD8C-9DE1-4C82-A97E-3FC46FEADB6D}"/>
              </a:ext>
            </a:extLst>
          </p:cNvPr>
          <p:cNvCxnSpPr/>
          <p:nvPr/>
        </p:nvCxnSpPr>
        <p:spPr>
          <a:xfrm>
            <a:off x="3549208" y="4010868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2723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2FB7898-EF36-BD17-BCFD-C69F83914D4C}"/>
              </a:ext>
            </a:extLst>
          </p:cNvPr>
          <p:cNvGrpSpPr/>
          <p:nvPr/>
        </p:nvGrpSpPr>
        <p:grpSpPr>
          <a:xfrm>
            <a:off x="344398" y="1041883"/>
            <a:ext cx="11658600" cy="5131566"/>
            <a:chOff x="344398" y="1041883"/>
            <a:chExt cx="11658600" cy="5131566"/>
          </a:xfrm>
        </p:grpSpPr>
        <p:sp>
          <p:nvSpPr>
            <p:cNvPr id="6001" name="B6001"/>
            <p:cNvSpPr/>
            <p:nvPr/>
          </p:nvSpPr>
          <p:spPr>
            <a:xfrm>
              <a:off x="344398" y="1041883"/>
              <a:ext cx="14986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motors_bus.py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电机总线入口</a:t>
              </a:r>
            </a:p>
          </p:txBody>
        </p:sp>
        <p:sp>
          <p:nvSpPr>
            <p:cNvPr id="6002" name="B6002"/>
            <p:cNvSpPr/>
            <p:nvPr/>
          </p:nvSpPr>
          <p:spPr>
            <a:xfrm>
              <a:off x="1995398" y="1041883"/>
              <a:ext cx="16510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motors_bus.py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阶段分发</a:t>
              </a:r>
            </a:p>
          </p:txBody>
        </p:sp>
        <p:sp>
          <p:nvSpPr>
            <p:cNvPr id="6003" name="B6003"/>
            <p:cNvSpPr/>
            <p:nvPr/>
          </p:nvSpPr>
          <p:spPr>
            <a:xfrm>
              <a:off x="3798798" y="1041883"/>
              <a:ext cx="18796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group_sync_write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同步写业务层</a:t>
              </a:r>
            </a:p>
          </p:txBody>
        </p:sp>
        <p:sp>
          <p:nvSpPr>
            <p:cNvPr id="6004" name="B6004"/>
            <p:cNvSpPr/>
            <p:nvPr/>
          </p:nvSpPr>
          <p:spPr>
            <a:xfrm>
              <a:off x="5830798" y="1041883"/>
              <a:ext cx="20066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protocol_handler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协议组包层</a:t>
              </a:r>
            </a:p>
          </p:txBody>
        </p:sp>
        <p:sp>
          <p:nvSpPr>
            <p:cNvPr id="6005" name="B6005"/>
            <p:cNvSpPr/>
            <p:nvPr/>
          </p:nvSpPr>
          <p:spPr>
            <a:xfrm>
              <a:off x="7989798" y="1041883"/>
              <a:ext cx="21082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port_handler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串口物理层</a:t>
              </a:r>
            </a:p>
          </p:txBody>
        </p:sp>
        <p:sp>
          <p:nvSpPr>
            <p:cNvPr id="6006" name="B6006"/>
            <p:cNvSpPr/>
            <p:nvPr/>
          </p:nvSpPr>
          <p:spPr>
            <a:xfrm>
              <a:off x="10250398" y="1041883"/>
              <a:ext cx="1752600" cy="2286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ser / kernel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驱动/系统调用</a:t>
              </a:r>
            </a:p>
          </p:txBody>
        </p:sp>
        <p:cxnSp>
          <p:nvCxnSpPr>
            <p:cNvPr id="6007" name="C6007"/>
            <p:cNvCxnSpPr/>
            <p:nvPr/>
          </p:nvCxnSpPr>
          <p:spPr>
            <a:xfrm>
              <a:off x="344398" y="1366272"/>
              <a:ext cx="11658600" cy="0"/>
            </a:xfrm>
            <a:prstGeom prst="line">
              <a:avLst/>
            </a:prstGeom>
            <a:ln w="12700">
              <a:solidFill>
                <a:srgbClr val="DDDDDD"/>
              </a:solidFill>
            </a:ln>
          </p:spPr>
        </p:cxnSp>
        <p:cxnSp>
          <p:nvCxnSpPr>
            <p:cNvPr id="6008" name="C6008"/>
            <p:cNvCxnSpPr/>
            <p:nvPr/>
          </p:nvCxnSpPr>
          <p:spPr>
            <a:xfrm>
              <a:off x="1893798" y="3531849"/>
              <a:ext cx="10109200" cy="0"/>
            </a:xfrm>
            <a:prstGeom prst="line">
              <a:avLst/>
            </a:prstGeom>
            <a:ln w="12700">
              <a:solidFill>
                <a:srgbClr val="D8EED8"/>
              </a:solidFill>
              <a:prstDash val="dash"/>
            </a:ln>
          </p:spPr>
        </p:cxnSp>
        <p:sp>
          <p:nvSpPr>
            <p:cNvPr id="6009" name="B6009"/>
            <p:cNvSpPr/>
            <p:nvPr/>
          </p:nvSpPr>
          <p:spPr>
            <a:xfrm>
              <a:off x="344398" y="1391899"/>
              <a:ext cx="1498600" cy="4781546"/>
            </a:xfrm>
            <a:prstGeom prst="roundRect">
              <a:avLst>
                <a:gd name="adj" fmla="val 3000"/>
              </a:avLst>
            </a:prstGeom>
            <a:solidFill>
              <a:srgbClr val="006C39"/>
            </a:solidFill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FFFF"/>
                  </a:solidFill>
                  <a:latin typeface="Consolas"/>
                  <a:ea typeface="微软雅黑"/>
                </a:rPr>
                <a:t>_sync_write</a:t>
              </a:r>
            </a:p>
            <a:p>
              <a:pPr>
                <a:spcBef>
                  <a:spcPts val="200"/>
                </a:spcBef>
              </a:pPr>
              <a:endParaRPr lang="zh-CN" sz="400" dirty="0"/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D0E8D0"/>
                  </a:solidFill>
                  <a:latin typeface="微软雅黑"/>
                  <a:ea typeface="微软雅黑"/>
                </a:rPr>
                <a:t>addr=42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D0E8D0"/>
                  </a:solidFill>
                  <a:latin typeface="微软雅黑"/>
                  <a:ea typeface="微软雅黑"/>
                </a:rPr>
                <a:t>len=2, ×6电机</a:t>
              </a:r>
            </a:p>
            <a:p>
              <a:pPr>
                <a:spcBef>
                  <a:spcPts val="300"/>
                </a:spcBef>
              </a:pPr>
              <a:endParaRPr lang="zh-CN" sz="400" dirty="0"/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A8D4B8"/>
                  </a:solidFill>
                  <a:latin typeface="微软雅黑"/>
                  <a:ea typeface="微软雅黑"/>
                </a:rPr>
                <a:t>① setup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A8D4B8"/>
                  </a:solidFill>
                  <a:latin typeface="微软雅黑"/>
                  <a:ea typeface="微软雅黑"/>
                </a:rPr>
                <a:t>② txPacket</a:t>
              </a:r>
            </a:p>
          </p:txBody>
        </p:sp>
        <p:sp>
          <p:nvSpPr>
            <p:cNvPr id="6010" name="B6010"/>
            <p:cNvSpPr/>
            <p:nvPr/>
          </p:nvSpPr>
          <p:spPr>
            <a:xfrm>
              <a:off x="1995398" y="1406715"/>
              <a:ext cx="1651000" cy="2074333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5C2E"/>
                  </a:solidFill>
                  <a:latin typeface="Consolas"/>
                  <a:ea typeface="微软雅黑"/>
                </a:rPr>
                <a:t>① _setup_sync_writer</a:t>
              </a:r>
            </a:p>
            <a:p>
              <a:pPr>
                <a:spcBef>
                  <a:spcPts val="100"/>
                </a:spcBef>
              </a:pPr>
              <a:endParaRPr lang="zh-CN" sz="400" dirty="0"/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606060"/>
                  </a:solidFill>
                  <a:latin typeface="微软雅黑"/>
                  <a:ea typeface="微软雅黑"/>
                </a:rPr>
                <a:t>注册目标值序列化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addr=42  len=2</a:t>
              </a:r>
            </a:p>
          </p:txBody>
        </p:sp>
        <p:cxnSp>
          <p:nvCxnSpPr>
            <p:cNvPr id="6011" name="C6011"/>
            <p:cNvCxnSpPr/>
            <p:nvPr/>
          </p:nvCxnSpPr>
          <p:spPr>
            <a:xfrm>
              <a:off x="1842998" y="22491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12" name="B6012"/>
            <p:cNvSpPr/>
            <p:nvPr/>
          </p:nvSpPr>
          <p:spPr>
            <a:xfrm>
              <a:off x="3798798" y="1397403"/>
              <a:ext cx="1879600" cy="389467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E1E1E"/>
                  </a:solidFill>
                  <a:latin typeface="Consolas"/>
                  <a:ea typeface="微软雅黑"/>
                </a:rPr>
                <a:t>clearParam()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清除残留</a:t>
              </a:r>
            </a:p>
          </p:txBody>
        </p:sp>
        <p:cxnSp>
          <p:nvCxnSpPr>
            <p:cNvPr id="6013" name="C6013"/>
            <p:cNvCxnSpPr/>
            <p:nvPr/>
          </p:nvCxnSpPr>
          <p:spPr>
            <a:xfrm>
              <a:off x="3646398" y="1619831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14" name="B6014"/>
            <p:cNvSpPr/>
            <p:nvPr/>
          </p:nvSpPr>
          <p:spPr>
            <a:xfrm>
              <a:off x="3798798" y="1906640"/>
              <a:ext cx="1879600" cy="774309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start_address=42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1" dirty="0">
                  <a:solidFill>
                    <a:srgbClr val="3A3A3A"/>
                  </a:solidFill>
                  <a:latin typeface="微软雅黑"/>
                  <a:ea typeface="微软雅黑"/>
                </a:rPr>
                <a:t>起始地址 / 长度=2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data_length=2</a:t>
              </a:r>
            </a:p>
          </p:txBody>
        </p:sp>
        <p:cxnSp>
          <p:nvCxnSpPr>
            <p:cNvPr id="6015" name="C6015"/>
            <p:cNvCxnSpPr>
              <a:cxnSpLocks/>
              <a:stCxn id="6012" idx="2"/>
              <a:endCxn id="6014" idx="0"/>
            </p:cNvCxnSpPr>
            <p:nvPr/>
          </p:nvCxnSpPr>
          <p:spPr>
            <a:xfrm>
              <a:off x="4738598" y="1786870"/>
              <a:ext cx="0" cy="11977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16" name="B6016"/>
            <p:cNvSpPr/>
            <p:nvPr/>
          </p:nvSpPr>
          <p:spPr>
            <a:xfrm>
              <a:off x="3798798" y="2782550"/>
              <a:ext cx="1879600" cy="698497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3A3A3A"/>
                  </a:solidFill>
                  <a:latin typeface="微软雅黑"/>
                  <a:ea typeface="微软雅黑"/>
                </a:rPr>
                <a:t>构建发送数据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addParam(id_, data)</a:t>
              </a:r>
            </a:p>
          </p:txBody>
        </p:sp>
        <p:cxnSp>
          <p:nvCxnSpPr>
            <p:cNvPr id="6017" name="C6017"/>
            <p:cNvCxnSpPr>
              <a:cxnSpLocks/>
              <a:stCxn id="6014" idx="2"/>
              <a:endCxn id="6016" idx="0"/>
            </p:cNvCxnSpPr>
            <p:nvPr/>
          </p:nvCxnSpPr>
          <p:spPr>
            <a:xfrm>
              <a:off x="4738598" y="2680949"/>
              <a:ext cx="0" cy="101601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18" name="B6018"/>
            <p:cNvSpPr/>
            <p:nvPr/>
          </p:nvSpPr>
          <p:spPr>
            <a:xfrm>
              <a:off x="5830798" y="2274550"/>
              <a:ext cx="2006600" cy="1206497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5C3A00"/>
                  </a:solidFill>
                  <a:latin typeface="Consolas"/>
                  <a:ea typeface="微软雅黑"/>
                </a:rPr>
                <a:t>_serialize_data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3A3A3A"/>
                  </a:solidFill>
                  <a:latin typeface="微软雅黑"/>
                  <a:ea typeface="微软雅黑"/>
                </a:rPr>
                <a:t>值1891拆为2字节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B06010"/>
                  </a:solidFill>
                  <a:latin typeface="微软雅黑"/>
                  <a:ea typeface="微软雅黑"/>
                </a:rPr>
                <a:t>低字节: 0x83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B06010"/>
                  </a:solidFill>
                  <a:latin typeface="微软雅黑"/>
                  <a:ea typeface="微软雅黑"/>
                </a:rPr>
                <a:t>高字节: 0x07</a:t>
              </a:r>
            </a:p>
          </p:txBody>
        </p:sp>
        <p:cxnSp>
          <p:nvCxnSpPr>
            <p:cNvPr id="6019" name="C6019"/>
            <p:cNvCxnSpPr>
              <a:cxnSpLocks/>
            </p:cNvCxnSpPr>
            <p:nvPr/>
          </p:nvCxnSpPr>
          <p:spPr>
            <a:xfrm>
              <a:off x="5678398" y="3193052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0" name="B6020"/>
            <p:cNvSpPr/>
            <p:nvPr/>
          </p:nvSpPr>
          <p:spPr>
            <a:xfrm>
              <a:off x="1995398" y="3608049"/>
              <a:ext cx="1651000" cy="2565398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5C2E"/>
                  </a:solidFill>
                  <a:latin typeface="Consolas"/>
                  <a:ea typeface="微软雅黑"/>
                </a:rPr>
                <a:t>② txPacket()</a:t>
              </a:r>
            </a:p>
            <a:p>
              <a:pPr>
                <a:spcBef>
                  <a:spcPts val="100"/>
                </a:spcBef>
              </a:pPr>
              <a:endParaRPr lang="zh-CN" sz="400" dirty="0"/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606060"/>
                  </a:solidFill>
                  <a:latin typeface="微软雅黑"/>
                  <a:ea typeface="微软雅黑"/>
                </a:rPr>
                <a:t>打包广播写帧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606060"/>
                  </a:solidFill>
                  <a:latin typeface="微软雅黑"/>
                  <a:ea typeface="微软雅黑"/>
                </a:rPr>
                <a:t>广播地址，不等回包</a:t>
              </a:r>
            </a:p>
          </p:txBody>
        </p:sp>
        <p:cxnSp>
          <p:nvCxnSpPr>
            <p:cNvPr id="6021" name="C6021"/>
            <p:cNvCxnSpPr/>
            <p:nvPr/>
          </p:nvCxnSpPr>
          <p:spPr>
            <a:xfrm>
              <a:off x="2820898" y="3481049"/>
              <a:ext cx="0" cy="12700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cxnSp>
          <p:nvCxnSpPr>
            <p:cNvPr id="6022" name="C6022"/>
            <p:cNvCxnSpPr/>
            <p:nvPr/>
          </p:nvCxnSpPr>
          <p:spPr>
            <a:xfrm>
              <a:off x="1842998" y="49669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3" name="B6023"/>
            <p:cNvSpPr/>
            <p:nvPr/>
          </p:nvSpPr>
          <p:spPr>
            <a:xfrm>
              <a:off x="3798798" y="3608049"/>
              <a:ext cx="1879600" cy="9652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E1E1E"/>
                  </a:solidFill>
                  <a:latin typeface="Consolas"/>
                  <a:ea typeface="微软雅黑"/>
                </a:rPr>
                <a:t>makeParam()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3A3A3A"/>
                  </a:solidFill>
                  <a:latin typeface="微软雅黑"/>
                  <a:ea typeface="微软雅黑"/>
                </a:rPr>
                <a:t>展开 data_dict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[id,lo,hi] × 6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909090"/>
                  </a:solidFill>
                  <a:latin typeface="微软雅黑"/>
                  <a:ea typeface="微软雅黑"/>
                </a:rPr>
                <a:t>共18字节</a:t>
              </a:r>
            </a:p>
          </p:txBody>
        </p:sp>
        <p:cxnSp>
          <p:nvCxnSpPr>
            <p:cNvPr id="6024" name="C6024"/>
            <p:cNvCxnSpPr>
              <a:cxnSpLocks/>
              <a:endCxn id="6023" idx="1"/>
            </p:cNvCxnSpPr>
            <p:nvPr/>
          </p:nvCxnSpPr>
          <p:spPr>
            <a:xfrm>
              <a:off x="3646398" y="40906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5" name="B6025"/>
            <p:cNvSpPr/>
            <p:nvPr/>
          </p:nvSpPr>
          <p:spPr>
            <a:xfrm>
              <a:off x="3798798" y="4674849"/>
              <a:ext cx="1879600" cy="14986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E1E1E"/>
                  </a:solidFill>
                  <a:latin typeface="Consolas"/>
                  <a:ea typeface="微软雅黑"/>
                </a:rPr>
                <a:t>txRxPacket()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606060"/>
                  </a:solidFill>
                  <a:latin typeface="微软雅黑"/>
                  <a:ea typeface="微软雅黑"/>
                </a:rPr>
                <a:t>加锁 is_using=True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Header: FF FF ×2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计算 checksum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8B0000"/>
                  </a:solidFill>
                  <a:latin typeface="微软雅黑"/>
                  <a:ea typeface="微软雅黑"/>
                </a:rPr>
                <a:t>广播→不等回包</a:t>
              </a:r>
            </a:p>
          </p:txBody>
        </p:sp>
        <p:cxnSp>
          <p:nvCxnSpPr>
            <p:cNvPr id="6026" name="C6026"/>
            <p:cNvCxnSpPr/>
            <p:nvPr/>
          </p:nvCxnSpPr>
          <p:spPr>
            <a:xfrm>
              <a:off x="4738598" y="4573249"/>
              <a:ext cx="0" cy="10160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7" name="B6027"/>
            <p:cNvSpPr/>
            <p:nvPr/>
          </p:nvSpPr>
          <p:spPr>
            <a:xfrm>
              <a:off x="5830798" y="3608049"/>
              <a:ext cx="2006600" cy="965200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5C3A00"/>
                  </a:solidFill>
                  <a:latin typeface="Consolas"/>
                  <a:ea typeface="微软雅黑"/>
                </a:rPr>
                <a:t>syncWriteTxOnly()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组 SYNC_WRITE 广播帧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ID=0xFE  INST=0x83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dirty="0">
                  <a:solidFill>
                    <a:srgbClr val="3A3A3A"/>
                  </a:solidFill>
                  <a:latin typeface="Consolas"/>
                  <a:ea typeface="微软雅黑"/>
                </a:rPr>
                <a:t>addr=0x2A  len=2</a:t>
              </a:r>
            </a:p>
          </p:txBody>
        </p:sp>
        <p:cxnSp>
          <p:nvCxnSpPr>
            <p:cNvPr id="6028" name="C6028"/>
            <p:cNvCxnSpPr>
              <a:cxnSpLocks/>
              <a:stCxn id="6023" idx="3"/>
              <a:endCxn id="6027" idx="1"/>
            </p:cNvCxnSpPr>
            <p:nvPr/>
          </p:nvCxnSpPr>
          <p:spPr>
            <a:xfrm>
              <a:off x="5678398" y="40906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29" name="B6029"/>
            <p:cNvSpPr/>
            <p:nvPr/>
          </p:nvSpPr>
          <p:spPr>
            <a:xfrm>
              <a:off x="5830798" y="4674849"/>
              <a:ext cx="2006600" cy="1498600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5C3A00"/>
                  </a:solidFill>
                  <a:latin typeface="Consolas"/>
                  <a:ea typeface="微软雅黑"/>
                </a:rPr>
                <a:t>ph.txPacket(port,pkt)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共26字节广播写帧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BROADCAST_ID 检测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8B0000"/>
                  </a:solidFill>
                  <a:latin typeface="微软雅黑"/>
                  <a:ea typeface="微软雅黑"/>
                </a:rPr>
                <a:t>释放锁，直接返回</a:t>
              </a:r>
            </a:p>
          </p:txBody>
        </p:sp>
        <p:cxnSp>
          <p:nvCxnSpPr>
            <p:cNvPr id="6031" name="C6031"/>
            <p:cNvCxnSpPr/>
            <p:nvPr/>
          </p:nvCxnSpPr>
          <p:spPr>
            <a:xfrm>
              <a:off x="5678398" y="54241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32" name="B6032"/>
            <p:cNvSpPr/>
            <p:nvPr/>
          </p:nvSpPr>
          <p:spPr>
            <a:xfrm>
              <a:off x="7989798" y="4674849"/>
              <a:ext cx="2108200" cy="1498600"/>
            </a:xfrm>
            <a:prstGeom prst="roundRect">
              <a:avLst>
                <a:gd name="adj" fmla="val 3000"/>
              </a:avLst>
            </a:prstGeom>
            <a:solidFill>
              <a:srgbClr val="F5F5FF"/>
            </a:solidFill>
            <a:ln w="9525">
              <a:solidFill>
                <a:srgbClr val="8080C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8185A"/>
                  </a:solidFill>
                  <a:latin typeface="Consolas"/>
                  <a:ea typeface="微软雅黑"/>
                </a:rPr>
                <a:t>port.writePort(pkt)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4040A0"/>
                  </a:solidFill>
                  <a:latin typeface="微软雅黑"/>
                  <a:ea typeface="微软雅黑"/>
                </a:rPr>
                <a:t>ser.write(pkt)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2020A0"/>
                  </a:solidFill>
                  <a:latin typeface="微软雅黑"/>
                  <a:ea typeface="微软雅黑"/>
                </a:rPr>
                <a:t>★ 写串口  26字节</a:t>
              </a:r>
            </a:p>
            <a:p>
              <a:pPr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8B0000"/>
                  </a:solidFill>
                  <a:latin typeface="微软雅黑"/>
                  <a:ea typeface="微软雅黑"/>
                </a:rPr>
                <a:t>广播帧→无需等回包</a:t>
              </a:r>
            </a:p>
          </p:txBody>
        </p:sp>
        <p:cxnSp>
          <p:nvCxnSpPr>
            <p:cNvPr id="6033" name="C6033"/>
            <p:cNvCxnSpPr/>
            <p:nvPr/>
          </p:nvCxnSpPr>
          <p:spPr>
            <a:xfrm>
              <a:off x="7837398" y="54241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34" name="B6034"/>
            <p:cNvSpPr/>
            <p:nvPr/>
          </p:nvSpPr>
          <p:spPr>
            <a:xfrm>
              <a:off x="10250398" y="4674849"/>
              <a:ext cx="1752600" cy="1498600"/>
            </a:xfrm>
            <a:prstGeom prst="roundRect">
              <a:avLst>
                <a:gd name="adj" fmla="val 3000"/>
              </a:avLst>
            </a:prstGeom>
            <a:solidFill>
              <a:srgbClr val="FFFCF0"/>
            </a:solidFill>
            <a:ln w="14000">
              <a:solidFill>
                <a:srgbClr val="C8902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4A3000"/>
                  </a:solidFill>
                  <a:latin typeface="Consolas"/>
                  <a:ea typeface="微软雅黑"/>
                </a:rPr>
                <a:t>★ ser.write()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b="1" dirty="0">
                  <a:solidFill>
                    <a:srgbClr val="C87000"/>
                  </a:solidFill>
                  <a:latin typeface="微软雅黑"/>
                  <a:ea typeface="微软雅黑"/>
                </a:rPr>
                <a:t>写串口  共26字节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帧头FF×2 | ID=FE(广播)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LEN=22 | 指令0x83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起址+长度(4B)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[ID+lo+hi]×6 (18B)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100" dirty="0">
                  <a:solidFill>
                    <a:srgbClr val="909090"/>
                  </a:solidFill>
                  <a:latin typeface="微软雅黑"/>
                  <a:ea typeface="微软雅黑"/>
                </a:rPr>
                <a:t>CS校验(1B)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8B0000"/>
                  </a:solidFill>
                  <a:latin typeface="微软雅黑"/>
                  <a:ea typeface="微软雅黑"/>
                </a:rPr>
                <a:t>广播→无回包</a:t>
              </a:r>
            </a:p>
          </p:txBody>
        </p:sp>
        <p:cxnSp>
          <p:nvCxnSpPr>
            <p:cNvPr id="6035" name="C6035"/>
            <p:cNvCxnSpPr/>
            <p:nvPr/>
          </p:nvCxnSpPr>
          <p:spPr>
            <a:xfrm>
              <a:off x="10097998" y="542414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6036" name="B6036"/>
            <p:cNvSpPr/>
            <p:nvPr/>
          </p:nvSpPr>
          <p:spPr>
            <a:xfrm>
              <a:off x="7989798" y="2672482"/>
              <a:ext cx="4013200" cy="1718733"/>
            </a:xfrm>
            <a:prstGeom prst="roundRect">
              <a:avLst>
                <a:gd name="adj" fmla="val 2000"/>
              </a:avLst>
            </a:prstGeom>
            <a:solidFill>
              <a:srgbClr val="FFFDF5"/>
            </a:solidFill>
            <a:ln w="9525">
              <a:solidFill>
                <a:srgbClr val="C89020"/>
              </a:solidFill>
            </a:ln>
          </p:spPr>
          <p:txBody>
            <a:bodyPr wrap="square" lIns="72000" tIns="36000" rIns="72000" bIns="3600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7A4A00"/>
                  </a:solidFill>
                  <a:latin typeface="Consolas"/>
                  <a:ea typeface="微软雅黑"/>
                </a:rPr>
                <a:t>TX: SYNC_WRITE [0x83]  26 bytes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FF FF  帧头(2B)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FE  广播ID(1B)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16  长度=22(1B)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83  SYNC_WRITE指令(1B)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2A 02  起址0x42，每电机2字节(2B)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[ID+lo+hi]×6  各电机数据(18B)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6000"/>
                  </a:solidFill>
                  <a:latin typeface="微软雅黑"/>
                  <a:ea typeface="微软雅黑"/>
                </a:rPr>
                <a:t>CS  校验和(1B)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solidFill>
                    <a:srgbClr val="8B0000"/>
                  </a:solidFill>
                  <a:latin typeface="微软雅黑"/>
                  <a:ea typeface="微软雅黑"/>
                </a:rPr>
                <a:t>BROADCAST广播帧，无需等回包</a:t>
              </a:r>
            </a:p>
          </p:txBody>
        </p:sp>
        <p:cxnSp>
          <p:nvCxnSpPr>
            <p:cNvPr id="6037" name="C6037"/>
            <p:cNvCxnSpPr>
              <a:cxnSpLocks/>
              <a:stCxn id="6036" idx="2"/>
              <a:endCxn id="6032" idx="0"/>
            </p:cNvCxnSpPr>
            <p:nvPr/>
          </p:nvCxnSpPr>
          <p:spPr>
            <a:xfrm flipH="1">
              <a:off x="9043898" y="4391215"/>
              <a:ext cx="952500" cy="283634"/>
            </a:xfrm>
            <a:prstGeom prst="line">
              <a:avLst/>
            </a:prstGeom>
            <a:ln w="12700">
              <a:solidFill>
                <a:srgbClr val="C89020"/>
              </a:solidFill>
              <a:prstDash val="sysDot"/>
              <a:tailEnd type="arrow" w="sm" len="sm"/>
            </a:ln>
          </p:spPr>
        </p:cxnSp>
        <p:cxnSp>
          <p:nvCxnSpPr>
            <p:cNvPr id="6" name="C6037">
              <a:extLst>
                <a:ext uri="{FF2B5EF4-FFF2-40B4-BE49-F238E27FC236}">
                  <a16:creationId xmlns:a16="http://schemas.microsoft.com/office/drawing/2014/main" id="{ED7AFE6F-EBA8-D7F3-B42D-021FD437A248}"/>
                </a:ext>
              </a:extLst>
            </p:cNvPr>
            <p:cNvCxnSpPr>
              <a:cxnSpLocks/>
              <a:stCxn id="6027" idx="3"/>
              <a:endCxn id="6036" idx="1"/>
            </p:cNvCxnSpPr>
            <p:nvPr/>
          </p:nvCxnSpPr>
          <p:spPr>
            <a:xfrm flipV="1">
              <a:off x="7837398" y="3531849"/>
              <a:ext cx="152400" cy="558800"/>
            </a:xfrm>
            <a:prstGeom prst="line">
              <a:avLst/>
            </a:prstGeom>
            <a:ln w="12700">
              <a:solidFill>
                <a:srgbClr val="C89020"/>
              </a:solidFill>
              <a:prstDash val="sysDot"/>
              <a:tailEnd type="arrow" w="sm" len="sm"/>
            </a:ln>
          </p:spPr>
        </p:cxn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28968E0-FD8F-3483-A6C9-A705D66F3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69392EB-B008-48E9-0869-B472A817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写链路调用链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522542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F8970-E87A-9295-1D53-738D5EB3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6A96652E-5494-F013-A2E3-7B1CE173952E}"/>
              </a:ext>
            </a:extLst>
          </p:cNvPr>
          <p:cNvGrpSpPr/>
          <p:nvPr/>
        </p:nvGrpSpPr>
        <p:grpSpPr>
          <a:xfrm>
            <a:off x="228600" y="914398"/>
            <a:ext cx="11734800" cy="5190980"/>
            <a:chOff x="228600" y="914398"/>
            <a:chExt cx="11734800" cy="5190980"/>
          </a:xfrm>
        </p:grpSpPr>
        <p:sp>
          <p:nvSpPr>
            <p:cNvPr id="5001" name="B5001"/>
            <p:cNvSpPr/>
            <p:nvPr/>
          </p:nvSpPr>
          <p:spPr>
            <a:xfrm>
              <a:off x="228600" y="914398"/>
              <a:ext cx="14986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motors_bus.py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电机总线入口</a:t>
              </a:r>
            </a:p>
          </p:txBody>
        </p:sp>
        <p:sp>
          <p:nvSpPr>
            <p:cNvPr id="5002" name="B5002"/>
            <p:cNvSpPr/>
            <p:nvPr/>
          </p:nvSpPr>
          <p:spPr>
            <a:xfrm>
              <a:off x="1879600" y="914398"/>
              <a:ext cx="16510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motors_bus.py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阶段分发</a:t>
              </a:r>
            </a:p>
          </p:txBody>
        </p:sp>
        <p:sp>
          <p:nvSpPr>
            <p:cNvPr id="5003" name="B5003"/>
            <p:cNvSpPr/>
            <p:nvPr/>
          </p:nvSpPr>
          <p:spPr>
            <a:xfrm>
              <a:off x="3683000" y="914398"/>
              <a:ext cx="18796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group_sync_read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同步读业务层</a:t>
              </a:r>
            </a:p>
          </p:txBody>
        </p:sp>
        <p:sp>
          <p:nvSpPr>
            <p:cNvPr id="5004" name="B5004"/>
            <p:cNvSpPr/>
            <p:nvPr/>
          </p:nvSpPr>
          <p:spPr>
            <a:xfrm>
              <a:off x="5715000" y="914398"/>
              <a:ext cx="20066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protocol_handler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协议组包/解包层</a:t>
              </a:r>
            </a:p>
          </p:txBody>
        </p:sp>
        <p:sp>
          <p:nvSpPr>
            <p:cNvPr id="5005" name="B5005"/>
            <p:cNvSpPr/>
            <p:nvPr/>
          </p:nvSpPr>
          <p:spPr>
            <a:xfrm>
              <a:off x="7874000" y="914398"/>
              <a:ext cx="21082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port_handler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串口物理层</a:t>
              </a:r>
            </a:p>
          </p:txBody>
        </p:sp>
        <p:sp>
          <p:nvSpPr>
            <p:cNvPr id="5006" name="B5006"/>
            <p:cNvSpPr/>
            <p:nvPr/>
          </p:nvSpPr>
          <p:spPr>
            <a:xfrm>
              <a:off x="10134600" y="914398"/>
              <a:ext cx="1752600" cy="35794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Consolas"/>
                  <a:ea typeface="微软雅黑"/>
                </a:rPr>
                <a:t>ser / kernel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latin typeface="微软雅黑"/>
                  <a:ea typeface="微软雅黑"/>
                </a:rPr>
                <a:t>驱动/系统调用</a:t>
              </a:r>
            </a:p>
          </p:txBody>
        </p:sp>
        <p:cxnSp>
          <p:nvCxnSpPr>
            <p:cNvPr id="5007" name="C5007"/>
            <p:cNvCxnSpPr/>
            <p:nvPr/>
          </p:nvCxnSpPr>
          <p:spPr>
            <a:xfrm>
              <a:off x="228600" y="1357010"/>
              <a:ext cx="11658600" cy="0"/>
            </a:xfrm>
            <a:prstGeom prst="line">
              <a:avLst/>
            </a:prstGeom>
            <a:ln w="12700">
              <a:solidFill>
                <a:srgbClr val="DDDDDD"/>
              </a:solidFill>
            </a:ln>
          </p:spPr>
        </p:cxnSp>
        <p:cxnSp>
          <p:nvCxnSpPr>
            <p:cNvPr id="5008" name="C5008"/>
            <p:cNvCxnSpPr/>
            <p:nvPr/>
          </p:nvCxnSpPr>
          <p:spPr>
            <a:xfrm>
              <a:off x="1778000" y="2834400"/>
              <a:ext cx="10109200" cy="0"/>
            </a:xfrm>
            <a:prstGeom prst="line">
              <a:avLst/>
            </a:prstGeom>
            <a:ln w="12700">
              <a:solidFill>
                <a:srgbClr val="D8EED8"/>
              </a:solidFill>
              <a:prstDash val="dash"/>
            </a:ln>
          </p:spPr>
        </p:cxnSp>
        <p:cxnSp>
          <p:nvCxnSpPr>
            <p:cNvPr id="5009" name="C5009"/>
            <p:cNvCxnSpPr/>
            <p:nvPr/>
          </p:nvCxnSpPr>
          <p:spPr>
            <a:xfrm>
              <a:off x="1778000" y="5109524"/>
              <a:ext cx="10109200" cy="0"/>
            </a:xfrm>
            <a:prstGeom prst="line">
              <a:avLst/>
            </a:prstGeom>
            <a:ln w="12700">
              <a:solidFill>
                <a:srgbClr val="D8EED8"/>
              </a:solidFill>
              <a:prstDash val="dash"/>
            </a:ln>
          </p:spPr>
        </p:cxnSp>
        <p:sp>
          <p:nvSpPr>
            <p:cNvPr id="5010" name="B5010"/>
            <p:cNvSpPr/>
            <p:nvPr/>
          </p:nvSpPr>
          <p:spPr>
            <a:xfrm>
              <a:off x="228600" y="1397000"/>
              <a:ext cx="1498600" cy="4708378"/>
            </a:xfrm>
            <a:prstGeom prst="roundRect">
              <a:avLst>
                <a:gd name="adj" fmla="val 3000"/>
              </a:avLst>
            </a:prstGeom>
            <a:solidFill>
              <a:srgbClr val="006C39"/>
            </a:solidFill>
            <a:ln w="6350">
              <a:noFill/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FFFF"/>
                  </a:solidFill>
                  <a:latin typeface="Consolas"/>
                  <a:ea typeface="微软雅黑"/>
                </a:rPr>
                <a:t>_sync_read</a:t>
              </a:r>
            </a:p>
            <a:p>
              <a:pPr>
                <a:spcBef>
                  <a:spcPts val="2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D0E8D0"/>
                  </a:solidFill>
                  <a:latin typeface="微软雅黑"/>
                  <a:ea typeface="微软雅黑"/>
                </a:rPr>
                <a:t>addr=56, len=2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D0E8D0"/>
                  </a:solidFill>
                  <a:latin typeface="微软雅黑"/>
                  <a:ea typeface="微软雅黑"/>
                </a:rPr>
                <a:t>ids=[1..6]  6个电机</a:t>
              </a:r>
            </a:p>
            <a:p>
              <a:pPr>
                <a:spcBef>
                  <a:spcPts val="3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A8D4B8"/>
                  </a:solidFill>
                  <a:latin typeface="微软雅黑"/>
                  <a:ea typeface="微软雅黑"/>
                </a:rPr>
                <a:t>① 登记要读的ID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A8D4B8"/>
                  </a:solidFill>
                  <a:latin typeface="微软雅黑"/>
                  <a:ea typeface="微软雅黑"/>
                </a:rPr>
                <a:t>② 发读包等回包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A8D4B8"/>
                  </a:solidFill>
                  <a:latin typeface="微软雅黑"/>
                  <a:ea typeface="微软雅黑"/>
                </a:rPr>
                <a:t>③ 解析返回数据</a:t>
              </a:r>
            </a:p>
          </p:txBody>
        </p:sp>
        <p:sp>
          <p:nvSpPr>
            <p:cNvPr id="5011" name="B5011"/>
            <p:cNvSpPr/>
            <p:nvPr/>
          </p:nvSpPr>
          <p:spPr>
            <a:xfrm>
              <a:off x="1879600" y="1396960"/>
              <a:ext cx="1651000" cy="1346241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5C2E"/>
                  </a:solidFill>
                  <a:latin typeface="Consolas"/>
                  <a:ea typeface="微软雅黑"/>
                </a:rPr>
                <a:t>① setup</a:t>
              </a:r>
            </a:p>
            <a:p>
              <a:pPr>
                <a:spcBef>
                  <a:spcPts val="1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清空旧ID列表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登记6个电机ID</a:t>
              </a:r>
            </a:p>
          </p:txBody>
        </p:sp>
        <p:cxnSp>
          <p:nvCxnSpPr>
            <p:cNvPr id="5012" name="C5012"/>
            <p:cNvCxnSpPr/>
            <p:nvPr/>
          </p:nvCxnSpPr>
          <p:spPr>
            <a:xfrm>
              <a:off x="1727200" y="1892261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13" name="B5013"/>
            <p:cNvSpPr/>
            <p:nvPr/>
          </p:nvSpPr>
          <p:spPr>
            <a:xfrm>
              <a:off x="3683000" y="1396960"/>
              <a:ext cx="1879600" cy="423583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rgbClr val="1E1E1E"/>
                  </a:solidFill>
                  <a:latin typeface="Consolas"/>
                  <a:ea typeface="微软雅黑"/>
                </a:rPr>
                <a:t>clearParam()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9090"/>
                  </a:solidFill>
                  <a:latin typeface="微软雅黑"/>
                  <a:ea typeface="微软雅黑"/>
                </a:rPr>
                <a:t>清空电机ID列表</a:t>
              </a:r>
            </a:p>
          </p:txBody>
        </p:sp>
        <p:cxnSp>
          <p:nvCxnSpPr>
            <p:cNvPr id="5014" name="C5014"/>
            <p:cNvCxnSpPr>
              <a:cxnSpLocks/>
              <a:endCxn id="5013" idx="1"/>
            </p:cNvCxnSpPr>
            <p:nvPr/>
          </p:nvCxnSpPr>
          <p:spPr>
            <a:xfrm>
              <a:off x="3530600" y="1608752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15" name="B5015"/>
            <p:cNvSpPr/>
            <p:nvPr/>
          </p:nvSpPr>
          <p:spPr>
            <a:xfrm>
              <a:off x="3683000" y="1909444"/>
              <a:ext cx="1879600" cy="355601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起址0x38(56)  长度=2</a:t>
              </a:r>
            </a:p>
          </p:txBody>
        </p:sp>
        <p:cxnSp>
          <p:nvCxnSpPr>
            <p:cNvPr id="5016" name="C5016"/>
            <p:cNvCxnSpPr>
              <a:cxnSpLocks/>
              <a:stCxn id="5013" idx="2"/>
              <a:endCxn id="5015" idx="0"/>
            </p:cNvCxnSpPr>
            <p:nvPr/>
          </p:nvCxnSpPr>
          <p:spPr>
            <a:xfrm>
              <a:off x="4622800" y="1820543"/>
              <a:ext cx="0" cy="88901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17" name="B5017"/>
            <p:cNvSpPr/>
            <p:nvPr/>
          </p:nvSpPr>
          <p:spPr>
            <a:xfrm>
              <a:off x="3683000" y="2353945"/>
              <a:ext cx="1879600" cy="382926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逐个登记ID 1..6</a:t>
              </a:r>
            </a:p>
          </p:txBody>
        </p:sp>
        <p:cxnSp>
          <p:nvCxnSpPr>
            <p:cNvPr id="5018" name="C5018"/>
            <p:cNvCxnSpPr>
              <a:cxnSpLocks/>
              <a:stCxn id="5015" idx="2"/>
              <a:endCxn id="5017" idx="0"/>
            </p:cNvCxnSpPr>
            <p:nvPr/>
          </p:nvCxnSpPr>
          <p:spPr>
            <a:xfrm>
              <a:off x="4622800" y="2265045"/>
              <a:ext cx="0" cy="8890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19" name="B5019"/>
            <p:cNvSpPr/>
            <p:nvPr/>
          </p:nvSpPr>
          <p:spPr>
            <a:xfrm>
              <a:off x="1879600" y="2920961"/>
              <a:ext cx="1651000" cy="2042979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5C2E"/>
                  </a:solidFill>
                  <a:latin typeface="Consolas"/>
                  <a:ea typeface="微软雅黑"/>
                </a:rPr>
                <a:t>② txRxPacket</a:t>
              </a:r>
            </a:p>
            <a:p>
              <a:pPr>
                <a:spcBef>
                  <a:spcPts val="1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006C39"/>
                  </a:solidFill>
                  <a:latin typeface="微软雅黑"/>
                  <a:ea typeface="微软雅黑"/>
                </a:rPr>
                <a:t>发读帧，等所有电机回包</a:t>
              </a:r>
            </a:p>
          </p:txBody>
        </p:sp>
        <p:cxnSp>
          <p:nvCxnSpPr>
            <p:cNvPr id="5020" name="C5020"/>
            <p:cNvCxnSpPr>
              <a:cxnSpLocks/>
              <a:stCxn id="5011" idx="2"/>
              <a:endCxn id="5019" idx="0"/>
            </p:cNvCxnSpPr>
            <p:nvPr/>
          </p:nvCxnSpPr>
          <p:spPr>
            <a:xfrm>
              <a:off x="2705100" y="2743201"/>
              <a:ext cx="0" cy="17776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1" name="B5021"/>
            <p:cNvSpPr/>
            <p:nvPr/>
          </p:nvSpPr>
          <p:spPr>
            <a:xfrm>
              <a:off x="3683000" y="2920999"/>
              <a:ext cx="1879600" cy="962873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E1E1E"/>
                  </a:solidFill>
                  <a:latin typeface="Consolas"/>
                  <a:ea typeface="微软雅黑"/>
                </a:rPr>
                <a:t>txPacket()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组 SYNC_READ 帧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加帧头+校验和</a:t>
              </a:r>
            </a:p>
          </p:txBody>
        </p:sp>
        <p:cxnSp>
          <p:nvCxnSpPr>
            <p:cNvPr id="5022" name="C5022"/>
            <p:cNvCxnSpPr>
              <a:cxnSpLocks/>
              <a:endCxn id="5021" idx="1"/>
            </p:cNvCxnSpPr>
            <p:nvPr/>
          </p:nvCxnSpPr>
          <p:spPr>
            <a:xfrm>
              <a:off x="3530600" y="3348769"/>
              <a:ext cx="152400" cy="53667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3" name="B5023"/>
            <p:cNvSpPr/>
            <p:nvPr/>
          </p:nvSpPr>
          <p:spPr>
            <a:xfrm>
              <a:off x="5715000" y="2920999"/>
              <a:ext cx="2006600" cy="962872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5C3A00"/>
                  </a:solidFill>
                  <a:latin typeface="Consolas"/>
                  <a:ea typeface="微软雅黑"/>
                </a:rPr>
                <a:t>syncReadTx()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3A3A3A"/>
                  </a:solidFill>
                  <a:latin typeface="微软雅黑"/>
                  <a:ea typeface="微软雅黑"/>
                </a:rPr>
                <a:t>指令 0x82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3A3A3A"/>
                  </a:solidFill>
                  <a:latin typeface="微软雅黑"/>
                  <a:ea typeface="微软雅黑"/>
                </a:rPr>
                <a:t>设超时，发串口</a:t>
              </a:r>
            </a:p>
          </p:txBody>
        </p:sp>
        <p:cxnSp>
          <p:nvCxnSpPr>
            <p:cNvPr id="5024" name="C5024"/>
            <p:cNvCxnSpPr>
              <a:cxnSpLocks/>
              <a:stCxn id="5021" idx="3"/>
              <a:endCxn id="5023" idx="1"/>
            </p:cNvCxnSpPr>
            <p:nvPr/>
          </p:nvCxnSpPr>
          <p:spPr>
            <a:xfrm flipV="1">
              <a:off x="5562600" y="3402435"/>
              <a:ext cx="152400" cy="1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5" name="B5025"/>
            <p:cNvSpPr/>
            <p:nvPr/>
          </p:nvSpPr>
          <p:spPr>
            <a:xfrm>
              <a:off x="7874000" y="2920999"/>
              <a:ext cx="1701799" cy="962871"/>
            </a:xfrm>
            <a:prstGeom prst="roundRect">
              <a:avLst>
                <a:gd name="adj" fmla="val 3000"/>
              </a:avLst>
            </a:prstGeom>
            <a:solidFill>
              <a:srgbClr val="F5F5FF"/>
            </a:solidFill>
            <a:ln w="9525">
              <a:solidFill>
                <a:srgbClr val="8080C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8185A"/>
                  </a:solidFill>
                  <a:latin typeface="Consolas"/>
                  <a:ea typeface="微软雅黑"/>
                </a:rPr>
                <a:t>ph.txPacket()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补帧头 FF FF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计算校验和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909090"/>
                  </a:solidFill>
                  <a:latin typeface="微软雅黑"/>
                  <a:ea typeface="微软雅黑"/>
                </a:rPr>
                <a:t>清缓冲 → 写串口</a:t>
              </a:r>
            </a:p>
          </p:txBody>
        </p:sp>
        <p:cxnSp>
          <p:nvCxnSpPr>
            <p:cNvPr id="5026" name="C5026"/>
            <p:cNvCxnSpPr>
              <a:cxnSpLocks/>
              <a:stCxn id="5023" idx="3"/>
              <a:endCxn id="5025" idx="1"/>
            </p:cNvCxnSpPr>
            <p:nvPr/>
          </p:nvCxnSpPr>
          <p:spPr>
            <a:xfrm>
              <a:off x="7721600" y="3402435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7" name="B5027"/>
            <p:cNvSpPr/>
            <p:nvPr/>
          </p:nvSpPr>
          <p:spPr>
            <a:xfrm>
              <a:off x="9725479" y="2920999"/>
              <a:ext cx="2237921" cy="962871"/>
            </a:xfrm>
            <a:prstGeom prst="roundRect">
              <a:avLst>
                <a:gd name="adj" fmla="val 3000"/>
              </a:avLst>
            </a:prstGeom>
            <a:solidFill>
              <a:srgbClr val="FFFCF0"/>
            </a:solidFill>
            <a:ln w="14000">
              <a:solidFill>
                <a:srgbClr val="C8902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4A3000"/>
                  </a:solidFill>
                  <a:latin typeface="Consolas"/>
                  <a:ea typeface="微软雅黑"/>
                </a:rPr>
                <a:t>★ writePort()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C87000"/>
                  </a:solidFill>
                  <a:latin typeface="微软雅黑"/>
                  <a:ea typeface="微软雅黑"/>
                </a:rPr>
                <a:t>★ 写串口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发出 SYNC_READ 请求</a:t>
              </a:r>
            </a:p>
          </p:txBody>
        </p:sp>
        <p:cxnSp>
          <p:nvCxnSpPr>
            <p:cNvPr id="5028" name="C5028"/>
            <p:cNvCxnSpPr>
              <a:cxnSpLocks/>
              <a:stCxn id="5025" idx="3"/>
              <a:endCxn id="5027" idx="1"/>
            </p:cNvCxnSpPr>
            <p:nvPr/>
          </p:nvCxnSpPr>
          <p:spPr>
            <a:xfrm>
              <a:off x="9575799" y="3402435"/>
              <a:ext cx="14968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29" name="B5029"/>
            <p:cNvSpPr/>
            <p:nvPr/>
          </p:nvSpPr>
          <p:spPr>
            <a:xfrm>
              <a:off x="3683000" y="4069855"/>
              <a:ext cx="1879600" cy="894081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E1E1E"/>
                  </a:solidFill>
                  <a:latin typeface="Consolas"/>
                  <a:ea typeface="微软雅黑"/>
                </a:rPr>
                <a:t>rxPacket()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3A3A3A"/>
                  </a:solidFill>
                  <a:latin typeface="微软雅黑"/>
                  <a:ea typeface="微软雅黑"/>
                </a:rPr>
                <a:t>轮询接收，每个电机1包</a:t>
              </a:r>
              <a:r>
                <a:rPr lang="zh-CN" altLang="en-US" sz="1400" dirty="0">
                  <a:solidFill>
                    <a:srgbClr val="606060"/>
                  </a:solidFill>
                  <a:latin typeface="微软雅黑"/>
                  <a:ea typeface="微软雅黑"/>
                </a:rPr>
                <a:t>×6次</a:t>
              </a:r>
            </a:p>
          </p:txBody>
        </p:sp>
        <p:cxnSp>
          <p:nvCxnSpPr>
            <p:cNvPr id="5030" name="C5030"/>
            <p:cNvCxnSpPr>
              <a:cxnSpLocks/>
              <a:stCxn id="5021" idx="2"/>
              <a:endCxn id="5029" idx="0"/>
            </p:cNvCxnSpPr>
            <p:nvPr/>
          </p:nvCxnSpPr>
          <p:spPr>
            <a:xfrm>
              <a:off x="4622800" y="3883872"/>
              <a:ext cx="0" cy="185983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31" name="B5031"/>
            <p:cNvSpPr/>
            <p:nvPr/>
          </p:nvSpPr>
          <p:spPr>
            <a:xfrm>
              <a:off x="5715000" y="4051702"/>
              <a:ext cx="2006600" cy="912234"/>
            </a:xfrm>
            <a:prstGeom prst="roundRect">
              <a:avLst>
                <a:gd name="adj" fmla="val 3000"/>
              </a:avLst>
            </a:prstGeom>
            <a:solidFill>
              <a:srgbClr val="FFF8F0"/>
            </a:solidFill>
            <a:ln w="9525">
              <a:solidFill>
                <a:srgbClr val="D4A06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5C3A00"/>
                  </a:solidFill>
                  <a:latin typeface="Consolas"/>
                  <a:ea typeface="微软雅黑"/>
                </a:rPr>
                <a:t>readRx(port,id,2)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606060"/>
                  </a:solidFill>
                  <a:latin typeface="微软雅黑"/>
                  <a:ea typeface="微软雅黑"/>
                </a:rPr>
                <a:t>等当前ID回包到达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B06010"/>
                  </a:solidFill>
                  <a:latin typeface="微软雅黑"/>
                  <a:ea typeface="微软雅黑"/>
                </a:rPr>
                <a:t>超时则报错</a:t>
              </a:r>
            </a:p>
          </p:txBody>
        </p:sp>
        <p:cxnSp>
          <p:nvCxnSpPr>
            <p:cNvPr id="5032" name="C5032"/>
            <p:cNvCxnSpPr>
              <a:cxnSpLocks/>
              <a:stCxn id="5029" idx="3"/>
              <a:endCxn id="5031" idx="1"/>
            </p:cNvCxnSpPr>
            <p:nvPr/>
          </p:nvCxnSpPr>
          <p:spPr>
            <a:xfrm flipV="1">
              <a:off x="5562600" y="4507819"/>
              <a:ext cx="152400" cy="9077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33" name="B5033"/>
            <p:cNvSpPr/>
            <p:nvPr/>
          </p:nvSpPr>
          <p:spPr>
            <a:xfrm>
              <a:off x="7874000" y="4051702"/>
              <a:ext cx="1701799" cy="912234"/>
            </a:xfrm>
            <a:prstGeom prst="roundRect">
              <a:avLst>
                <a:gd name="adj" fmla="val 3000"/>
              </a:avLst>
            </a:prstGeom>
            <a:solidFill>
              <a:srgbClr val="F5F5FF"/>
            </a:solidFill>
            <a:ln w="9525">
              <a:solidFill>
                <a:srgbClr val="8080C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8185A"/>
                  </a:solidFill>
                  <a:latin typeface="Consolas"/>
                  <a:ea typeface="微软雅黑"/>
                </a:rPr>
                <a:t>ph.rxPacket(port)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搜 FF FF 包头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读ID+LEN+数据+CS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验校验和</a:t>
              </a:r>
            </a:p>
          </p:txBody>
        </p:sp>
        <p:cxnSp>
          <p:nvCxnSpPr>
            <p:cNvPr id="5034" name="C5034"/>
            <p:cNvCxnSpPr>
              <a:cxnSpLocks/>
              <a:stCxn id="5031" idx="3"/>
              <a:endCxn id="5033" idx="1"/>
            </p:cNvCxnSpPr>
            <p:nvPr/>
          </p:nvCxnSpPr>
          <p:spPr>
            <a:xfrm>
              <a:off x="7721600" y="4507819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35" name="B5035"/>
            <p:cNvSpPr/>
            <p:nvPr/>
          </p:nvSpPr>
          <p:spPr>
            <a:xfrm>
              <a:off x="9725479" y="4051702"/>
              <a:ext cx="2237921" cy="912234"/>
            </a:xfrm>
            <a:prstGeom prst="roundRect">
              <a:avLst>
                <a:gd name="adj" fmla="val 3000"/>
              </a:avLst>
            </a:prstGeom>
            <a:solidFill>
              <a:srgbClr val="F0F0FF"/>
            </a:solidFill>
            <a:ln w="14000">
              <a:solidFill>
                <a:srgbClr val="6060C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18185A"/>
                  </a:solidFill>
                  <a:latin typeface="Consolas"/>
                  <a:ea typeface="微软雅黑"/>
                </a:rPr>
                <a:t>★ ser.read(n)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4040A0"/>
                  </a:solidFill>
                  <a:latin typeface="微软雅黑"/>
                  <a:ea typeface="微软雅黑"/>
                </a:rPr>
                <a:t>读串口 (非阻塞)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8B0000"/>
                  </a:solidFill>
                  <a:latin typeface="微软雅黑"/>
                  <a:ea typeface="微软雅黑"/>
                </a:rPr>
                <a:t>软件轮询+超时退出</a:t>
              </a:r>
            </a:p>
          </p:txBody>
        </p:sp>
        <p:cxnSp>
          <p:nvCxnSpPr>
            <p:cNvPr id="5036" name="C5036"/>
            <p:cNvCxnSpPr>
              <a:cxnSpLocks/>
              <a:stCxn id="5033" idx="3"/>
              <a:endCxn id="5035" idx="1"/>
            </p:cNvCxnSpPr>
            <p:nvPr/>
          </p:nvCxnSpPr>
          <p:spPr>
            <a:xfrm>
              <a:off x="9575799" y="4507819"/>
              <a:ext cx="14968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37" name="B5037"/>
            <p:cNvSpPr/>
            <p:nvPr/>
          </p:nvSpPr>
          <p:spPr>
            <a:xfrm>
              <a:off x="5883728" y="1691162"/>
              <a:ext cx="5676901" cy="965200"/>
            </a:xfrm>
            <a:prstGeom prst="roundRect">
              <a:avLst>
                <a:gd name="adj" fmla="val 2000"/>
              </a:avLst>
            </a:prstGeom>
            <a:solidFill>
              <a:srgbClr val="FFFDF5"/>
            </a:solidFill>
            <a:ln w="9525">
              <a:solidFill>
                <a:srgbClr val="C89020"/>
              </a:solidFill>
            </a:ln>
          </p:spPr>
          <p:txBody>
            <a:bodyPr wrap="square" lIns="72000" tIns="36000" rIns="72000" bIns="3600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7A4A00"/>
                  </a:solidFill>
                  <a:latin typeface="Consolas"/>
                  <a:ea typeface="Consolas"/>
                </a:rPr>
                <a:t>TX: SYNC_READ [0x82]  14 bytes</a:t>
              </a:r>
            </a:p>
            <a:p>
              <a:pPr algn="l">
                <a:lnSpc>
                  <a:spcPct val="100000"/>
                </a:lnSpc>
                <a:spcBef>
                  <a:spcPts val="6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FF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FF FE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0A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82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38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02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01 02 03 04 05 06 CS</a:t>
              </a:r>
            </a:p>
            <a:p>
              <a:pPr algn="l">
                <a:lnSpc>
                  <a:spcPct val="100000"/>
                </a:lnSpc>
                <a:spcBef>
                  <a:spcPts val="6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906000"/>
                  </a:solidFill>
                  <a:latin typeface="微软雅黑"/>
                  <a:ea typeface="微软雅黑"/>
                </a:rPr>
                <a:t>帧头 广播ID 长10 读命令 起址56 读2字节 6个电机ID            校验  </a:t>
              </a:r>
            </a:p>
          </p:txBody>
        </p:sp>
        <p:sp>
          <p:nvSpPr>
            <p:cNvPr id="5038" name="B5038"/>
            <p:cNvSpPr/>
            <p:nvPr/>
          </p:nvSpPr>
          <p:spPr>
            <a:xfrm>
              <a:off x="5723164" y="5178516"/>
              <a:ext cx="5138057" cy="926862"/>
            </a:xfrm>
            <a:prstGeom prst="roundRect">
              <a:avLst>
                <a:gd name="adj" fmla="val 2000"/>
              </a:avLst>
            </a:prstGeom>
            <a:solidFill>
              <a:srgbClr val="F0F0FF"/>
            </a:solidFill>
            <a:ln w="9525">
              <a:solidFill>
                <a:srgbClr val="6060C0"/>
              </a:solidFill>
            </a:ln>
          </p:spPr>
          <p:txBody>
            <a:bodyPr wrap="square" lIns="72000" tIns="36000" rIns="72000" bIns="36000" anchor="t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18185A"/>
                  </a:solidFill>
                  <a:latin typeface="Consolas"/>
                  <a:ea typeface="Consolas"/>
                </a:rPr>
                <a:t>RX: per motor × 6  8 bytes each</a:t>
              </a:r>
            </a:p>
            <a:p>
              <a:pPr algn="l">
                <a:lnSpc>
                  <a:spcPct val="100000"/>
                </a:lnSpc>
                <a:spcBef>
                  <a:spcPts val="6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FF FF 01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04 00 </a:t>
              </a:r>
              <a:r>
                <a:rPr lang="zh-CN" altLang="en-US" sz="1600" dirty="0">
                  <a:solidFill>
                    <a:srgbClr val="1E1E1E"/>
                  </a:solidFill>
                  <a:latin typeface="Consolas"/>
                  <a:ea typeface="Consolas"/>
                </a:rPr>
                <a:t> </a:t>
              </a:r>
              <a:r>
                <a:rPr lang="en-US" altLang="zh-CN" sz="1600" dirty="0">
                  <a:solidFill>
                    <a:srgbClr val="1E1E1E"/>
                  </a:solidFill>
                  <a:latin typeface="Consolas"/>
                  <a:ea typeface="Consolas"/>
                </a:rPr>
                <a:t>FD 08 CS</a:t>
              </a:r>
            </a:p>
            <a:p>
              <a:pPr algn="l">
                <a:lnSpc>
                  <a:spcPct val="100000"/>
                </a:lnSpc>
                <a:spcBef>
                  <a:spcPts val="6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rgbClr val="006C39"/>
                  </a:solidFill>
                  <a:latin typeface="微软雅黑"/>
                  <a:ea typeface="微软雅黑"/>
                </a:rPr>
                <a:t>帧头 电机ID 长度4 错误0 lo hi  </a:t>
              </a:r>
              <a:r>
                <a:rPr lang="zh-CN" altLang="en-US" sz="1600" dirty="0">
                  <a:solidFill>
                    <a:srgbClr val="006C39"/>
                  </a:solidFill>
                  <a:latin typeface="微软雅黑"/>
                  <a:ea typeface="微软雅黑"/>
                </a:rPr>
                <a:t>校验</a:t>
              </a:r>
              <a:endParaRPr lang="zh-CN" altLang="en-US" sz="1400" dirty="0">
                <a:solidFill>
                  <a:srgbClr val="006C39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039" name="B5039"/>
            <p:cNvSpPr/>
            <p:nvPr/>
          </p:nvSpPr>
          <p:spPr>
            <a:xfrm>
              <a:off x="1879600" y="5219700"/>
              <a:ext cx="1651000" cy="838200"/>
            </a:xfrm>
            <a:prstGeom prst="roundRect">
              <a:avLst>
                <a:gd name="adj" fmla="val 4000"/>
              </a:avLst>
            </a:prstGeom>
            <a:solidFill>
              <a:srgbClr val="F0F7F0"/>
            </a:solidFill>
            <a:ln w="9525">
              <a:solidFill>
                <a:srgbClr val="5AA87A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5C2E"/>
                  </a:solidFill>
                  <a:latin typeface="Consolas"/>
                  <a:ea typeface="微软雅黑"/>
                </a:rPr>
                <a:t>③ getData()×6</a:t>
              </a:r>
            </a:p>
            <a:p>
              <a:pPr>
                <a:spcBef>
                  <a:spcPts val="100"/>
                </a:spcBef>
              </a:pPr>
              <a:endParaRPr lang="zh-CN" sz="300" dirty="0"/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300" dirty="0">
                  <a:solidFill>
                    <a:srgbClr val="606060"/>
                  </a:solidFill>
                  <a:latin typeface="微软雅黑"/>
                  <a:ea typeface="微软雅黑"/>
                </a:rPr>
                <a:t>从回包拼出16位位置值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006C39"/>
                  </a:solidFill>
                  <a:latin typeface="微软雅黑"/>
                  <a:ea typeface="微软雅黑"/>
                </a:rPr>
                <a:t>→ {1:2301,…,6:3500}</a:t>
              </a:r>
            </a:p>
          </p:txBody>
        </p:sp>
        <p:cxnSp>
          <p:nvCxnSpPr>
            <p:cNvPr id="5040" name="C5040"/>
            <p:cNvCxnSpPr>
              <a:cxnSpLocks/>
              <a:stCxn id="5019" idx="2"/>
              <a:endCxn id="5039" idx="0"/>
            </p:cNvCxnSpPr>
            <p:nvPr/>
          </p:nvCxnSpPr>
          <p:spPr>
            <a:xfrm>
              <a:off x="2705100" y="4963940"/>
              <a:ext cx="0" cy="25576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sp>
          <p:nvSpPr>
            <p:cNvPr id="5041" name="B5041"/>
            <p:cNvSpPr/>
            <p:nvPr/>
          </p:nvSpPr>
          <p:spPr>
            <a:xfrm>
              <a:off x="3683000" y="5219700"/>
              <a:ext cx="1879600" cy="8382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6350">
              <a:solidFill>
                <a:srgbClr val="B0B0B0"/>
              </a:solidFill>
            </a:ln>
          </p:spPr>
          <p:txBody>
            <a:bodyPr wrap="square" lIns="72000" tIns="36000" rIns="72000" bIns="3600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300" b="1" dirty="0">
                  <a:solidFill>
                    <a:srgbClr val="1E1E1E"/>
                  </a:solidFill>
                  <a:latin typeface="Consolas"/>
                  <a:ea typeface="微软雅黑"/>
                </a:rPr>
                <a:t>getData(id,56,2)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低字节+高字节拼16位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3A3A3A"/>
                  </a:solidFill>
                  <a:latin typeface="微软雅黑"/>
                  <a:ea typeface="微软雅黑"/>
                </a:rPr>
                <a:t>SCS_MAKEWORD(lo,hi)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rgbClr val="006C39"/>
                  </a:solidFill>
                  <a:latin typeface="微软雅黑"/>
                  <a:ea typeface="微软雅黑"/>
                </a:rPr>
                <a:t>→ 16-bit 位置整数</a:t>
              </a:r>
            </a:p>
          </p:txBody>
        </p:sp>
        <p:cxnSp>
          <p:nvCxnSpPr>
            <p:cNvPr id="5042" name="C5042"/>
            <p:cNvCxnSpPr/>
            <p:nvPr/>
          </p:nvCxnSpPr>
          <p:spPr>
            <a:xfrm>
              <a:off x="3530600" y="5638800"/>
              <a:ext cx="152400" cy="0"/>
            </a:xfrm>
            <a:prstGeom prst="line">
              <a:avLst/>
            </a:prstGeom>
            <a:ln w="12700">
              <a:solidFill>
                <a:srgbClr val="6B6B6B"/>
              </a:solidFill>
              <a:tailEnd type="arrow" w="sm" len="sm"/>
            </a:ln>
          </p:spPr>
        </p:cxnSp>
        <p:cxnSp>
          <p:nvCxnSpPr>
            <p:cNvPr id="4" name="直线箭头连接符 3">
              <a:extLst>
                <a:ext uri="{FF2B5EF4-FFF2-40B4-BE49-F238E27FC236}">
                  <a16:creationId xmlns:a16="http://schemas.microsoft.com/office/drawing/2014/main" id="{C5246685-818F-DE6A-61A0-1AC65881D1FA}"/>
                </a:ext>
              </a:extLst>
            </p:cNvPr>
            <p:cNvCxnSpPr>
              <a:cxnSpLocks/>
              <a:stCxn id="5017" idx="3"/>
              <a:endCxn id="5037" idx="1"/>
            </p:cNvCxnSpPr>
            <p:nvPr/>
          </p:nvCxnSpPr>
          <p:spPr>
            <a:xfrm flipV="1">
              <a:off x="5562600" y="2173762"/>
              <a:ext cx="321128" cy="3716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箭头连接符 5">
              <a:extLst>
                <a:ext uri="{FF2B5EF4-FFF2-40B4-BE49-F238E27FC236}">
                  <a16:creationId xmlns:a16="http://schemas.microsoft.com/office/drawing/2014/main" id="{C2D5E40B-0F17-A101-52F8-75B24EE6BD2C}"/>
                </a:ext>
              </a:extLst>
            </p:cNvPr>
            <p:cNvCxnSpPr>
              <a:cxnSpLocks/>
              <a:stCxn id="5037" idx="2"/>
              <a:endCxn id="5023" idx="0"/>
            </p:cNvCxnSpPr>
            <p:nvPr/>
          </p:nvCxnSpPr>
          <p:spPr>
            <a:xfrm flipH="1">
              <a:off x="6718300" y="2656362"/>
              <a:ext cx="2003879" cy="2646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A2F8B3C6-CFEC-D9EB-3D35-EA79ABA20A2D}"/>
                </a:ext>
              </a:extLst>
            </p:cNvPr>
            <p:cNvCxnSpPr>
              <a:cxnSpLocks/>
              <a:stCxn id="5031" idx="2"/>
              <a:endCxn id="5038" idx="0"/>
            </p:cNvCxnSpPr>
            <p:nvPr/>
          </p:nvCxnSpPr>
          <p:spPr>
            <a:xfrm>
              <a:off x="6718300" y="4963936"/>
              <a:ext cx="1573893" cy="214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18F4A917-4718-0C87-8292-573F71668C79}"/>
                </a:ext>
              </a:extLst>
            </p:cNvPr>
            <p:cNvCxnSpPr>
              <a:cxnSpLocks/>
              <a:stCxn id="5038" idx="1"/>
              <a:endCxn id="5041" idx="3"/>
            </p:cNvCxnSpPr>
            <p:nvPr/>
          </p:nvCxnSpPr>
          <p:spPr>
            <a:xfrm flipH="1" flipV="1">
              <a:off x="5562600" y="5638800"/>
              <a:ext cx="160564" cy="31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DD06871B-1BEA-D174-822A-1C0F196B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读链路调用链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D088C0-44C7-DE8D-3B28-47F1359F2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62493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BE45CD68-ADA8-4B14-FDBE-CCC299F6D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91B5A0-B60E-BFB1-D807-D98B5D4C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Writeport</a:t>
            </a:r>
            <a:r>
              <a:rPr lang="zh-CN" altLang="en-US" dirty="0"/>
              <a:t>到内核</a:t>
            </a:r>
            <a:endParaRPr kumimoji="1" lang="zh-CN" altLang="en-US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18248726-4B60-234A-6ABE-1F54C1D1B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72047"/>
            <a:ext cx="11892258" cy="19569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A285C0B-D182-E9DE-F21F-1F26171165DB}"/>
              </a:ext>
            </a:extLst>
          </p:cNvPr>
          <p:cNvSpPr txBox="1"/>
          <p:nvPr/>
        </p:nvSpPr>
        <p:spPr>
          <a:xfrm>
            <a:off x="1718441" y="1277007"/>
            <a:ext cx="2355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舵机设备：</a:t>
            </a:r>
            <a:r>
              <a:rPr lang="en-US" altLang="zh-CN" sz="1400" dirty="0"/>
              <a:t>/dev/ttyACM0 </a:t>
            </a:r>
            <a:endParaRPr kumimoji="1"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D76D5C-5D20-4888-A840-2CB9D578FF1B}"/>
              </a:ext>
            </a:extLst>
          </p:cNvPr>
          <p:cNvSpPr txBox="1"/>
          <p:nvPr/>
        </p:nvSpPr>
        <p:spPr>
          <a:xfrm>
            <a:off x="2617075" y="93780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device</a:t>
            </a:r>
            <a:endParaRPr kumimoji="1"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65D9B7-B320-18A2-1220-91B2A49C3C4E}"/>
              </a:ext>
            </a:extLst>
          </p:cNvPr>
          <p:cNvSpPr txBox="1"/>
          <p:nvPr/>
        </p:nvSpPr>
        <p:spPr>
          <a:xfrm>
            <a:off x="3206156" y="2807107"/>
            <a:ext cx="269817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TTY</a:t>
            </a:r>
            <a:r>
              <a:rPr lang="en-US" altLang="zh-CN" sz="1400" b="0" i="1" dirty="0">
                <a:solidFill>
                  <a:srgbClr val="191B1F"/>
                </a:solidFill>
                <a:effectLst/>
                <a:latin typeface="-apple-system"/>
              </a:rPr>
              <a:t> Teletypewriter</a:t>
            </a:r>
            <a:endParaRPr lang="en-US" altLang="zh-CN" sz="1400" b="1" dirty="0"/>
          </a:p>
          <a:p>
            <a:r>
              <a:rPr lang="zh-CN" altLang="en-US" sz="1400" dirty="0"/>
              <a:t>终端</a:t>
            </a:r>
            <a:r>
              <a:rPr lang="zh-CN" altLang="en-US" sz="1400" b="1" dirty="0"/>
              <a:t>字符设备</a:t>
            </a:r>
            <a:endParaRPr lang="en-US" altLang="zh-CN" sz="1400" b="1" dirty="0"/>
          </a:p>
          <a:p>
            <a:r>
              <a:rPr lang="en-US" altLang="zh-CN" sz="1400" dirty="0"/>
              <a:t>N_TTY</a:t>
            </a:r>
            <a:r>
              <a:rPr lang="zh-CN" altLang="en-US" sz="1400" dirty="0"/>
              <a:t>管理行规程</a:t>
            </a:r>
            <a:endParaRPr kumimoji="1" lang="zh-CN" altLang="en-US" sz="1400" dirty="0"/>
          </a:p>
          <a:p>
            <a:r>
              <a:rPr lang="en-US" altLang="zh-CN" sz="1400" dirty="0"/>
              <a:t>Raw</a:t>
            </a:r>
            <a:r>
              <a:rPr lang="zh-CN" altLang="en-US" sz="1400" dirty="0"/>
              <a:t>格式啥都不做，只转发</a:t>
            </a:r>
            <a:endParaRPr kumimoji="1" lang="zh-CN" altLang="en-US" sz="1400" dirty="0"/>
          </a:p>
          <a:p>
            <a:r>
              <a:rPr lang="en-US" altLang="zh-CN" sz="1400" b="1" dirty="0" err="1">
                <a:solidFill>
                  <a:srgbClr val="333333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copy_from_iter</a:t>
            </a:r>
            <a:r>
              <a:rPr lang="en-US" altLang="zh-CN" sz="1400" b="1" dirty="0">
                <a:solidFill>
                  <a:srgbClr val="333333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()</a:t>
            </a:r>
          </a:p>
          <a:p>
            <a:r>
              <a:rPr lang="zh-CN" altLang="en-US" sz="1400" b="1" dirty="0">
                <a:solidFill>
                  <a:srgbClr val="333333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从用户态复制内存到内核缓冲区</a:t>
            </a:r>
            <a:endParaRPr lang="zh-CN" altLang="en-US" sz="1400" dirty="0">
              <a:highlight>
                <a:srgbClr val="FFFF00"/>
              </a:highlight>
            </a:endParaRPr>
          </a:p>
          <a:p>
            <a:endParaRPr kumimoji="1"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9FA22E-6A0B-945A-2969-09FB0F1EDDAA}"/>
              </a:ext>
            </a:extLst>
          </p:cNvPr>
          <p:cNvSpPr txBox="1"/>
          <p:nvPr/>
        </p:nvSpPr>
        <p:spPr>
          <a:xfrm>
            <a:off x="1764175" y="287500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虚拟文件系统</a:t>
            </a:r>
            <a:endParaRPr kumimoji="1" lang="en-US" altLang="zh-CN" sz="1400" dirty="0"/>
          </a:p>
          <a:p>
            <a:r>
              <a:rPr kumimoji="1" lang="zh-CN" altLang="en-US" sz="1400" dirty="0"/>
              <a:t>通用写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ABFF27-FD36-1625-DCDA-E2190F886CE1}"/>
              </a:ext>
            </a:extLst>
          </p:cNvPr>
          <p:cNvSpPr txBox="1"/>
          <p:nvPr/>
        </p:nvSpPr>
        <p:spPr>
          <a:xfrm>
            <a:off x="4586058" y="4273338"/>
            <a:ext cx="471308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Communication Device Class-</a:t>
            </a:r>
          </a:p>
          <a:p>
            <a:r>
              <a:rPr lang="en-US" altLang="zh-CN" sz="1400" b="1" dirty="0"/>
              <a:t>Abstract Control Model</a:t>
            </a:r>
          </a:p>
          <a:p>
            <a:r>
              <a:rPr lang="zh-CN" altLang="en-US" sz="1400" dirty="0"/>
              <a:t>通信设备类</a:t>
            </a:r>
            <a:r>
              <a:rPr lang="en-US" altLang="zh-CN" sz="1400" dirty="0"/>
              <a:t>-</a:t>
            </a:r>
            <a:r>
              <a:rPr lang="zh-CN" altLang="en-US" sz="1400" dirty="0"/>
              <a:t>抽象控制模型</a:t>
            </a:r>
            <a:endParaRPr lang="en-US" altLang="zh-CN" sz="1400" dirty="0"/>
          </a:p>
          <a:p>
            <a:r>
              <a:rPr lang="zh-CN" altLang="en-US" sz="1400" b="1" dirty="0"/>
              <a:t>物理接口是 </a:t>
            </a:r>
            <a:r>
              <a:rPr lang="en-US" altLang="zh-CN" sz="1400" b="1" dirty="0"/>
              <a:t>USB</a:t>
            </a:r>
            <a:r>
              <a:rPr lang="zh-CN" altLang="en-US" sz="1400" b="1" dirty="0"/>
              <a:t>，</a:t>
            </a:r>
            <a:endParaRPr lang="en-US" altLang="zh-CN" sz="1400" b="1" dirty="0"/>
          </a:p>
          <a:p>
            <a:r>
              <a:rPr lang="zh-CN" altLang="en-US" sz="1400" b="1" dirty="0"/>
              <a:t>但对操作系统伪装成传统串口</a:t>
            </a:r>
            <a:endParaRPr lang="en-US" altLang="zh-CN" sz="1400" b="1" dirty="0"/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把 </a:t>
            </a:r>
            <a:r>
              <a:rPr lang="en-US" altLang="zh-CN" sz="1400" dirty="0"/>
              <a:t>TTY </a:t>
            </a:r>
            <a:r>
              <a:rPr lang="zh-CN" altLang="en-US" sz="1400" dirty="0"/>
              <a:t>传来的字节复制（</a:t>
            </a:r>
            <a:r>
              <a:rPr lang="en-US" altLang="zh-CN" sz="1400" dirty="0" err="1">
                <a:highlight>
                  <a:srgbClr val="FFFF00"/>
                </a:highlight>
              </a:rPr>
              <a:t>memcpy</a:t>
            </a:r>
            <a:r>
              <a:rPr lang="zh-CN" altLang="en-US" sz="1400" dirty="0"/>
              <a:t>）到 </a:t>
            </a:r>
            <a:r>
              <a:rPr lang="en-US" altLang="zh-CN" sz="1400" dirty="0"/>
              <a:t>USB </a:t>
            </a:r>
            <a:r>
              <a:rPr lang="zh-CN" altLang="en-US" sz="1400" dirty="0"/>
              <a:t>写缓冲，</a:t>
            </a:r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封装成 </a:t>
            </a:r>
            <a:r>
              <a:rPr lang="en-US" altLang="zh-CN" sz="1400" dirty="0"/>
              <a:t>bulk OUT URB</a:t>
            </a:r>
            <a:r>
              <a:rPr lang="zh-CN" altLang="en-US" sz="1400" b="1" dirty="0"/>
              <a:t>（</a:t>
            </a:r>
            <a:r>
              <a:rPr lang="en-US" altLang="zh-CN" sz="1400" dirty="0"/>
              <a:t>USB Request Block</a:t>
            </a:r>
            <a:r>
              <a:rPr lang="zh-CN" altLang="en-US" sz="1400" b="1" dirty="0"/>
              <a:t>）</a:t>
            </a:r>
            <a:endParaRPr lang="zh-CN" altLang="en-US" sz="1400" dirty="0"/>
          </a:p>
          <a:p>
            <a:r>
              <a:rPr lang="en-US" altLang="zh-CN" sz="1400" dirty="0"/>
              <a:t>3.</a:t>
            </a:r>
            <a:r>
              <a:rPr lang="zh-CN" altLang="en-US" sz="1400" dirty="0"/>
              <a:t>提交给 </a:t>
            </a:r>
            <a:r>
              <a:rPr lang="en-US" altLang="zh-CN" sz="1400" dirty="0"/>
              <a:t>USB Core</a:t>
            </a:r>
            <a:endParaRPr kumimoji="1"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9B7195-9C31-13EB-90CF-C9CD5F879AB6}"/>
              </a:ext>
            </a:extLst>
          </p:cNvPr>
          <p:cNvSpPr txBox="1"/>
          <p:nvPr/>
        </p:nvSpPr>
        <p:spPr>
          <a:xfrm>
            <a:off x="6539991" y="2807107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/>
              <a:t>usb_submit_urb</a:t>
            </a:r>
            <a:endParaRPr lang="en-US" altLang="zh-CN" sz="1400" dirty="0"/>
          </a:p>
          <a:p>
            <a:r>
              <a:rPr lang="zh-CN" altLang="en-US" sz="1400" dirty="0"/>
              <a:t>处理 </a:t>
            </a:r>
            <a:r>
              <a:rPr lang="en-US" altLang="zh-CN" sz="1400" dirty="0"/>
              <a:t>DMA </a:t>
            </a:r>
            <a:r>
              <a:rPr lang="zh-CN" altLang="en-US" sz="1400" dirty="0"/>
              <a:t>映射准备</a:t>
            </a:r>
            <a:endParaRPr lang="en-US" altLang="zh-CN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F132DD-7B1F-7254-8FE2-0073CA677F90}"/>
              </a:ext>
            </a:extLst>
          </p:cNvPr>
          <p:cNvSpPr txBox="1"/>
          <p:nvPr/>
        </p:nvSpPr>
        <p:spPr>
          <a:xfrm>
            <a:off x="8590152" y="2956291"/>
            <a:ext cx="2783134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现代 </a:t>
            </a:r>
            <a:r>
              <a:rPr lang="en-US" altLang="zh-CN" sz="1400" b="1" dirty="0"/>
              <a:t>USB </a:t>
            </a:r>
            <a:r>
              <a:rPr lang="zh-CN" altLang="en-US" sz="1400" b="1" dirty="0"/>
              <a:t>主机控制器标准</a:t>
            </a:r>
          </a:p>
          <a:p>
            <a:r>
              <a:rPr lang="zh-CN" altLang="en-US" sz="1400" dirty="0"/>
              <a:t>和</a:t>
            </a:r>
            <a:r>
              <a:rPr lang="en-US" altLang="zh-CN" sz="1400" dirty="0" err="1"/>
              <a:t>xHCI</a:t>
            </a:r>
            <a:r>
              <a:rPr lang="zh-CN" altLang="en-US" sz="1400" dirty="0"/>
              <a:t>并列的有不少。。 </a:t>
            </a:r>
            <a:endParaRPr lang="en-US" altLang="zh-CN" sz="1400" b="1" dirty="0"/>
          </a:p>
          <a:p>
            <a:r>
              <a:rPr lang="en-US" altLang="zh-CN" sz="1400" b="1" dirty="0"/>
              <a:t>1.</a:t>
            </a:r>
            <a:r>
              <a:rPr lang="zh-CN" altLang="en-US" sz="1400" dirty="0"/>
              <a:t>把 </a:t>
            </a:r>
            <a:r>
              <a:rPr lang="en-US" altLang="zh-CN" sz="1400" dirty="0"/>
              <a:t>URB </a:t>
            </a:r>
            <a:r>
              <a:rPr lang="zh-CN" altLang="en-US" sz="1400" dirty="0"/>
              <a:t>拆成 </a:t>
            </a:r>
            <a:r>
              <a:rPr lang="en-US" altLang="zh-CN" sz="1400" dirty="0"/>
              <a:t>TRB</a:t>
            </a:r>
          </a:p>
          <a:p>
            <a:r>
              <a:rPr lang="zh-CN" altLang="en-US" sz="1400" b="1" dirty="0"/>
              <a:t>（</a:t>
            </a:r>
            <a:r>
              <a:rPr lang="en-US" altLang="zh-CN" sz="1400" dirty="0"/>
              <a:t>Transfer Request Block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r>
              <a:rPr lang="zh-CN" altLang="en-US" sz="1400" b="1" dirty="0">
                <a:highlight>
                  <a:srgbClr val="FFFF00"/>
                </a:highlight>
              </a:rPr>
              <a:t>写到</a:t>
            </a:r>
            <a:r>
              <a:rPr lang="en-US" altLang="zh-CN" sz="1400" b="1" dirty="0">
                <a:highlight>
                  <a:srgbClr val="FFFF00"/>
                </a:highlight>
              </a:rPr>
              <a:t>TRB </a:t>
            </a:r>
            <a:r>
              <a:rPr lang="zh-CN" altLang="en-US" sz="1400" b="1" dirty="0">
                <a:highlight>
                  <a:srgbClr val="FFFF00"/>
                </a:highlight>
              </a:rPr>
              <a:t>写到 </a:t>
            </a:r>
            <a:r>
              <a:rPr lang="en-US" altLang="zh-CN" sz="1400" b="1" dirty="0">
                <a:highlight>
                  <a:srgbClr val="FFFF00"/>
                </a:highlight>
              </a:rPr>
              <a:t>DMA </a:t>
            </a:r>
            <a:r>
              <a:rPr lang="zh-CN" altLang="en-US" sz="1400" b="1" dirty="0">
                <a:highlight>
                  <a:srgbClr val="FFFF00"/>
                </a:highlight>
              </a:rPr>
              <a:t>可访问的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r>
              <a:rPr lang="zh-CN" altLang="en-US" sz="1400" b="1" dirty="0">
                <a:highlight>
                  <a:srgbClr val="FFFF00"/>
                </a:highlight>
              </a:rPr>
              <a:t> </a:t>
            </a:r>
            <a:r>
              <a:rPr lang="en-US" altLang="zh-CN" sz="1400" b="1" dirty="0">
                <a:highlight>
                  <a:srgbClr val="FFFF00"/>
                </a:highlight>
              </a:rPr>
              <a:t>transfer ring </a:t>
            </a:r>
            <a:r>
              <a:rPr lang="zh-CN" altLang="en-US" sz="1400" b="1" dirty="0">
                <a:highlight>
                  <a:srgbClr val="FFFF00"/>
                </a:highlight>
              </a:rPr>
              <a:t>内存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r>
              <a:rPr lang="en-US" altLang="zh-CN" sz="1400" b="1" dirty="0"/>
              <a:t>2.</a:t>
            </a:r>
            <a:r>
              <a:rPr lang="zh-CN" altLang="en-US" sz="1400" dirty="0"/>
              <a:t>敲 </a:t>
            </a:r>
            <a:r>
              <a:rPr lang="en-US" altLang="zh-CN" sz="1400" dirty="0"/>
              <a:t>doorbell </a:t>
            </a:r>
            <a:r>
              <a:rPr lang="zh-CN" altLang="en-US" sz="1400" dirty="0"/>
              <a:t>通知硬件</a:t>
            </a:r>
            <a:endParaRPr lang="en-US" altLang="zh-CN" sz="1400" b="1" dirty="0"/>
          </a:p>
          <a:p>
            <a:r>
              <a:rPr kumimoji="1" lang="zh-CN" altLang="en-US" sz="1400" dirty="0"/>
              <a:t>（</a:t>
            </a:r>
            <a:r>
              <a:rPr kumimoji="1" lang="zh-CN" altLang="en-US" sz="1400" dirty="0">
                <a:highlight>
                  <a:srgbClr val="FFFF00"/>
                </a:highlight>
              </a:rPr>
              <a:t>写 </a:t>
            </a:r>
            <a:r>
              <a:rPr kumimoji="1" lang="en-US" altLang="zh-CN" sz="1400" dirty="0" err="1">
                <a:highlight>
                  <a:srgbClr val="FFFF00"/>
                </a:highlight>
              </a:rPr>
              <a:t>xHCI</a:t>
            </a:r>
            <a:r>
              <a:rPr kumimoji="1" lang="en-US" altLang="zh-CN" sz="1400" dirty="0">
                <a:highlight>
                  <a:srgbClr val="FFFF00"/>
                </a:highlight>
              </a:rPr>
              <a:t> </a:t>
            </a:r>
            <a:r>
              <a:rPr kumimoji="1" lang="zh-CN" altLang="en-US" sz="1400" dirty="0">
                <a:highlight>
                  <a:srgbClr val="FFFF00"/>
                </a:highlight>
              </a:rPr>
              <a:t>的 </a:t>
            </a:r>
            <a:r>
              <a:rPr kumimoji="1" lang="en-US" altLang="zh-CN" sz="1400" dirty="0">
                <a:highlight>
                  <a:srgbClr val="FFFF00"/>
                </a:highlight>
              </a:rPr>
              <a:t>doorbell </a:t>
            </a:r>
            <a:r>
              <a:rPr kumimoji="1" lang="zh-CN" altLang="en-US" sz="1400" dirty="0">
                <a:highlight>
                  <a:srgbClr val="FFFF00"/>
                </a:highlight>
              </a:rPr>
              <a:t>寄存器，</a:t>
            </a:r>
            <a:endParaRPr kumimoji="1" lang="en-US" altLang="zh-CN" sz="1400" dirty="0">
              <a:highlight>
                <a:srgbClr val="FFFF00"/>
              </a:highlight>
            </a:endParaRPr>
          </a:p>
          <a:p>
            <a:r>
              <a:rPr kumimoji="1" lang="zh-CN" altLang="en-US" sz="1400" dirty="0">
                <a:highlight>
                  <a:srgbClr val="FFFF00"/>
                </a:highlight>
              </a:rPr>
              <a:t>在</a:t>
            </a:r>
            <a:r>
              <a:rPr kumimoji="1" lang="en-US" altLang="zh-CN" sz="1400" dirty="0">
                <a:highlight>
                  <a:srgbClr val="FFFF00"/>
                </a:highlight>
              </a:rPr>
              <a:t>SOC</a:t>
            </a:r>
            <a:r>
              <a:rPr kumimoji="1" lang="zh-CN" altLang="en-US" sz="1400" dirty="0">
                <a:highlight>
                  <a:srgbClr val="FFFF00"/>
                </a:highlight>
              </a:rPr>
              <a:t>的</a:t>
            </a:r>
            <a:r>
              <a:rPr kumimoji="1" lang="en-US" altLang="zh-CN" sz="1400" dirty="0">
                <a:highlight>
                  <a:srgbClr val="FFFF00"/>
                </a:highlight>
              </a:rPr>
              <a:t>USB</a:t>
            </a:r>
            <a:r>
              <a:rPr kumimoji="1" lang="zh-CN" altLang="en-US" sz="1400" dirty="0">
                <a:highlight>
                  <a:srgbClr val="FFFF00"/>
                </a:highlight>
              </a:rPr>
              <a:t>控制器里</a:t>
            </a:r>
            <a:r>
              <a:rPr kumimoji="1" lang="zh-CN" altLang="en-US" sz="1400" dirty="0"/>
              <a:t>）</a:t>
            </a:r>
            <a:endParaRPr kumimoji="1" lang="en-US" altLang="zh-CN" sz="1400" dirty="0"/>
          </a:p>
          <a:p>
            <a:r>
              <a:rPr kumimoji="1" lang="zh-CN" altLang="en-US" sz="1400" dirty="0"/>
              <a:t>这一步之后，这次调用就完了，</a:t>
            </a:r>
            <a:endParaRPr kumimoji="1" lang="en-US" altLang="zh-CN" sz="1400" dirty="0"/>
          </a:p>
          <a:p>
            <a:r>
              <a:rPr kumimoji="1" lang="zh-CN" altLang="en-US" sz="1400" dirty="0"/>
              <a:t>后续</a:t>
            </a:r>
            <a:r>
              <a:rPr kumimoji="1" lang="en-US" altLang="zh-CN" sz="1400" dirty="0"/>
              <a:t>USB</a:t>
            </a:r>
            <a:r>
              <a:rPr kumimoji="1" lang="zh-CN" altLang="en-US" sz="1400" dirty="0"/>
              <a:t>控制器会控制读写</a:t>
            </a:r>
            <a:endParaRPr kumimoji="1" lang="en-US" altLang="zh-CN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8F969-BA58-E76D-9E16-16652CF72153}"/>
              </a:ext>
            </a:extLst>
          </p:cNvPr>
          <p:cNvSpPr txBox="1"/>
          <p:nvPr/>
        </p:nvSpPr>
        <p:spPr>
          <a:xfrm>
            <a:off x="430924" y="581222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读也差不多</a:t>
            </a:r>
          </a:p>
        </p:txBody>
      </p:sp>
    </p:spTree>
    <p:extLst>
      <p:ext uri="{BB962C8B-B14F-4D97-AF65-F5344CB8AC3E}">
        <p14:creationId xmlns:p14="http://schemas.microsoft.com/office/powerpoint/2010/main" val="124889822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54786-7E3C-7629-C357-BDE3B7C4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7CEEFE3-176F-5043-9CF5-9C0C8F12A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AAFE51E-C7F4-E20F-6728-86C39D02F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异步推理示意图</a:t>
            </a:r>
            <a:r>
              <a:rPr lang="en-US" altLang="zh-CN" dirty="0"/>
              <a:t>——</a:t>
            </a:r>
            <a:r>
              <a:rPr lang="zh-CN" altLang="en-US" dirty="0"/>
              <a:t>三种情况</a:t>
            </a:r>
            <a:r>
              <a:rPr lang="en-US" altLang="zh-CN" dirty="0"/>
              <a:t>A</a:t>
            </a:r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54B0A30-9D99-F486-E5BB-3C8C68887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51" y="881223"/>
            <a:ext cx="10646979" cy="528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3622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52B90-D153-AC24-1284-DC862FE5C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DF88C5B8-B58B-932B-E13B-95EA9FBA5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158427-9718-DA97-B1E5-D53D5313B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异步推理示意图</a:t>
            </a:r>
            <a:r>
              <a:rPr lang="en-US" altLang="zh-CN" dirty="0"/>
              <a:t>——</a:t>
            </a:r>
            <a:r>
              <a:rPr lang="zh-CN" altLang="en-US" dirty="0"/>
              <a:t>三种情况</a:t>
            </a:r>
            <a:r>
              <a:rPr lang="en-US" altLang="zh-CN" dirty="0"/>
              <a:t>B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6859CB-B9CB-7C38-4322-8AF8C8500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52" y="1054234"/>
            <a:ext cx="10415751" cy="474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9322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E64D-0104-B310-B753-E4C66F6C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A6E769C-7458-85C0-B7CA-3F6C4CDBD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916085F-52A7-D597-6581-2F6AEE65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异步推理示意图</a:t>
            </a:r>
            <a:r>
              <a:rPr lang="en-US" altLang="zh-CN" dirty="0"/>
              <a:t>——</a:t>
            </a:r>
            <a:r>
              <a:rPr lang="zh-CN" altLang="en-US" dirty="0"/>
              <a:t>三种情况</a:t>
            </a:r>
            <a:r>
              <a:rPr lang="en-US" altLang="zh-CN" dirty="0"/>
              <a:t>C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C21844-6384-45DB-DB7A-0415105D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17" y="1025899"/>
            <a:ext cx="11151476" cy="503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32089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6B3B-9D36-6F37-B3ED-A95EADE3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402AF98D-B627-D882-15A1-FD678BE8F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08A6BBA-141B-0ECA-C943-21DF438D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kumimoji="1" lang="zh-CN" altLang="en-US" dirty="0"/>
              <a:t>那么需要找到甜点位置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EB7FFD-3153-15E4-86ED-F7CF2F313480}"/>
              </a:ext>
            </a:extLst>
          </p:cNvPr>
          <p:cNvSpPr txBox="1"/>
          <p:nvPr/>
        </p:nvSpPr>
        <p:spPr>
          <a:xfrm>
            <a:off x="462456" y="1341382"/>
            <a:ext cx="38186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要求：</a:t>
            </a:r>
            <a:endParaRPr kumimoji="1" lang="en-US" altLang="zh-CN" dirty="0"/>
          </a:p>
          <a:p>
            <a:r>
              <a:rPr kumimoji="1" lang="en-US" altLang="zh-CN" dirty="0"/>
              <a:t>FPS</a:t>
            </a:r>
            <a:r>
              <a:rPr kumimoji="1" lang="zh-CN" altLang="en-US" dirty="0"/>
              <a:t>尽量高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动作平滑</a:t>
            </a:r>
            <a:endParaRPr kumimoji="1" lang="en-US" altLang="zh-CN" dirty="0"/>
          </a:p>
          <a:p>
            <a:r>
              <a:rPr kumimoji="1" lang="zh-CN" altLang="en-US" dirty="0"/>
              <a:t>不能丢弃太多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动作不要跳变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0.3</a:t>
            </a:r>
            <a:r>
              <a:rPr kumimoji="1" lang="zh-CN" altLang="en-US" dirty="0"/>
              <a:t>是一个比较合理的</a:t>
            </a:r>
            <a:endParaRPr kumimoji="1" lang="en-US" altLang="zh-CN" dirty="0"/>
          </a:p>
          <a:p>
            <a:r>
              <a:rPr kumimoji="1" lang="zh-CN" altLang="en-US" dirty="0"/>
              <a:t>帧率即本能能跑满</a:t>
            </a:r>
            <a:r>
              <a:rPr kumimoji="1" lang="en-US" altLang="zh-CN" dirty="0"/>
              <a:t>+</a:t>
            </a:r>
            <a:r>
              <a:rPr kumimoji="1" lang="zh-CN" altLang="en-US" dirty="0"/>
              <a:t>动作质量能保持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E3322A-04A6-38A6-D136-AC13B1A0CB22}"/>
              </a:ext>
            </a:extLst>
          </p:cNvPr>
          <p:cNvSpPr txBox="1"/>
          <p:nvPr/>
        </p:nvSpPr>
        <p:spPr>
          <a:xfrm>
            <a:off x="6537434" y="5303083"/>
            <a:ext cx="5500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右边这一段时。理论上都能达到</a:t>
            </a:r>
            <a:r>
              <a:rPr kumimoji="1" lang="en-US" altLang="zh-CN" dirty="0"/>
              <a:t>30FPS</a:t>
            </a:r>
          </a:p>
          <a:p>
            <a:r>
              <a:rPr kumimoji="1" lang="zh-CN" altLang="en-US" dirty="0"/>
              <a:t>但是</a:t>
            </a:r>
            <a:r>
              <a:rPr kumimoji="1" lang="en-US" altLang="zh-CN" dirty="0"/>
              <a:t>CPU</a:t>
            </a:r>
            <a:r>
              <a:rPr kumimoji="1" lang="zh-CN" altLang="en-US" b="1" dirty="0"/>
              <a:t>资源挣抢</a:t>
            </a:r>
            <a:r>
              <a:rPr kumimoji="1" lang="zh-CN" altLang="en-US" dirty="0"/>
              <a:t>，实际无法达到，而且动作质量差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EB5F7C-6D71-17FA-B157-FF7F64A090AA}"/>
              </a:ext>
            </a:extLst>
          </p:cNvPr>
          <p:cNvSpPr txBox="1"/>
          <p:nvPr/>
        </p:nvSpPr>
        <p:spPr>
          <a:xfrm>
            <a:off x="704193" y="5370786"/>
            <a:ext cx="4924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左边这一段时，随着更早进入下一</a:t>
            </a:r>
            <a:r>
              <a:rPr kumimoji="1" lang="en-US" altLang="zh-CN" dirty="0"/>
              <a:t>trunk</a:t>
            </a:r>
            <a:r>
              <a:rPr kumimoji="1" lang="zh-CN" altLang="en-US" dirty="0"/>
              <a:t>推理，</a:t>
            </a:r>
            <a:endParaRPr kumimoji="1" lang="en-US" altLang="zh-CN" dirty="0"/>
          </a:p>
          <a:p>
            <a:r>
              <a:rPr kumimoji="1" lang="zh-CN" altLang="en-US" dirty="0"/>
              <a:t>帧率会变得更高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96F33A5-46A1-D868-A287-BC06D7C67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50" y="4207147"/>
            <a:ext cx="3998917" cy="89206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2553255-3834-A643-7C3C-48657A04023D}"/>
              </a:ext>
            </a:extLst>
          </p:cNvPr>
          <p:cNvSpPr txBox="1"/>
          <p:nvPr/>
        </p:nvSpPr>
        <p:spPr>
          <a:xfrm>
            <a:off x="357352" y="3689778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理论</a:t>
            </a:r>
            <a:r>
              <a:rPr kumimoji="1" lang="en-US" altLang="zh-CN" dirty="0"/>
              <a:t>FPS</a:t>
            </a:r>
            <a:r>
              <a:rPr kumimoji="1" lang="zh-CN" altLang="en-US" dirty="0"/>
              <a:t>计算公式：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55A0BF-24F9-7698-CD60-4DE38D9ED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096021"/>
            <a:ext cx="7772400" cy="38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3940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1242</Words>
  <Application>Microsoft Macintosh PowerPoint</Application>
  <PresentationFormat>宽屏</PresentationFormat>
  <Paragraphs>222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-apple-system</vt:lpstr>
      <vt:lpstr>等线</vt:lpstr>
      <vt:lpstr>微软雅黑</vt:lpstr>
      <vt:lpstr>Arial</vt:lpstr>
      <vt:lpstr>Century Gothic</vt:lpstr>
      <vt:lpstr>Consolas</vt:lpstr>
      <vt:lpstr>Menlo</vt:lpstr>
      <vt:lpstr>内页​​</vt:lpstr>
      <vt:lpstr>PowerPoint 演示文稿</vt:lpstr>
      <vt:lpstr>写链路调用链</vt:lpstr>
      <vt:lpstr>读链路调用链</vt:lpstr>
      <vt:lpstr>Writeport到内核</vt:lpstr>
      <vt:lpstr>异步推理示意图——三种情况A</vt:lpstr>
      <vt:lpstr>异步推理示意图——三种情况B</vt:lpstr>
      <vt:lpstr>异步推理示意图——三种情况C</vt:lpstr>
      <vt:lpstr>那么需要找到甜点位置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Vel</dc:creator>
  <cp:lastModifiedBy>- Vel</cp:lastModifiedBy>
  <cp:revision>2</cp:revision>
  <dcterms:created xsi:type="dcterms:W3CDTF">2026-05-10T14:43:54Z</dcterms:created>
  <dcterms:modified xsi:type="dcterms:W3CDTF">2026-05-11T01:34:51Z</dcterms:modified>
</cp:coreProperties>
</file>