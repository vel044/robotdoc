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726" r:id="rId2"/>
    <p:sldId id="2727" r:id="rId3"/>
    <p:sldId id="2732" r:id="rId4"/>
    <p:sldId id="2737" r:id="rId5"/>
    <p:sldId id="2740" r:id="rId6"/>
    <p:sldId id="2752" r:id="rId7"/>
    <p:sldId id="2755" r:id="rId8"/>
    <p:sldId id="275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46"/>
    <p:restoredTop sz="94723"/>
  </p:normalViewPr>
  <p:slideViewPr>
    <p:cSldViewPr snapToGrid="0">
      <p:cViewPr varScale="1">
        <p:scale>
          <a:sx n="113" d="100"/>
          <a:sy n="113" d="100"/>
        </p:scale>
        <p:origin x="20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46C70-4B1A-0643-8694-D065FB45AB2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59004-85F7-EA49-B9AE-CE610543C4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19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78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09F88-49C4-67EB-D304-E8A8414F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29B749-4FB6-9468-61BC-459CC899A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45560B-0B22-B081-5402-11D0FD49C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543D2B-6854-88FB-517B-EAD5C6BEB7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631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A9B2-D308-9A12-24BB-83E358BBB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BCAC15-1DE9-9E84-0519-F6CE8BAFE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7B3552-FC1C-3A08-067D-872FE9B92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F86E9B-9258-1F9F-630F-6969C9C8F7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3453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E85A-07B2-159F-2916-EFE6F064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E7EBA2-E95C-209D-0149-2FB447E3B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79C331-60FC-3EE3-BD3F-C697E0428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1EF3BA-6FE2-2D9A-B9D5-447FB9045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39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17518696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0149516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741176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5072137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47705047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76987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45554244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59115404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1574429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86967150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3526634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98485856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8453091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82618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64565568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3279925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18704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60711035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76931331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23800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525862398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95487860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1915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E7E43F-3BEA-F949-8205-4D323C4104E3}"/>
              </a:ext>
            </a:extLst>
          </p:cNvPr>
          <p:cNvSpPr txBox="1"/>
          <p:nvPr/>
        </p:nvSpPr>
        <p:spPr>
          <a:xfrm>
            <a:off x="1606550" y="2540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/>
              <a:t>trunk_size=1-10 </a:t>
            </a:r>
            <a:r>
              <a:rPr lang="zh-CN" altLang="en-US" sz="2400" b="1"/>
              <a:t>执行失败原因分析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7AAA0D9-139A-5A4F-A60A-DC022149F1E2}"/>
              </a:ext>
            </a:extLst>
          </p:cNvPr>
          <p:cNvSpPr/>
          <p:nvPr/>
        </p:nvSpPr>
        <p:spPr>
          <a:xfrm>
            <a:off x="508000" y="1074821"/>
            <a:ext cx="5334000" cy="14651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r>
              <a:rPr lang="zh-CN" altLang="en-US" sz="2000" b="1" dirty="0">
                <a:solidFill>
                  <a:schemeClr val="tx1"/>
                </a:solidFill>
              </a:rPr>
              <a:t>原因 </a:t>
            </a:r>
            <a:r>
              <a:rPr lang="en-US" altLang="zh-CN" sz="2000" b="1" dirty="0">
                <a:solidFill>
                  <a:schemeClr val="tx1"/>
                </a:solidFill>
              </a:rPr>
              <a:t>A
</a:t>
            </a:r>
            <a:r>
              <a:rPr lang="zh-CN" alt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数据集</a:t>
            </a:r>
            <a:r>
              <a:rPr lang="zh-CN" altLang="en-US" sz="2000" dirty="0">
                <a:solidFill>
                  <a:schemeClr val="tx1"/>
                </a:solidFill>
              </a:rPr>
              <a:t>每个 </a:t>
            </a:r>
            <a:r>
              <a:rPr lang="en-US" altLang="zh-CN" sz="2000" dirty="0">
                <a:solidFill>
                  <a:schemeClr val="tx1"/>
                </a:solidFill>
              </a:rPr>
              <a:t>episode </a:t>
            </a:r>
            <a:r>
              <a:rPr lang="zh-CN" altLang="en-US" sz="2000" dirty="0">
                <a:solidFill>
                  <a:schemeClr val="tx1"/>
                </a:solidFill>
              </a:rPr>
              <a:t>都从复位姿态开始，重规划时模型倾向</a:t>
            </a:r>
            <a:r>
              <a:rPr lang="en-US" altLang="zh-CN" sz="2000" dirty="0">
                <a:solidFill>
                  <a:schemeClr val="tx1"/>
                </a:solidFill>
              </a:rPr>
              <a:t>"</a:t>
            </a:r>
            <a:r>
              <a:rPr lang="zh-CN" altLang="en-US" sz="2000" dirty="0">
                <a:solidFill>
                  <a:schemeClr val="tx1"/>
                </a:solidFill>
              </a:rPr>
              <a:t>先复位再运动</a:t>
            </a:r>
            <a:r>
              <a:rPr lang="en-US" altLang="zh-CN" sz="2000" dirty="0">
                <a:solidFill>
                  <a:schemeClr val="tx1"/>
                </a:solidFill>
              </a:rPr>
              <a:t>”</a:t>
            </a:r>
          </a:p>
          <a:p>
            <a:pPr algn="l"/>
            <a:r>
              <a:rPr lang="zh-CN" altLang="en-US" sz="2000" dirty="0">
                <a:solidFill>
                  <a:schemeClr val="tx1"/>
                </a:solidFill>
              </a:rPr>
              <a:t>（也许可以通过做更好更规范的数据集来解决）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3B374F7-3094-B34C-B266-9AE9DCD2E5B9}"/>
              </a:ext>
            </a:extLst>
          </p:cNvPr>
          <p:cNvSpPr/>
          <p:nvPr/>
        </p:nvSpPr>
        <p:spPr>
          <a:xfrm>
            <a:off x="6096000" y="1074821"/>
            <a:ext cx="5334000" cy="14651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r>
              <a:rPr lang="zh-CN" altLang="en-US" sz="2000" b="1" dirty="0">
                <a:solidFill>
                  <a:schemeClr val="tx1"/>
                </a:solidFill>
              </a:rPr>
              <a:t>原因 </a:t>
            </a:r>
            <a:r>
              <a:rPr lang="en-US" altLang="zh-CN" sz="2000" b="1" dirty="0">
                <a:solidFill>
                  <a:schemeClr val="tx1"/>
                </a:solidFill>
              </a:rPr>
              <a:t>B
</a:t>
            </a:r>
            <a:r>
              <a:rPr lang="en-US" altLang="zh-CN" sz="2000" dirty="0">
                <a:solidFill>
                  <a:schemeClr val="tx1"/>
                </a:solidFill>
              </a:rPr>
              <a:t>cs1 </a:t>
            </a:r>
            <a:r>
              <a:rPr lang="zh-CN" altLang="en-US" sz="2000" dirty="0">
                <a:solidFill>
                  <a:schemeClr val="tx1"/>
                </a:solidFill>
              </a:rPr>
              <a:t>训练时模型只能看未来 </a:t>
            </a:r>
            <a:r>
              <a:rPr lang="en-US" altLang="zh-CN" sz="2000" dirty="0">
                <a:solidFill>
                  <a:schemeClr val="tx1"/>
                </a:solidFill>
              </a:rPr>
              <a:t>1 </a:t>
            </a:r>
            <a:r>
              <a:rPr lang="zh-CN" altLang="en-US" sz="2000" dirty="0">
                <a:solidFill>
                  <a:schemeClr val="tx1"/>
                </a:solidFill>
              </a:rPr>
              <a:t>帧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dirty="0">
                <a:solidFill>
                  <a:schemeClr val="tx1"/>
                </a:solidFill>
              </a:rPr>
              <a:t>cs10</a:t>
            </a:r>
            <a:r>
              <a:rPr lang="zh-CN" altLang="en-US" sz="2000" dirty="0">
                <a:solidFill>
                  <a:schemeClr val="tx1"/>
                </a:solidFill>
              </a:rPr>
              <a:t>的时候只能看到未来</a:t>
            </a:r>
            <a:r>
              <a:rPr lang="en-US" altLang="zh-CN" sz="2000" dirty="0">
                <a:solidFill>
                  <a:schemeClr val="tx1"/>
                </a:solidFill>
              </a:rPr>
              <a:t>10</a:t>
            </a:r>
            <a:r>
              <a:rPr lang="zh-CN" altLang="en-US" sz="2000" dirty="0">
                <a:solidFill>
                  <a:schemeClr val="tx1"/>
                </a:solidFill>
              </a:rPr>
              <a:t>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FA4147F-9ED5-594B-9F46-283B95B4AFD0}"/>
              </a:ext>
            </a:extLst>
          </p:cNvPr>
          <p:cNvSpPr/>
          <p:nvPr/>
        </p:nvSpPr>
        <p:spPr>
          <a:xfrm>
            <a:off x="508000" y="2540000"/>
            <a:ext cx="5334000" cy="15239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r>
              <a:rPr lang="zh-CN" altLang="en-US" sz="2000" b="1" dirty="0">
                <a:solidFill>
                  <a:schemeClr val="tx1"/>
                </a:solidFill>
              </a:rPr>
              <a:t>原因 </a:t>
            </a:r>
            <a:r>
              <a:rPr lang="en-US" altLang="zh-CN" sz="2000" b="1" dirty="0">
                <a:solidFill>
                  <a:schemeClr val="tx1"/>
                </a:solidFill>
              </a:rPr>
              <a:t>C
</a:t>
            </a:r>
            <a:r>
              <a:rPr lang="en-US" altLang="zh-CN" sz="2000" dirty="0" err="1">
                <a:solidFill>
                  <a:schemeClr val="tx1"/>
                </a:solidFill>
              </a:rPr>
              <a:t>ResNet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区分不了微小状态差别？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</a:rPr>
              <a:t>（动作小时，图像</a:t>
            </a:r>
            <a:r>
              <a:rPr lang="en-US" altLang="zh-CN" sz="2000" dirty="0">
                <a:solidFill>
                  <a:schemeClr val="tx1"/>
                </a:solidFill>
              </a:rPr>
              <a:t>encode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token</a:t>
            </a:r>
            <a:r>
              <a:rPr lang="zh-CN" altLang="en-US" sz="2000" dirty="0">
                <a:solidFill>
                  <a:schemeClr val="tx1"/>
                </a:solidFill>
              </a:rPr>
              <a:t>上区别不大？）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03679E4-6624-C04B-B4A2-C05E6405062E}"/>
              </a:ext>
            </a:extLst>
          </p:cNvPr>
          <p:cNvSpPr/>
          <p:nvPr/>
        </p:nvSpPr>
        <p:spPr>
          <a:xfrm>
            <a:off x="6096000" y="2666999"/>
            <a:ext cx="5334000" cy="19050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r>
              <a:rPr lang="zh-CN" altLang="en-US" sz="2000" b="1" dirty="0">
                <a:solidFill>
                  <a:schemeClr val="tx1"/>
                </a:solidFill>
              </a:rPr>
              <a:t>原因 </a:t>
            </a:r>
            <a:r>
              <a:rPr lang="en-US" altLang="zh-CN" sz="2000" b="1" dirty="0">
                <a:solidFill>
                  <a:schemeClr val="tx1"/>
                </a:solidFill>
              </a:rPr>
              <a:t>D
</a:t>
            </a:r>
            <a:r>
              <a:rPr lang="en-US" altLang="zh-CN" sz="2000" dirty="0">
                <a:solidFill>
                  <a:schemeClr val="tx1"/>
                </a:solidFill>
              </a:rPr>
              <a:t>cs1 </a:t>
            </a:r>
            <a:r>
              <a:rPr lang="zh-CN" altLang="en-US" sz="2000" dirty="0">
                <a:solidFill>
                  <a:schemeClr val="tx1"/>
                </a:solidFill>
              </a:rPr>
              <a:t>推理太慢，舵机来不及响应（</a:t>
            </a:r>
            <a:r>
              <a:rPr lang="en-US" altLang="zh-CN" sz="2000" dirty="0">
                <a:solidFill>
                  <a:schemeClr val="tx1"/>
                </a:solidFill>
              </a:rPr>
              <a:t>cs1 </a:t>
            </a:r>
            <a:r>
              <a:rPr lang="zh-CN" altLang="en-US" sz="2000" dirty="0">
                <a:solidFill>
                  <a:schemeClr val="tx1"/>
                </a:solidFill>
              </a:rPr>
              <a:t>特有）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dirty="0">
                <a:solidFill>
                  <a:schemeClr val="tx1"/>
                </a:solidFill>
              </a:rPr>
              <a:t>Cs</a:t>
            </a:r>
            <a:r>
              <a:rPr lang="zh-CN" altLang="en-US" sz="2000" dirty="0">
                <a:solidFill>
                  <a:schemeClr val="tx1"/>
                </a:solidFill>
              </a:rPr>
              <a:t>不等于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的时候，后面动了会</a:t>
            </a:r>
            <a:r>
              <a:rPr lang="en-US" altLang="zh-CN" sz="2000" dirty="0">
                <a:solidFill>
                  <a:schemeClr val="tx1"/>
                </a:solidFill>
              </a:rPr>
              <a:t>wait</a:t>
            </a:r>
          </a:p>
          <a:p>
            <a:pPr algn="l"/>
            <a:r>
              <a:rPr lang="zh-CN" altLang="en-US" sz="2000" dirty="0">
                <a:solidFill>
                  <a:schemeClr val="tx1"/>
                </a:solidFill>
              </a:rPr>
              <a:t>这也是</a:t>
            </a:r>
            <a:r>
              <a:rPr lang="zh-CN" alt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动完之后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wait</a:t>
            </a:r>
            <a:r>
              <a:rPr lang="zh-CN" alt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的原因</a:t>
            </a:r>
            <a:endParaRPr lang="en-US" altLang="zh-CN" sz="2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l"/>
            <a:r>
              <a:rPr lang="en-US" altLang="zh-CN" sz="2000" dirty="0">
                <a:solidFill>
                  <a:schemeClr val="tx1"/>
                </a:solidFill>
                <a:highlight>
                  <a:srgbClr val="FFFF00"/>
                </a:highlight>
              </a:rPr>
              <a:t>Wait</a:t>
            </a:r>
            <a:r>
              <a:rPr lang="zh-CN" alt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了的话可以等待机械臂走到位在</a:t>
            </a:r>
            <a:r>
              <a:rPr lang="en-US" altLang="zh-CN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Obs</a:t>
            </a:r>
            <a:endParaRPr lang="en-US" altLang="zh-CN" sz="2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CE6994-1DB3-DA47-847A-72A982202F2C}"/>
              </a:ext>
            </a:extLst>
          </p:cNvPr>
          <p:cNvSpPr/>
          <p:nvPr/>
        </p:nvSpPr>
        <p:spPr>
          <a:xfrm>
            <a:off x="4539913" y="4767179"/>
            <a:ext cx="5334001" cy="101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r>
              <a:rPr lang="zh-CN" altLang="en-US" sz="2000" b="1" dirty="0">
                <a:solidFill>
                  <a:schemeClr val="tx1"/>
                </a:solidFill>
              </a:rPr>
              <a:t>受此启发
</a:t>
            </a:r>
            <a:r>
              <a:rPr lang="zh-CN" altLang="en-US" sz="2000" dirty="0">
                <a:solidFill>
                  <a:schemeClr val="tx1"/>
                </a:solidFill>
              </a:rPr>
              <a:t>将舵机的 </a:t>
            </a:r>
            <a:r>
              <a:rPr lang="en-US" altLang="zh-CN" sz="2000" dirty="0" err="1">
                <a:solidFill>
                  <a:schemeClr val="tx1"/>
                </a:solidFill>
              </a:rPr>
              <a:t>obs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直接改成上一次的 </a:t>
            </a:r>
            <a:r>
              <a:rPr lang="en-US" altLang="zh-CN" sz="2000" dirty="0">
                <a:solidFill>
                  <a:schemeClr val="tx1"/>
                </a:solidFill>
              </a:rPr>
              <a:t>action</a:t>
            </a:r>
            <a:r>
              <a:rPr lang="zh-CN" altLang="en-US" sz="2000" dirty="0">
                <a:solidFill>
                  <a:schemeClr val="tx1"/>
                </a:solidFill>
              </a:rPr>
              <a:t>？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</a:rPr>
              <a:t>可以后面尝试一下？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E45CD68-ADA8-4B14-FDBE-CCC299F6D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8898225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A31E7-2675-C2CA-8C38-B2B44BFB9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876321D-7A67-9210-EC86-C470A12FD11F}"/>
              </a:ext>
            </a:extLst>
          </p:cNvPr>
          <p:cNvSpPr txBox="1"/>
          <p:nvPr/>
        </p:nvSpPr>
        <p:spPr>
          <a:xfrm>
            <a:off x="1606550" y="254000"/>
            <a:ext cx="8890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针对原因</a:t>
            </a:r>
            <a:r>
              <a:rPr lang="en-US" altLang="zh-CN" sz="2400" b="1" dirty="0">
                <a:solidFill>
                  <a:schemeClr val="tx1"/>
                </a:solidFill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</a:rPr>
              <a:t>补了实验</a:t>
            </a:r>
            <a:endParaRPr lang="zh-CN" altLang="en-US" sz="2400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FC2F45A-F8EC-FF5D-37D6-0707D2AD8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0DF0CE-3AF1-86B2-E8A5-475EADF2E26A}"/>
              </a:ext>
            </a:extLst>
          </p:cNvPr>
          <p:cNvSpPr/>
          <p:nvPr/>
        </p:nvSpPr>
        <p:spPr>
          <a:xfrm>
            <a:off x="545431" y="1090863"/>
            <a:ext cx="4203032" cy="109086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r>
              <a:rPr lang="zh-CN" altLang="en-US" sz="2000" b="1" dirty="0">
                <a:solidFill>
                  <a:schemeClr val="tx1"/>
                </a:solidFill>
              </a:rPr>
              <a:t>原因 </a:t>
            </a:r>
            <a:r>
              <a:rPr lang="en-US" altLang="zh-CN" sz="2000" b="1" dirty="0">
                <a:solidFill>
                  <a:schemeClr val="tx1"/>
                </a:solidFill>
              </a:rPr>
              <a:t>B
cs1 </a:t>
            </a:r>
            <a:r>
              <a:rPr lang="zh-CN" altLang="en-US" sz="2000" b="1" dirty="0">
                <a:solidFill>
                  <a:schemeClr val="tx1"/>
                </a:solidFill>
              </a:rPr>
              <a:t>训练时模型只能看未来 </a:t>
            </a:r>
            <a:r>
              <a:rPr lang="en-US" altLang="zh-CN" sz="2000" b="1" dirty="0">
                <a:solidFill>
                  <a:schemeClr val="tx1"/>
                </a:solidFill>
              </a:rPr>
              <a:t>1 </a:t>
            </a:r>
            <a:r>
              <a:rPr lang="zh-CN" altLang="en-US" sz="2000" b="1" dirty="0">
                <a:solidFill>
                  <a:schemeClr val="tx1"/>
                </a:solidFill>
              </a:rPr>
              <a:t>帧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</a:rPr>
              <a:t>cs10</a:t>
            </a:r>
            <a:r>
              <a:rPr lang="zh-CN" altLang="en-US" sz="2000" b="1" dirty="0">
                <a:solidFill>
                  <a:schemeClr val="tx1"/>
                </a:solidFill>
              </a:rPr>
              <a:t>的时候只能看到未来</a:t>
            </a:r>
            <a:r>
              <a:rPr lang="en-US" altLang="zh-CN" sz="2000" b="1" dirty="0">
                <a:solidFill>
                  <a:schemeClr val="tx1"/>
                </a:solidFill>
              </a:rPr>
              <a:t>10</a:t>
            </a:r>
            <a:r>
              <a:rPr lang="zh-CN" altLang="en-US" sz="2000" b="1" dirty="0">
                <a:solidFill>
                  <a:schemeClr val="tx1"/>
                </a:solidFill>
              </a:rPr>
              <a:t>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F99AD4-9854-F147-D3B2-EE452610B000}"/>
              </a:ext>
            </a:extLst>
          </p:cNvPr>
          <p:cNvSpPr txBox="1"/>
          <p:nvPr/>
        </p:nvSpPr>
        <p:spPr>
          <a:xfrm>
            <a:off x="513347" y="2550695"/>
            <a:ext cx="93506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那么可以补一个实验，使用</a:t>
            </a:r>
            <a:r>
              <a:rPr kumimoji="1" lang="en-US" altLang="zh-CN" dirty="0"/>
              <a:t>cs100</a:t>
            </a:r>
            <a:r>
              <a:rPr kumimoji="1" lang="zh-CN" altLang="en-US" dirty="0"/>
              <a:t>的模型（训练的时候可以获得未来</a:t>
            </a:r>
            <a:r>
              <a:rPr kumimoji="1" lang="en-US" altLang="zh-CN" dirty="0"/>
              <a:t>100</a:t>
            </a:r>
            <a:r>
              <a:rPr kumimoji="1" lang="zh-CN" altLang="en-US" dirty="0"/>
              <a:t>帧的位置来训练</a:t>
            </a:r>
            <a:r>
              <a:rPr kumimoji="1" lang="en-US" altLang="zh-CN" dirty="0"/>
              <a:t>·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		</a:t>
            </a:r>
            <a:r>
              <a:rPr kumimoji="1" lang="zh-CN" altLang="en-US" dirty="0"/>
              <a:t>但是每过</a:t>
            </a:r>
            <a:r>
              <a:rPr kumimoji="1" lang="en-US" altLang="zh-CN" dirty="0"/>
              <a:t>10</a:t>
            </a:r>
            <a:r>
              <a:rPr kumimoji="1" lang="zh-CN" altLang="en-US" dirty="0"/>
              <a:t>帧重新推理一次，后面</a:t>
            </a:r>
            <a:r>
              <a:rPr kumimoji="1" lang="en-US" altLang="zh-CN" dirty="0"/>
              <a:t>90</a:t>
            </a:r>
            <a:r>
              <a:rPr kumimoji="1" lang="zh-CN" altLang="en-US" dirty="0"/>
              <a:t>帧废弃</a:t>
            </a:r>
            <a:endParaRPr kumimoji="1" lang="en-US" altLang="zh-CN" dirty="0"/>
          </a:p>
          <a:p>
            <a:r>
              <a:rPr kumimoji="1" lang="zh-CN" altLang="en-US" dirty="0"/>
              <a:t>结果：还是没法完成，具体表现是先向后动再向前动，其他原因也比较大</a:t>
            </a:r>
            <a:endParaRPr kumimoji="1"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45FFFC-1C24-7A20-72A3-82D09994EC4A}"/>
              </a:ext>
            </a:extLst>
          </p:cNvPr>
          <p:cNvSpPr/>
          <p:nvPr/>
        </p:nvSpPr>
        <p:spPr>
          <a:xfrm>
            <a:off x="6328610" y="3843876"/>
            <a:ext cx="5334000" cy="14651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r>
              <a:rPr lang="zh-CN" altLang="en-US" sz="2000" b="1" dirty="0">
                <a:solidFill>
                  <a:schemeClr val="tx1"/>
                </a:solidFill>
              </a:rPr>
              <a:t>原因 </a:t>
            </a:r>
            <a:r>
              <a:rPr lang="en-US" altLang="zh-CN" sz="2000" b="1" dirty="0">
                <a:solidFill>
                  <a:schemeClr val="tx1"/>
                </a:solidFill>
              </a:rPr>
              <a:t>A
</a:t>
            </a:r>
            <a:r>
              <a:rPr lang="zh-CN" alt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数据集</a:t>
            </a:r>
            <a:r>
              <a:rPr lang="zh-CN" altLang="en-US" sz="2000" b="1" dirty="0">
                <a:solidFill>
                  <a:schemeClr val="tx1"/>
                </a:solidFill>
              </a:rPr>
              <a:t>每个 </a:t>
            </a:r>
            <a:r>
              <a:rPr lang="en-US" altLang="zh-CN" sz="2000" b="1" dirty="0">
                <a:solidFill>
                  <a:schemeClr val="tx1"/>
                </a:solidFill>
              </a:rPr>
              <a:t>episode </a:t>
            </a:r>
            <a:r>
              <a:rPr lang="zh-CN" altLang="en-US" sz="2000" b="1" dirty="0">
                <a:solidFill>
                  <a:schemeClr val="tx1"/>
                </a:solidFill>
              </a:rPr>
              <a:t>都从复位姿态开始，重规划时模型倾向</a:t>
            </a:r>
            <a:r>
              <a:rPr lang="en-US" altLang="zh-CN" sz="2000" b="1" dirty="0">
                <a:solidFill>
                  <a:schemeClr val="tx1"/>
                </a:solidFill>
              </a:rPr>
              <a:t>"</a:t>
            </a:r>
            <a:r>
              <a:rPr lang="zh-CN" altLang="en-US" sz="2000" b="1" dirty="0">
                <a:solidFill>
                  <a:schemeClr val="tx1"/>
                </a:solidFill>
              </a:rPr>
              <a:t>先复位再运动</a:t>
            </a:r>
            <a:r>
              <a:rPr lang="en-US" altLang="zh-CN" sz="2000" b="1" dirty="0">
                <a:solidFill>
                  <a:schemeClr val="tx1"/>
                </a:solidFill>
              </a:rPr>
              <a:t>”</a:t>
            </a:r>
          </a:p>
          <a:p>
            <a:pPr algn="l"/>
            <a:r>
              <a:rPr lang="zh-CN" altLang="en-US" sz="2000" b="1" dirty="0">
                <a:solidFill>
                  <a:schemeClr val="tx1"/>
                </a:solidFill>
              </a:rPr>
              <a:t>（也许可以通过做更好更规范的数据集来解决）</a:t>
            </a:r>
          </a:p>
        </p:txBody>
      </p:sp>
    </p:spTree>
    <p:extLst>
      <p:ext uri="{BB962C8B-B14F-4D97-AF65-F5344CB8AC3E}">
        <p14:creationId xmlns:p14="http://schemas.microsoft.com/office/powerpoint/2010/main" val="1115343530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ECD3B-71D7-6F22-0F63-BA92BFC4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BCD138-0272-A3B4-C944-049FF1DAACD5}"/>
              </a:ext>
            </a:extLst>
          </p:cNvPr>
          <p:cNvSpPr txBox="1"/>
          <p:nvPr/>
        </p:nvSpPr>
        <p:spPr>
          <a:xfrm>
            <a:off x="1606550" y="254000"/>
            <a:ext cx="8890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altLang="zh-CN" sz="2400" b="1" dirty="0" err="1">
                <a:solidFill>
                  <a:schemeClr val="tx1"/>
                </a:solidFill>
              </a:rPr>
              <a:t>getaction</a:t>
            </a:r>
            <a:endParaRPr lang="zh-CN" altLang="en-US" sz="2400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0C550C3-8981-E5CA-9ED3-A807FC25F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0" name="get_action"/>
          <p:cNvSpPr>
            <a:spLocks noGrp="1"/>
          </p:cNvSpPr>
          <p:nvPr/>
        </p:nvSpPr>
        <p:spPr>
          <a:xfrm>
            <a:off x="4546600" y="1019907"/>
            <a:ext cx="3302000" cy="533400"/>
          </a:xfrm>
          <a:prstGeom prst="roundRect">
            <a:avLst/>
          </a:prstGeom>
          <a:solidFill>
            <a:srgbClr val="3F3F3F"/>
          </a:solidFill>
          <a:ln w="19050">
            <a:solidFill>
              <a:srgbClr val="3F3F3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FFFF"/>
                </a:solidFill>
              </a:rPr>
              <a:t>get_action()</a:t>
            </a:r>
          </a:p>
        </p:txBody>
      </p:sp>
      <p:sp>
        <p:nvSpPr>
          <p:cNvPr id="301" name="a1"/>
          <p:cNvSpPr>
            <a:spLocks noGrp="1"/>
          </p:cNvSpPr>
          <p:nvPr/>
        </p:nvSpPr>
        <p:spPr>
          <a:xfrm>
            <a:off x="6073531" y="1578707"/>
            <a:ext cx="0" cy="406400"/>
          </a:xfrm>
          <a:prstGeom prst="line">
            <a:avLst/>
          </a:prstGeom>
          <a:noFill/>
          <a:ln w="22225">
            <a:solidFill>
              <a:srgbClr val="3F3F3F"/>
            </a:solidFill>
            <a:tailEnd type="triangle" w="med" len="med"/>
          </a:ln>
        </p:spPr>
        <p:txBody>
          <a:bodyPr/>
          <a:lstStyle/>
          <a:p>
            <a:endParaRPr sz="2000"/>
          </a:p>
        </p:txBody>
      </p:sp>
      <p:sp>
        <p:nvSpPr>
          <p:cNvPr id="302" name="check"/>
          <p:cNvSpPr>
            <a:spLocks noGrp="1"/>
          </p:cNvSpPr>
          <p:nvPr/>
        </p:nvSpPr>
        <p:spPr>
          <a:xfrm>
            <a:off x="4155831" y="1985107"/>
            <a:ext cx="3810000" cy="762000"/>
          </a:xfrm>
          <a:prstGeom prst="diamond">
            <a:avLst/>
          </a:prstGeom>
          <a:solidFill>
            <a:srgbClr val="5A6A6F"/>
          </a:solidFill>
          <a:ln w="19050">
            <a:solidFill>
              <a:srgbClr val="5A6A6F"/>
            </a:solidFill>
          </a:ln>
        </p:spPr>
        <p:txBody>
          <a:bodyPr wrap="square" lIns="36000" tIns="36000" rIns="36000" bIns="360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FF"/>
                </a:solidFill>
              </a:rPr>
              <a:t>_action_queue 非空 ?</a:t>
            </a:r>
          </a:p>
        </p:txBody>
      </p:sp>
      <p:sp>
        <p:nvSpPr>
          <p:cNvPr id="303" name="a2-yes"/>
          <p:cNvSpPr>
            <a:spLocks noGrp="1"/>
          </p:cNvSpPr>
          <p:nvPr/>
        </p:nvSpPr>
        <p:spPr>
          <a:xfrm flipH="1">
            <a:off x="2758831" y="2366107"/>
            <a:ext cx="1397000" cy="12700"/>
          </a:xfrm>
          <a:prstGeom prst="line">
            <a:avLst/>
          </a:prstGeom>
          <a:noFill/>
          <a:ln w="22225">
            <a:solidFill>
              <a:srgbClr val="006C39"/>
            </a:solidFill>
            <a:tailEnd type="triangle" w="med" len="med"/>
          </a:ln>
        </p:spPr>
        <p:txBody>
          <a:bodyPr/>
          <a:lstStyle/>
          <a:p>
            <a:endParaRPr sz="2000"/>
          </a:p>
        </p:txBody>
      </p:sp>
      <p:sp>
        <p:nvSpPr>
          <p:cNvPr id="304" name="lbl-yes"/>
          <p:cNvSpPr txBox="1"/>
          <p:nvPr/>
        </p:nvSpPr>
        <p:spPr>
          <a:xfrm>
            <a:off x="2758831" y="2086707"/>
            <a:ext cx="1270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zh-CN" altLang="en-US" sz="1400" b="1" dirty="0">
                <a:solidFill>
                  <a:srgbClr val="006C39"/>
                </a:solidFill>
              </a:rPr>
              <a:t>是 (Yes)</a:t>
            </a:r>
          </a:p>
        </p:txBody>
      </p:sp>
      <p:sp>
        <p:nvSpPr>
          <p:cNvPr id="305" name="a2-no"/>
          <p:cNvSpPr>
            <a:spLocks noGrp="1"/>
          </p:cNvSpPr>
          <p:nvPr/>
        </p:nvSpPr>
        <p:spPr>
          <a:xfrm>
            <a:off x="7965831" y="2366107"/>
            <a:ext cx="1397000" cy="12700"/>
          </a:xfrm>
          <a:prstGeom prst="line">
            <a:avLst/>
          </a:prstGeom>
          <a:noFill/>
          <a:ln w="22225">
            <a:solidFill>
              <a:srgbClr val="A13F0B"/>
            </a:solidFill>
            <a:tailEnd type="triangle" w="med" len="med"/>
          </a:ln>
        </p:spPr>
        <p:txBody>
          <a:bodyPr/>
          <a:lstStyle/>
          <a:p>
            <a:endParaRPr sz="2000"/>
          </a:p>
        </p:txBody>
      </p:sp>
      <p:sp>
        <p:nvSpPr>
          <p:cNvPr id="306" name="lbl-no"/>
          <p:cNvSpPr txBox="1"/>
          <p:nvPr/>
        </p:nvSpPr>
        <p:spPr>
          <a:xfrm>
            <a:off x="8092831" y="2086707"/>
            <a:ext cx="1270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zh-CN" altLang="en-US" sz="1400" b="1" dirty="0">
                <a:solidFill>
                  <a:srgbClr val="A13F0B"/>
                </a:solidFill>
              </a:rPr>
              <a:t>否 (No)</a:t>
            </a:r>
          </a:p>
        </p:txBody>
      </p:sp>
      <p:sp>
        <p:nvSpPr>
          <p:cNvPr id="307" name="infer"/>
          <p:cNvSpPr>
            <a:spLocks noGrp="1"/>
          </p:cNvSpPr>
          <p:nvPr/>
        </p:nvSpPr>
        <p:spPr>
          <a:xfrm>
            <a:off x="9362831" y="2010507"/>
            <a:ext cx="2540000" cy="711200"/>
          </a:xfrm>
          <a:prstGeom prst="roundRect">
            <a:avLst/>
          </a:prstGeom>
          <a:solidFill>
            <a:srgbClr val="A13F0B"/>
          </a:solidFill>
          <a:ln w="19050">
            <a:solidFill>
              <a:srgbClr val="A13F0B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FF"/>
                </a:solidFill>
              </a:rPr>
              <a:t>ACT 推理一次</a:t>
            </a:r>
          </a:p>
          <a:p>
            <a:pPr algn="ctr">
              <a:spcBef>
                <a:spcPts val="60"/>
              </a:spcBef>
              <a:spcAft>
                <a:spcPts val="0"/>
              </a:spcAft>
            </a:pPr>
            <a:r>
              <a:rPr lang="zh-CN" altLang="en-US" sz="1400" b="0" dirty="0">
                <a:solidFill>
                  <a:srgbClr val="FBEEE6"/>
                </a:solidFill>
              </a:rPr>
              <a:t>生成 100 帧</a:t>
            </a:r>
          </a:p>
        </p:txBody>
      </p:sp>
      <p:sp>
        <p:nvSpPr>
          <p:cNvPr id="308" name="a-fill"/>
          <p:cNvSpPr>
            <a:spLocks noGrp="1"/>
          </p:cNvSpPr>
          <p:nvPr/>
        </p:nvSpPr>
        <p:spPr>
          <a:xfrm flipH="1">
            <a:off x="9235831" y="2721707"/>
            <a:ext cx="1397000" cy="660400"/>
          </a:xfrm>
          <a:prstGeom prst="line">
            <a:avLst/>
          </a:prstGeom>
          <a:noFill/>
          <a:ln w="22225">
            <a:solidFill>
              <a:srgbClr val="A13F0B"/>
            </a:solidFill>
            <a:prstDash val="dash"/>
            <a:tailEnd type="triangle" w="med" len="med"/>
          </a:ln>
        </p:spPr>
        <p:txBody>
          <a:bodyPr/>
          <a:lstStyle/>
          <a:p>
            <a:endParaRPr sz="2000"/>
          </a:p>
        </p:txBody>
      </p:sp>
      <p:sp>
        <p:nvSpPr>
          <p:cNvPr id="309" name="lbl-fill"/>
          <p:cNvSpPr txBox="1"/>
          <p:nvPr/>
        </p:nvSpPr>
        <p:spPr>
          <a:xfrm>
            <a:off x="9108831" y="2874107"/>
            <a:ext cx="1397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zh-CN" altLang="en-US" sz="1200" b="1" dirty="0">
                <a:solidFill>
                  <a:srgbClr val="A13F0B"/>
                </a:solidFill>
              </a:rPr>
              <a:t>写入队列</a:t>
            </a:r>
          </a:p>
        </p:txBody>
      </p:sp>
      <p:sp>
        <p:nvSpPr>
          <p:cNvPr id="400" name="cell0"/>
          <p:cNvSpPr>
            <a:spLocks noGrp="1"/>
          </p:cNvSpPr>
          <p:nvPr/>
        </p:nvSpPr>
        <p:spPr>
          <a:xfrm>
            <a:off x="2885831" y="3509107"/>
            <a:ext cx="609600" cy="711200"/>
          </a:xfrm>
          <a:prstGeom prst="rect">
            <a:avLst/>
          </a:prstGeom>
          <a:solidFill>
            <a:srgbClr val="006C39"/>
          </a:solidFill>
          <a:ln w="19050">
            <a:solidFill>
              <a:srgbClr val="FFFFF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FF"/>
                </a:solidFill>
              </a:rPr>
              <a:t>a₀</a:t>
            </a:r>
          </a:p>
        </p:txBody>
      </p:sp>
      <p:sp>
        <p:nvSpPr>
          <p:cNvPr id="401" name="cell1"/>
          <p:cNvSpPr>
            <a:spLocks noGrp="1"/>
          </p:cNvSpPr>
          <p:nvPr/>
        </p:nvSpPr>
        <p:spPr>
          <a:xfrm>
            <a:off x="3520831" y="3509107"/>
            <a:ext cx="609600" cy="711200"/>
          </a:xfrm>
          <a:prstGeom prst="rect">
            <a:avLst/>
          </a:prstGeom>
          <a:solidFill>
            <a:srgbClr val="2E8B5C"/>
          </a:solidFill>
          <a:ln w="19050">
            <a:solidFill>
              <a:srgbClr val="FFFFF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FF"/>
                </a:solidFill>
              </a:rPr>
              <a:t>a₁</a:t>
            </a:r>
          </a:p>
        </p:txBody>
      </p:sp>
      <p:sp>
        <p:nvSpPr>
          <p:cNvPr id="402" name="cell2"/>
          <p:cNvSpPr>
            <a:spLocks noGrp="1"/>
          </p:cNvSpPr>
          <p:nvPr/>
        </p:nvSpPr>
        <p:spPr>
          <a:xfrm>
            <a:off x="4155831" y="3509107"/>
            <a:ext cx="609600" cy="711200"/>
          </a:xfrm>
          <a:prstGeom prst="rect">
            <a:avLst/>
          </a:prstGeom>
          <a:solidFill>
            <a:srgbClr val="2E8B5C"/>
          </a:solidFill>
          <a:ln w="19050">
            <a:solidFill>
              <a:srgbClr val="FFFFF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FF"/>
                </a:solidFill>
              </a:rPr>
              <a:t>a₂</a:t>
            </a:r>
          </a:p>
        </p:txBody>
      </p:sp>
      <p:sp>
        <p:nvSpPr>
          <p:cNvPr id="403" name="cell3"/>
          <p:cNvSpPr>
            <a:spLocks noGrp="1"/>
          </p:cNvSpPr>
          <p:nvPr/>
        </p:nvSpPr>
        <p:spPr>
          <a:xfrm>
            <a:off x="4790831" y="3509107"/>
            <a:ext cx="609600" cy="711200"/>
          </a:xfrm>
          <a:prstGeom prst="rect">
            <a:avLst/>
          </a:prstGeom>
          <a:solidFill>
            <a:srgbClr val="2E8B5C"/>
          </a:solidFill>
          <a:ln w="19050">
            <a:solidFill>
              <a:srgbClr val="FFFFF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FF"/>
                </a:solidFill>
              </a:rPr>
              <a:t>a₃</a:t>
            </a:r>
          </a:p>
        </p:txBody>
      </p:sp>
      <p:sp>
        <p:nvSpPr>
          <p:cNvPr id="404" name="cell4"/>
          <p:cNvSpPr>
            <a:spLocks noGrp="1"/>
          </p:cNvSpPr>
          <p:nvPr/>
        </p:nvSpPr>
        <p:spPr>
          <a:xfrm>
            <a:off x="5425831" y="3509107"/>
            <a:ext cx="609600" cy="711200"/>
          </a:xfrm>
          <a:prstGeom prst="rect">
            <a:avLst/>
          </a:prstGeom>
          <a:solidFill>
            <a:srgbClr val="2E8B5C"/>
          </a:solidFill>
          <a:ln w="19050">
            <a:solidFill>
              <a:srgbClr val="FFFFF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FF"/>
                </a:solidFill>
              </a:rPr>
              <a:t>a₄</a:t>
            </a:r>
          </a:p>
        </p:txBody>
      </p:sp>
      <p:sp>
        <p:nvSpPr>
          <p:cNvPr id="405" name="cell5"/>
          <p:cNvSpPr>
            <a:spLocks noGrp="1"/>
          </p:cNvSpPr>
          <p:nvPr/>
        </p:nvSpPr>
        <p:spPr>
          <a:xfrm>
            <a:off x="6060831" y="3509107"/>
            <a:ext cx="609600" cy="711200"/>
          </a:xfrm>
          <a:prstGeom prst="rect">
            <a:avLst/>
          </a:prstGeom>
          <a:solidFill>
            <a:srgbClr val="B8D4C5"/>
          </a:solidFill>
          <a:ln w="19050">
            <a:solidFill>
              <a:srgbClr val="FFFFF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FF"/>
                </a:solidFill>
              </a:rPr>
              <a:t>···</a:t>
            </a:r>
          </a:p>
        </p:txBody>
      </p:sp>
      <p:sp>
        <p:nvSpPr>
          <p:cNvPr id="406" name="cell6"/>
          <p:cNvSpPr>
            <a:spLocks noGrp="1"/>
          </p:cNvSpPr>
          <p:nvPr/>
        </p:nvSpPr>
        <p:spPr>
          <a:xfrm>
            <a:off x="6695831" y="3509107"/>
            <a:ext cx="609600" cy="711200"/>
          </a:xfrm>
          <a:prstGeom prst="rect">
            <a:avLst/>
          </a:prstGeom>
          <a:solidFill>
            <a:srgbClr val="4FA37A"/>
          </a:solidFill>
          <a:ln w="19050">
            <a:solidFill>
              <a:srgbClr val="FFFFF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FF"/>
                </a:solidFill>
              </a:rPr>
              <a:t>···</a:t>
            </a:r>
          </a:p>
        </p:txBody>
      </p:sp>
      <p:sp>
        <p:nvSpPr>
          <p:cNvPr id="407" name="cell7"/>
          <p:cNvSpPr>
            <a:spLocks noGrp="1"/>
          </p:cNvSpPr>
          <p:nvPr/>
        </p:nvSpPr>
        <p:spPr>
          <a:xfrm>
            <a:off x="7330831" y="3509107"/>
            <a:ext cx="609600" cy="711200"/>
          </a:xfrm>
          <a:prstGeom prst="rect">
            <a:avLst/>
          </a:prstGeom>
          <a:solidFill>
            <a:srgbClr val="4FA37A"/>
          </a:solidFill>
          <a:ln w="19050">
            <a:solidFill>
              <a:srgbClr val="FFFFF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FF"/>
                </a:solidFill>
              </a:rPr>
              <a:t>a₉₇</a:t>
            </a:r>
          </a:p>
        </p:txBody>
      </p:sp>
      <p:sp>
        <p:nvSpPr>
          <p:cNvPr id="408" name="cell8"/>
          <p:cNvSpPr>
            <a:spLocks noGrp="1"/>
          </p:cNvSpPr>
          <p:nvPr/>
        </p:nvSpPr>
        <p:spPr>
          <a:xfrm>
            <a:off x="7965831" y="3509107"/>
            <a:ext cx="609600" cy="711200"/>
          </a:xfrm>
          <a:prstGeom prst="rect">
            <a:avLst/>
          </a:prstGeom>
          <a:solidFill>
            <a:srgbClr val="4FA37A"/>
          </a:solidFill>
          <a:ln w="19050">
            <a:solidFill>
              <a:srgbClr val="FFFFF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FF"/>
                </a:solidFill>
              </a:rPr>
              <a:t>a₉₈</a:t>
            </a:r>
          </a:p>
        </p:txBody>
      </p:sp>
      <p:sp>
        <p:nvSpPr>
          <p:cNvPr id="409" name="cell9"/>
          <p:cNvSpPr>
            <a:spLocks noGrp="1"/>
          </p:cNvSpPr>
          <p:nvPr/>
        </p:nvSpPr>
        <p:spPr>
          <a:xfrm>
            <a:off x="8600831" y="3509107"/>
            <a:ext cx="609600" cy="711200"/>
          </a:xfrm>
          <a:prstGeom prst="rect">
            <a:avLst/>
          </a:prstGeom>
          <a:solidFill>
            <a:srgbClr val="4FA37A"/>
          </a:solidFill>
          <a:ln w="19050">
            <a:solidFill>
              <a:srgbClr val="FFFFF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FF"/>
                </a:solidFill>
              </a:rPr>
              <a:t>a₉₉</a:t>
            </a:r>
          </a:p>
        </p:txBody>
      </p:sp>
      <p:sp>
        <p:nvSpPr>
          <p:cNvPr id="310" name="qlbl"/>
          <p:cNvSpPr txBox="1"/>
          <p:nvPr/>
        </p:nvSpPr>
        <p:spPr>
          <a:xfrm>
            <a:off x="2885831" y="3102707"/>
            <a:ext cx="6350000" cy="279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zh-CN" altLang="en-US" sz="1600" b="1" dirty="0">
                <a:solidFill>
                  <a:srgbClr val="006C39"/>
                </a:solidFill>
              </a:rPr>
              <a:t>_action_queue  (action chunk · 100 帧)的队列</a:t>
            </a:r>
          </a:p>
        </p:txBody>
      </p:sp>
      <p:sp>
        <p:nvSpPr>
          <p:cNvPr id="311" name="brace"/>
          <p:cNvSpPr>
            <a:spLocks noGrp="1"/>
          </p:cNvSpPr>
          <p:nvPr/>
        </p:nvSpPr>
        <p:spPr>
          <a:xfrm>
            <a:off x="2885831" y="4296507"/>
            <a:ext cx="6350000" cy="228600"/>
          </a:xfrm>
          <a:prstGeom prst="leftBrace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lIns="36000" tIns="36000" rIns="36000" bIns="360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200"/>
          </a:p>
        </p:txBody>
      </p:sp>
      <p:sp>
        <p:nvSpPr>
          <p:cNvPr id="312" name="chunk-lbl"/>
          <p:cNvSpPr txBox="1"/>
          <p:nvPr/>
        </p:nvSpPr>
        <p:spPr>
          <a:xfrm>
            <a:off x="2885831" y="4321907"/>
            <a:ext cx="6350000" cy="279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zh-CN" altLang="en-US" sz="1200" b="0" dirty="0">
                <a:solidFill>
                  <a:srgbClr val="A2A2A2"/>
                </a:solidFill>
              </a:rPr>
              <a:t>chunk_size = 100  (训练时确定)</a:t>
            </a:r>
          </a:p>
        </p:txBody>
      </p:sp>
      <p:sp>
        <p:nvSpPr>
          <p:cNvPr id="313" name="fast-box"/>
          <p:cNvSpPr>
            <a:spLocks noGrp="1"/>
          </p:cNvSpPr>
          <p:nvPr/>
        </p:nvSpPr>
        <p:spPr>
          <a:xfrm>
            <a:off x="218831" y="2010507"/>
            <a:ext cx="2540000" cy="711200"/>
          </a:xfrm>
          <a:prstGeom prst="roundRect">
            <a:avLst/>
          </a:prstGeom>
          <a:solidFill>
            <a:srgbClr val="006C39"/>
          </a:solidFill>
          <a:ln w="19050">
            <a:solidFill>
              <a:srgbClr val="006C39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FF"/>
                </a:solidFill>
              </a:rPr>
              <a:t>直接从队列取 1 帧</a:t>
            </a:r>
          </a:p>
        </p:txBody>
      </p:sp>
      <p:sp>
        <p:nvSpPr>
          <p:cNvPr id="314" name="a-fast-down"/>
          <p:cNvSpPr>
            <a:spLocks noGrp="1"/>
          </p:cNvSpPr>
          <p:nvPr/>
        </p:nvSpPr>
        <p:spPr>
          <a:xfrm>
            <a:off x="1488831" y="2721707"/>
            <a:ext cx="1524000" cy="660400"/>
          </a:xfrm>
          <a:prstGeom prst="line">
            <a:avLst/>
          </a:prstGeom>
          <a:noFill/>
          <a:ln w="22225">
            <a:solidFill>
              <a:srgbClr val="006C39"/>
            </a:solidFill>
            <a:tailEnd type="triangle" w="med" len="med"/>
          </a:ln>
        </p:spPr>
        <p:txBody>
          <a:bodyPr/>
          <a:lstStyle/>
          <a:p>
            <a:endParaRPr sz="2000"/>
          </a:p>
        </p:txBody>
      </p:sp>
      <p:sp>
        <p:nvSpPr>
          <p:cNvPr id="315" name="a-pop"/>
          <p:cNvSpPr>
            <a:spLocks noGrp="1"/>
          </p:cNvSpPr>
          <p:nvPr/>
        </p:nvSpPr>
        <p:spPr>
          <a:xfrm>
            <a:off x="3203331" y="4601307"/>
            <a:ext cx="12700" cy="558800"/>
          </a:xfrm>
          <a:prstGeom prst="line">
            <a:avLst/>
          </a:prstGeom>
          <a:noFill/>
          <a:ln w="22225">
            <a:solidFill>
              <a:srgbClr val="006C39"/>
            </a:solidFill>
            <a:tailEnd type="triangle" w="med" len="med"/>
          </a:ln>
        </p:spPr>
        <p:txBody>
          <a:bodyPr/>
          <a:lstStyle/>
          <a:p>
            <a:endParaRPr sz="2000"/>
          </a:p>
        </p:txBody>
      </p:sp>
      <p:sp>
        <p:nvSpPr>
          <p:cNvPr id="316" name="lbl-pop"/>
          <p:cNvSpPr txBox="1"/>
          <p:nvPr/>
        </p:nvSpPr>
        <p:spPr>
          <a:xfrm>
            <a:off x="3330331" y="4652107"/>
            <a:ext cx="1651000" cy="279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zh-CN" altLang="en-US" sz="1400" b="1" dirty="0">
                <a:solidFill>
                  <a:srgbClr val="006C39"/>
                </a:solidFill>
              </a:rPr>
              <a:t>popleft 取第 0 帧</a:t>
            </a:r>
          </a:p>
        </p:txBody>
      </p:sp>
      <p:sp>
        <p:nvSpPr>
          <p:cNvPr id="317" name="frame"/>
          <p:cNvSpPr>
            <a:spLocks noGrp="1"/>
          </p:cNvSpPr>
          <p:nvPr/>
        </p:nvSpPr>
        <p:spPr>
          <a:xfrm>
            <a:off x="2060331" y="5160107"/>
            <a:ext cx="2286000" cy="558800"/>
          </a:xfrm>
          <a:prstGeom prst="roundRect">
            <a:avLst/>
          </a:prstGeom>
          <a:solidFill>
            <a:srgbClr val="006C39"/>
          </a:solidFill>
          <a:ln w="19050">
            <a:solidFill>
              <a:srgbClr val="006C39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FF"/>
                </a:solidFill>
              </a:rPr>
              <a:t>1 帧动作</a:t>
            </a:r>
          </a:p>
        </p:txBody>
      </p:sp>
      <p:sp>
        <p:nvSpPr>
          <p:cNvPr id="318" name="a-final"/>
          <p:cNvSpPr>
            <a:spLocks noGrp="1"/>
          </p:cNvSpPr>
          <p:nvPr/>
        </p:nvSpPr>
        <p:spPr>
          <a:xfrm flipV="1">
            <a:off x="4346331" y="5423206"/>
            <a:ext cx="1727200" cy="16301"/>
          </a:xfrm>
          <a:prstGeom prst="line">
            <a:avLst/>
          </a:prstGeom>
          <a:noFill/>
          <a:ln w="22225">
            <a:solidFill>
              <a:srgbClr val="3F3F3F"/>
            </a:solidFill>
            <a:tailEnd type="triangle" w="med" len="med"/>
          </a:ln>
        </p:spPr>
        <p:txBody>
          <a:bodyPr/>
          <a:lstStyle/>
          <a:p>
            <a:endParaRPr sz="2000"/>
          </a:p>
        </p:txBody>
      </p:sp>
      <p:sp>
        <p:nvSpPr>
          <p:cNvPr id="319" name="action"/>
          <p:cNvSpPr>
            <a:spLocks noGrp="1"/>
          </p:cNvSpPr>
          <p:nvPr/>
        </p:nvSpPr>
        <p:spPr>
          <a:xfrm>
            <a:off x="6124333" y="5160107"/>
            <a:ext cx="3302000" cy="558800"/>
          </a:xfrm>
          <a:prstGeom prst="roundRect">
            <a:avLst/>
          </a:prstGeom>
          <a:solidFill>
            <a:srgbClr val="3F3F3F"/>
          </a:solidFill>
          <a:ln w="19050">
            <a:solidFill>
              <a:srgbClr val="3F3F3F"/>
            </a:solidFill>
          </a:ln>
        </p:spPr>
        <p:txBody>
          <a:bodyPr wrap="square" lIns="36000" tIns="36000" rIns="36000" bIns="3600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FF"/>
                </a:solidFill>
              </a:rPr>
              <a:t>执行动作 (action)</a:t>
            </a:r>
          </a:p>
        </p:txBody>
      </p:sp>
    </p:spTree>
    <p:extLst>
      <p:ext uri="{BB962C8B-B14F-4D97-AF65-F5344CB8AC3E}">
        <p14:creationId xmlns:p14="http://schemas.microsoft.com/office/powerpoint/2010/main" val="66063847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A02E-D45C-C920-11FA-7C3419DB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29AE28-961A-54C7-A561-0BBACF45EAC4}"/>
              </a:ext>
            </a:extLst>
          </p:cNvPr>
          <p:cNvSpPr txBox="1"/>
          <p:nvPr/>
        </p:nvSpPr>
        <p:spPr>
          <a:xfrm>
            <a:off x="1606550" y="254000"/>
            <a:ext cx="8890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ACT </a:t>
            </a:r>
            <a:r>
              <a:rPr lang="zh-CN" altLang="en-US" sz="2400" b="1" dirty="0">
                <a:solidFill>
                  <a:schemeClr val="tx1"/>
                </a:solidFill>
              </a:rPr>
              <a:t>推理流程三层图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A60F252-9584-978C-7791-9F41E8D49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1D797FA-81A9-3DF9-5DD6-5581B054AE29}"/>
              </a:ext>
            </a:extLst>
          </p:cNvPr>
          <p:cNvGrpSpPr/>
          <p:nvPr/>
        </p:nvGrpSpPr>
        <p:grpSpPr>
          <a:xfrm>
            <a:off x="628729" y="881223"/>
            <a:ext cx="10104887" cy="5176896"/>
            <a:chOff x="391663" y="881223"/>
            <a:chExt cx="10104887" cy="5176896"/>
          </a:xfrm>
        </p:grpSpPr>
        <p:sp>
          <p:nvSpPr>
            <p:cNvPr id="100" name="lbl-layer1"/>
            <p:cNvSpPr/>
            <p:nvPr/>
          </p:nvSpPr>
          <p:spPr>
            <a:xfrm>
              <a:off x="391663" y="944723"/>
              <a:ext cx="1117600" cy="457200"/>
            </a:xfrm>
            <a:prstGeom prst="roundRect">
              <a:avLst>
                <a:gd name="adj" fmla="val 16667"/>
              </a:avLst>
            </a:prstGeom>
            <a:solidFill>
              <a:srgbClr val="A2A2A2"/>
            </a:solidFill>
            <a:ln w="0">
              <a:noFill/>
            </a:ln>
          </p:spPr>
          <p:txBody>
            <a:bodyPr wrap="square" lIns="36000" tIns="18000" rIns="36000" bIns="18000" anchor="ctr"/>
            <a:lstStyle/>
            <a:p>
              <a:pPr algn="ctr"/>
              <a:r>
                <a:rPr lang="zh-CN" altLang="en-US" sz="1400" b="1" dirty="0">
                  <a:solidFill>
                    <a:srgbClr val="FFFFFF"/>
                  </a:solidFill>
                </a:rPr>
                <a:t>第一层</a:t>
              </a:r>
            </a:p>
          </p:txBody>
        </p:sp>
        <p:sp>
          <p:nvSpPr>
            <p:cNvPr id="101" name="lbl-layer2"/>
            <p:cNvSpPr/>
            <p:nvPr/>
          </p:nvSpPr>
          <p:spPr>
            <a:xfrm>
              <a:off x="391663" y="1617823"/>
              <a:ext cx="1117600" cy="457200"/>
            </a:xfrm>
            <a:prstGeom prst="roundRect">
              <a:avLst>
                <a:gd name="adj" fmla="val 16667"/>
              </a:avLst>
            </a:prstGeom>
            <a:solidFill>
              <a:srgbClr val="3F3F3F"/>
            </a:solidFill>
            <a:ln w="0">
              <a:noFill/>
            </a:ln>
          </p:spPr>
          <p:txBody>
            <a:bodyPr wrap="square" lIns="36000" tIns="18000" rIns="36000" bIns="18000" anchor="ctr"/>
            <a:lstStyle/>
            <a:p>
              <a:pPr algn="ctr"/>
              <a:r>
                <a:rPr lang="zh-CN" altLang="en-US" sz="1400" b="1" dirty="0">
                  <a:solidFill>
                    <a:srgbClr val="FFFFFF"/>
                  </a:solidFill>
                </a:rPr>
                <a:t>第二层</a:t>
              </a:r>
            </a:p>
          </p:txBody>
        </p:sp>
        <p:sp>
          <p:nvSpPr>
            <p:cNvPr id="102" name="lbl-layer3"/>
            <p:cNvSpPr/>
            <p:nvPr/>
          </p:nvSpPr>
          <p:spPr>
            <a:xfrm>
              <a:off x="391663" y="2608423"/>
              <a:ext cx="1117600" cy="457200"/>
            </a:xfrm>
            <a:prstGeom prst="roundRect">
              <a:avLst>
                <a:gd name="adj" fmla="val 16667"/>
              </a:avLst>
            </a:prstGeom>
            <a:solidFill>
              <a:srgbClr val="A13F0B"/>
            </a:solidFill>
            <a:ln w="0">
              <a:noFill/>
            </a:ln>
          </p:spPr>
          <p:txBody>
            <a:bodyPr wrap="square" lIns="36000" tIns="18000" rIns="36000" bIns="18000" anchor="ctr"/>
            <a:lstStyle/>
            <a:p>
              <a:pPr algn="ctr"/>
              <a:r>
                <a:rPr lang="zh-CN" altLang="en-US" sz="1600" b="1" dirty="0">
                  <a:solidFill>
                    <a:srgbClr val="FFFFFF"/>
                  </a:solidFill>
                </a:rPr>
                <a:t>第三层</a:t>
              </a:r>
            </a:p>
          </p:txBody>
        </p:sp>
        <p:sp>
          <p:nvSpPr>
            <p:cNvPr id="110" name="band1"/>
            <p:cNvSpPr/>
            <p:nvPr/>
          </p:nvSpPr>
          <p:spPr>
            <a:xfrm>
              <a:off x="1585463" y="881223"/>
              <a:ext cx="8911087" cy="584200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>
              <a:solidFill>
                <a:srgbClr val="A2A2A2"/>
              </a:solidFill>
              <a:prstDash val="dash"/>
            </a:ln>
          </p:spPr>
          <p:txBody>
            <a:bodyPr/>
            <a:lstStyle/>
            <a:p>
              <a:endParaRPr lang="zh-CN" sz="2400"/>
            </a:p>
          </p:txBody>
        </p:sp>
        <p:sp>
          <p:nvSpPr>
            <p:cNvPr id="111" name="fast-q"/>
            <p:cNvSpPr/>
            <p:nvPr/>
          </p:nvSpPr>
          <p:spPr>
            <a:xfrm>
              <a:off x="1737863" y="957423"/>
              <a:ext cx="2032000" cy="431800"/>
            </a:xfrm>
            <a:prstGeom prst="roundRect">
              <a:avLst>
                <a:gd name="adj" fmla="val 16667"/>
              </a:avLst>
            </a:prstGeom>
            <a:solidFill>
              <a:srgbClr val="A2A2A2"/>
            </a:solidFill>
            <a:ln w="0">
              <a:noFill/>
            </a:ln>
          </p:spPr>
          <p:txBody>
            <a:bodyPr wrap="square" lIns="36000" tIns="0" rIns="36000" bIns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</a:rPr>
                <a:t>_action_queue </a:t>
              </a:r>
              <a:r>
                <a:rPr lang="zh-CN" altLang="en-US" sz="1600" b="1" dirty="0">
                  <a:solidFill>
                    <a:srgbClr val="FFFFFF"/>
                  </a:solidFill>
                </a:rPr>
                <a:t>非空</a:t>
              </a:r>
            </a:p>
          </p:txBody>
        </p:sp>
        <p:sp>
          <p:nvSpPr>
            <p:cNvPr id="112" name="fast-a1"/>
            <p:cNvSpPr/>
            <p:nvPr/>
          </p:nvSpPr>
          <p:spPr>
            <a:xfrm>
              <a:off x="3896863" y="1122523"/>
              <a:ext cx="386976" cy="10795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2A2A2"/>
            </a:solidFill>
            <a:ln w="0">
              <a:noFill/>
            </a:ln>
          </p:spPr>
          <p:txBody>
            <a:bodyPr/>
            <a:lstStyle/>
            <a:p>
              <a:endParaRPr lang="zh-CN" sz="2400"/>
            </a:p>
          </p:txBody>
        </p:sp>
        <p:sp>
          <p:nvSpPr>
            <p:cNvPr id="113" name="fast-pop"/>
            <p:cNvSpPr/>
            <p:nvPr/>
          </p:nvSpPr>
          <p:spPr>
            <a:xfrm>
              <a:off x="4379463" y="957423"/>
              <a:ext cx="2286000" cy="431800"/>
            </a:xfrm>
            <a:prstGeom prst="roundRect">
              <a:avLst>
                <a:gd name="adj" fmla="val 16667"/>
              </a:avLst>
            </a:prstGeom>
            <a:solidFill>
              <a:srgbClr val="A2A2A2"/>
            </a:solidFill>
            <a:ln w="0">
              <a:noFill/>
            </a:ln>
          </p:spPr>
          <p:txBody>
            <a:bodyPr wrap="square" lIns="36000" tIns="0" rIns="36000" bIns="0" anchor="ctr"/>
            <a:lstStyle/>
            <a:p>
              <a:pPr algn="ctr"/>
              <a:r>
                <a:rPr lang="en-US" altLang="zh-CN" sz="1600" b="1" dirty="0">
                  <a:solidFill>
                    <a:srgbClr val="FFFFFF"/>
                  </a:solidFill>
                </a:rPr>
                <a:t>popleft </a:t>
              </a:r>
              <a:r>
                <a:rPr lang="zh-CN" altLang="en-US" sz="1600" b="1" dirty="0">
                  <a:solidFill>
                    <a:srgbClr val="FFFFFF"/>
                  </a:solidFill>
                </a:rPr>
                <a:t>取 1 帧动作</a:t>
              </a:r>
            </a:p>
          </p:txBody>
        </p:sp>
        <p:sp>
          <p:nvSpPr>
            <p:cNvPr id="114" name="fast-a2"/>
            <p:cNvSpPr/>
            <p:nvPr/>
          </p:nvSpPr>
          <p:spPr>
            <a:xfrm>
              <a:off x="6829069" y="1122523"/>
              <a:ext cx="344394" cy="10795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2A2A2"/>
            </a:solidFill>
            <a:ln w="0">
              <a:noFill/>
            </a:ln>
          </p:spPr>
          <p:txBody>
            <a:bodyPr/>
            <a:lstStyle/>
            <a:p>
              <a:endParaRPr lang="zh-CN" sz="2400"/>
            </a:p>
          </p:txBody>
        </p:sp>
        <p:sp>
          <p:nvSpPr>
            <p:cNvPr id="115" name="fast-ret"/>
            <p:cNvSpPr/>
            <p:nvPr/>
          </p:nvSpPr>
          <p:spPr>
            <a:xfrm>
              <a:off x="7249663" y="957423"/>
              <a:ext cx="1651000" cy="431800"/>
            </a:xfrm>
            <a:prstGeom prst="roundRect">
              <a:avLst>
                <a:gd name="adj" fmla="val 16667"/>
              </a:avLst>
            </a:prstGeom>
            <a:solidFill>
              <a:srgbClr val="006C39"/>
            </a:solidFill>
            <a:ln w="0">
              <a:noFill/>
            </a:ln>
          </p:spPr>
          <p:txBody>
            <a:bodyPr wrap="square" lIns="36000" tIns="0" rIns="36000" bIns="0" anchor="ctr"/>
            <a:lstStyle/>
            <a:p>
              <a:pPr algn="ctr"/>
              <a:r>
                <a:rPr lang="zh-CN" altLang="en-US" sz="1600" b="1" dirty="0">
                  <a:solidFill>
                    <a:srgbClr val="FFFFFF"/>
                  </a:solidFill>
                </a:rPr>
                <a:t>返回执行</a:t>
              </a:r>
            </a:p>
          </p:txBody>
        </p:sp>
        <p:sp>
          <p:nvSpPr>
            <p:cNvPr id="116" name="fast-sub"/>
            <p:cNvSpPr/>
            <p:nvPr/>
          </p:nvSpPr>
          <p:spPr>
            <a:xfrm>
              <a:off x="9135494" y="1038327"/>
              <a:ext cx="1167772" cy="268346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/>
              <a:r>
                <a:rPr lang="zh-CN" altLang="en-US" sz="1100" dirty="0">
                  <a:solidFill>
                    <a:srgbClr val="888888"/>
                  </a:solidFill>
                </a:rPr>
                <a:t>快速路径，无推理</a:t>
              </a:r>
            </a:p>
          </p:txBody>
        </p:sp>
        <p:sp>
          <p:nvSpPr>
            <p:cNvPr id="120" name="band2"/>
            <p:cNvSpPr/>
            <p:nvPr/>
          </p:nvSpPr>
          <p:spPr>
            <a:xfrm>
              <a:off x="1585463" y="1541623"/>
              <a:ext cx="8911087" cy="965200"/>
            </a:xfrm>
            <a:prstGeom prst="roundRect">
              <a:avLst>
                <a:gd name="adj" fmla="val 10000"/>
              </a:avLst>
            </a:prstGeom>
            <a:solidFill>
              <a:srgbClr val="F7F7F7"/>
            </a:solidFill>
            <a:ln w="12700">
              <a:solidFill>
                <a:srgbClr val="3F3F3F"/>
              </a:solidFill>
            </a:ln>
          </p:spPr>
          <p:txBody>
            <a:bodyPr/>
            <a:lstStyle/>
            <a:p>
              <a:endParaRPr lang="zh-CN" sz="2800"/>
            </a:p>
          </p:txBody>
        </p:sp>
        <p:sp>
          <p:nvSpPr>
            <p:cNvPr id="121" name="l2-title"/>
            <p:cNvSpPr/>
            <p:nvPr/>
          </p:nvSpPr>
          <p:spPr>
            <a:xfrm>
              <a:off x="1674363" y="1554323"/>
              <a:ext cx="2126751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36000" tIns="0" rIns="0" bIns="0" anchor="t"/>
            <a:lstStyle/>
            <a:p>
              <a:pPr algn="l"/>
              <a:r>
                <a:rPr lang="en-US" altLang="zh-CN" sz="1200" b="1" dirty="0">
                  <a:solidFill>
                    <a:srgbClr val="3F3F3F"/>
                  </a:solidFill>
                </a:rPr>
                <a:t>predict_action()</a:t>
              </a:r>
            </a:p>
          </p:txBody>
        </p:sp>
        <p:sp>
          <p:nvSpPr>
            <p:cNvPr id="122" name="preprocess"/>
            <p:cNvSpPr/>
            <p:nvPr/>
          </p:nvSpPr>
          <p:spPr>
            <a:xfrm>
              <a:off x="1737863" y="1833723"/>
              <a:ext cx="2552101" cy="584200"/>
            </a:xfrm>
            <a:prstGeom prst="roundRect">
              <a:avLst>
                <a:gd name="adj" fmla="val 16667"/>
              </a:avLst>
            </a:prstGeom>
            <a:solidFill>
              <a:srgbClr val="3F3F3F"/>
            </a:solidFill>
            <a:ln w="0">
              <a:noFill/>
            </a:ln>
          </p:spPr>
          <p:txBody>
            <a:bodyPr wrap="square" lIns="36000" tIns="18000" rIns="36000" bIns="180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预处理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 err="1">
                  <a:solidFill>
                    <a:srgbClr val="CCCCCC"/>
                  </a:solidFill>
                </a:rPr>
                <a:t>Numpy</a:t>
              </a:r>
              <a:r>
                <a:rPr lang="en-US" altLang="zh-CN" sz="1050" dirty="0">
                  <a:solidFill>
                    <a:srgbClr val="CCCCCC"/>
                  </a:solidFill>
                </a:rPr>
                <a:t> -&gt; Tensor / norm</a:t>
              </a:r>
            </a:p>
          </p:txBody>
        </p:sp>
        <p:sp>
          <p:nvSpPr>
            <p:cNvPr id="123" name="l2-a1"/>
            <p:cNvSpPr/>
            <p:nvPr/>
          </p:nvSpPr>
          <p:spPr>
            <a:xfrm>
              <a:off x="4418419" y="2090659"/>
              <a:ext cx="265844" cy="8407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3F3F3F"/>
            </a:solidFill>
            <a:ln w="0">
              <a:noFill/>
            </a:ln>
          </p:spPr>
          <p:txBody>
            <a:bodyPr/>
            <a:lstStyle/>
            <a:p>
              <a:endParaRPr lang="zh-CN" sz="2800"/>
            </a:p>
          </p:txBody>
        </p:sp>
        <p:sp>
          <p:nvSpPr>
            <p:cNvPr id="124" name="select-action"/>
            <p:cNvSpPr/>
            <p:nvPr/>
          </p:nvSpPr>
          <p:spPr>
            <a:xfrm>
              <a:off x="4812718" y="1843248"/>
              <a:ext cx="2339426" cy="584200"/>
            </a:xfrm>
            <a:prstGeom prst="roundRect">
              <a:avLst>
                <a:gd name="adj" fmla="val 16667"/>
              </a:avLst>
            </a:prstGeom>
            <a:solidFill>
              <a:srgbClr val="A13F0B"/>
            </a:solidFill>
            <a:ln w="0">
              <a:noFill/>
            </a:ln>
          </p:spPr>
          <p:txBody>
            <a:bodyPr wrap="square" lIns="36000" tIns="18000" rIns="36000" bIns="180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FFFF"/>
                  </a:solidFill>
                </a:rPr>
                <a:t>select_action()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dirty="0">
                  <a:solidFill>
                    <a:srgbClr val="FFCCAA"/>
                  </a:solidFill>
                </a:rPr>
                <a:t>队列空 → 调用 ACT.forward</a:t>
              </a:r>
            </a:p>
          </p:txBody>
        </p:sp>
        <p:sp>
          <p:nvSpPr>
            <p:cNvPr id="125" name="l2-a2"/>
            <p:cNvSpPr/>
            <p:nvPr/>
          </p:nvSpPr>
          <p:spPr>
            <a:xfrm>
              <a:off x="7363963" y="2075023"/>
              <a:ext cx="310935" cy="99715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3F3F3F"/>
            </a:solidFill>
            <a:ln w="0">
              <a:noFill/>
            </a:ln>
          </p:spPr>
          <p:txBody>
            <a:bodyPr/>
            <a:lstStyle/>
            <a:p>
              <a:endParaRPr lang="zh-CN" sz="2800"/>
            </a:p>
          </p:txBody>
        </p:sp>
        <p:sp>
          <p:nvSpPr>
            <p:cNvPr id="126" name="postprocess"/>
            <p:cNvSpPr/>
            <p:nvPr/>
          </p:nvSpPr>
          <p:spPr>
            <a:xfrm>
              <a:off x="7864451" y="1833723"/>
              <a:ext cx="2275624" cy="584200"/>
            </a:xfrm>
            <a:prstGeom prst="roundRect">
              <a:avLst>
                <a:gd name="adj" fmla="val 16667"/>
              </a:avLst>
            </a:prstGeom>
            <a:solidFill>
              <a:srgbClr val="3F3F3F"/>
            </a:solidFill>
            <a:ln w="0">
              <a:noFill/>
            </a:ln>
          </p:spPr>
          <p:txBody>
            <a:bodyPr wrap="square" lIns="36000" tIns="18000" rIns="36000" bIns="1800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后处理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dirty="0">
                  <a:solidFill>
                    <a:srgbClr val="CCCCCC"/>
                  </a:solidFill>
                </a:rPr>
                <a:t>反归一化</a:t>
              </a:r>
              <a:r>
                <a:rPr lang="en-US" altLang="zh-CN" sz="1050" dirty="0">
                  <a:solidFill>
                    <a:srgbClr val="CCCCCC"/>
                  </a:solidFill>
                </a:rPr>
                <a:t>/</a:t>
              </a:r>
              <a:r>
                <a:rPr lang="zh-CN" altLang="en-US" sz="1050" dirty="0">
                  <a:solidFill>
                    <a:srgbClr val="CCCCCC"/>
                  </a:solidFill>
                </a:rPr>
                <a:t>再</a:t>
              </a:r>
              <a:r>
                <a:rPr lang="en-US" altLang="zh-CN" sz="1050" dirty="0">
                  <a:solidFill>
                    <a:srgbClr val="CCCCCC"/>
                  </a:solidFill>
                </a:rPr>
                <a:t>-&gt;</a:t>
              </a:r>
              <a:r>
                <a:rPr lang="en-US" altLang="zh-CN" sz="1050" dirty="0" err="1">
                  <a:solidFill>
                    <a:srgbClr val="CCCCCC"/>
                  </a:solidFill>
                </a:rPr>
                <a:t>numpy</a:t>
              </a:r>
              <a:endParaRPr lang="zh-CN" altLang="en-US" sz="1050" dirty="0">
                <a:solidFill>
                  <a:srgbClr val="CCCCCC"/>
                </a:solidFill>
              </a:endParaRPr>
            </a:p>
          </p:txBody>
        </p:sp>
        <p:sp>
          <p:nvSpPr>
            <p:cNvPr id="200" name="band3"/>
            <p:cNvSpPr/>
            <p:nvPr/>
          </p:nvSpPr>
          <p:spPr>
            <a:xfrm>
              <a:off x="1585463" y="2557623"/>
              <a:ext cx="8911087" cy="3500496"/>
            </a:xfrm>
            <a:prstGeom prst="roundRect">
              <a:avLst>
                <a:gd name="adj" fmla="val 5000"/>
              </a:avLst>
            </a:prstGeom>
            <a:solidFill>
              <a:srgbClr val="FFF8F4"/>
            </a:solidFill>
            <a:ln w="19050">
              <a:solidFill>
                <a:srgbClr val="A13F0B"/>
              </a:solidFill>
            </a:ln>
          </p:spPr>
          <p:txBody>
            <a:bodyPr/>
            <a:lstStyle/>
            <a:p>
              <a:endParaRPr lang="zh-CN" sz="2800"/>
            </a:p>
          </p:txBody>
        </p:sp>
        <p:sp>
          <p:nvSpPr>
            <p:cNvPr id="201" name="l3-title"/>
            <p:cNvSpPr/>
            <p:nvPr/>
          </p:nvSpPr>
          <p:spPr>
            <a:xfrm>
              <a:off x="1674363" y="2570323"/>
              <a:ext cx="25400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36000" tIns="0" rIns="0" bIns="0" anchor="t"/>
            <a:lstStyle/>
            <a:p>
              <a:pPr algn="l"/>
              <a:r>
                <a:rPr lang="en-US" altLang="zh-CN" sz="1200" b="1" dirty="0">
                  <a:solidFill>
                    <a:srgbClr val="A13F0B"/>
                  </a:solidFill>
                </a:rPr>
                <a:t>ACT.forward()</a:t>
              </a:r>
            </a:p>
          </p:txBody>
        </p:sp>
        <p:sp>
          <p:nvSpPr>
            <p:cNvPr id="202" name="l3-input"/>
            <p:cNvSpPr/>
            <p:nvPr/>
          </p:nvSpPr>
          <p:spPr>
            <a:xfrm>
              <a:off x="3699266" y="2640173"/>
              <a:ext cx="66040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/>
            <a:lstStyle/>
            <a:p>
              <a:pPr algn="r"/>
              <a:r>
                <a:rPr lang="zh-CN" altLang="en-US" sz="1100" dirty="0">
                  <a:solidFill>
                    <a:srgbClr val="888888"/>
                  </a:solidFill>
                </a:rPr>
                <a:t>输入  state: (1,6)   images: 2 × (1,3,360,640)</a:t>
              </a:r>
            </a:p>
          </p:txBody>
        </p:sp>
        <p:sp>
          <p:nvSpPr>
            <p:cNvPr id="210" name="mod-latent"/>
            <p:cNvSpPr/>
            <p:nvPr/>
          </p:nvSpPr>
          <p:spPr>
            <a:xfrm>
              <a:off x="1712463" y="2862423"/>
              <a:ext cx="1930400" cy="1143000"/>
            </a:xfrm>
            <a:prstGeom prst="roundRect">
              <a:avLst>
                <a:gd name="adj" fmla="val 10000"/>
              </a:avLst>
            </a:prstGeom>
            <a:solidFill>
              <a:srgbClr val="5A6A6F"/>
            </a:solidFill>
            <a:ln w="0">
              <a:noFill/>
            </a:ln>
          </p:spPr>
          <p:txBody>
            <a:bodyPr wrap="square" lIns="45000" tIns="27000" rIns="45000" bIns="27000" anchor="t"/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① Latent 分支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rgbClr val="DDDDDD"/>
                  </a:solidFill>
                </a:rPr>
                <a:t>latent = 0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rgbClr val="DDDDDD"/>
                  </a:solidFill>
                </a:rPr>
                <a:t>VAE enc </a:t>
              </a:r>
              <a:r>
                <a:rPr lang="zh-CN" altLang="en-US" sz="1050" dirty="0">
                  <a:solidFill>
                    <a:srgbClr val="DDDDDD"/>
                  </a:solidFill>
                </a:rPr>
                <a:t>不运行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dirty="0">
                  <a:solidFill>
                    <a:srgbClr val="DDDDDD"/>
                  </a:solidFill>
                </a:rPr>
                <a:t>投影到 512 维</a:t>
              </a:r>
            </a:p>
          </p:txBody>
        </p:sp>
        <p:sp>
          <p:nvSpPr>
            <p:cNvPr id="211" name="mod-state"/>
            <p:cNvSpPr/>
            <p:nvPr/>
          </p:nvSpPr>
          <p:spPr>
            <a:xfrm>
              <a:off x="3769863" y="2862423"/>
              <a:ext cx="1930400" cy="1143000"/>
            </a:xfrm>
            <a:prstGeom prst="roundRect">
              <a:avLst>
                <a:gd name="adj" fmla="val 10000"/>
              </a:avLst>
            </a:prstGeom>
            <a:solidFill>
              <a:srgbClr val="3F3F3F"/>
            </a:solidFill>
            <a:ln w="0">
              <a:noFill/>
            </a:ln>
          </p:spPr>
          <p:txBody>
            <a:bodyPr wrap="square" lIns="45000" tIns="27000" rIns="45000" bIns="27000" anchor="t"/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② State 分支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rgbClr val="DDDDDD"/>
                  </a:solidFill>
                </a:rPr>
                <a:t>state (1,6)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rgbClr val="DDDDDD"/>
                  </a:solidFill>
                </a:rPr>
                <a:t>  → Linear </a:t>
              </a:r>
              <a:r>
                <a:rPr lang="zh-CN" altLang="en-US" sz="1050" dirty="0">
                  <a:solidFill>
                    <a:srgbClr val="DDDDDD"/>
                  </a:solidFill>
                </a:rPr>
                <a:t>投影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rgbClr val="DDDDDD"/>
                  </a:solidFill>
                </a:rPr>
                <a:t>  → state token (512</a:t>
              </a:r>
              <a:r>
                <a:rPr lang="zh-CN" altLang="en-US" sz="1050" dirty="0">
                  <a:solidFill>
                    <a:srgbClr val="DDDDDD"/>
                  </a:solidFill>
                </a:rPr>
                <a:t>维</a:t>
              </a:r>
              <a:r>
                <a:rPr lang="en-US" altLang="zh-CN" sz="1050" dirty="0">
                  <a:solidFill>
                    <a:srgbClr val="DDDDDD"/>
                  </a:solidFill>
                </a:rPr>
                <a:t>)</a:t>
              </a:r>
            </a:p>
          </p:txBody>
        </p:sp>
        <p:sp>
          <p:nvSpPr>
            <p:cNvPr id="212" name="mod-image"/>
            <p:cNvSpPr/>
            <p:nvPr/>
          </p:nvSpPr>
          <p:spPr>
            <a:xfrm>
              <a:off x="5827263" y="2862423"/>
              <a:ext cx="3175000" cy="1143000"/>
            </a:xfrm>
            <a:prstGeom prst="roundRect">
              <a:avLst>
                <a:gd name="adj" fmla="val 10000"/>
              </a:avLst>
            </a:prstGeom>
            <a:solidFill>
              <a:srgbClr val="A13F0B"/>
            </a:solidFill>
            <a:ln w="19050">
              <a:solidFill>
                <a:srgbClr val="D4652E"/>
              </a:solidFill>
            </a:ln>
          </p:spPr>
          <p:txBody>
            <a:bodyPr wrap="square" lIns="45000" tIns="27000" rIns="45000" bIns="27000" anchor="t"/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③ 图像分支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dirty="0">
                  <a:solidFill>
                    <a:srgbClr val="FFE0CC"/>
                  </a:solidFill>
                </a:rPr>
                <a:t>两路图像 → ResNet18 layer4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dirty="0">
                  <a:solidFill>
                    <a:srgbClr val="FFE0CC"/>
                  </a:solidFill>
                </a:rPr>
                <a:t>每路输出 (1,512,12,20)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dirty="0">
                  <a:solidFill>
                    <a:srgbClr val="FFE0CC"/>
                  </a:solidFill>
                </a:rPr>
                <a:t>两路共 </a:t>
              </a:r>
              <a:r>
                <a:rPr lang="en-US" altLang="zh-CN" sz="1050" b="1" dirty="0">
                  <a:solidFill>
                    <a:srgbClr val="FFFFFF"/>
                  </a:solidFill>
                </a:rPr>
                <a:t>480</a:t>
              </a:r>
              <a:r>
                <a:rPr lang="zh-CN" altLang="en-US" sz="1050" dirty="0">
                  <a:solidFill>
                    <a:srgbClr val="FFE0CC"/>
                  </a:solidFill>
                </a:rPr>
                <a:t> 个视觉 token + 2D pos enc + 1×1 投影</a:t>
              </a:r>
            </a:p>
          </p:txBody>
        </p:sp>
        <p:sp>
          <p:nvSpPr>
            <p:cNvPr id="220" name="a-lat"/>
            <p:cNvSpPr/>
            <p:nvPr/>
          </p:nvSpPr>
          <p:spPr>
            <a:xfrm rot="5400000">
              <a:off x="2598288" y="3983198"/>
              <a:ext cx="158750" cy="10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5A6A6F"/>
            </a:solidFill>
            <a:ln w="0">
              <a:noFill/>
            </a:ln>
          </p:spPr>
          <p:txBody>
            <a:bodyPr/>
            <a:lstStyle/>
            <a:p>
              <a:endParaRPr lang="zh-CN" sz="2800"/>
            </a:p>
          </p:txBody>
        </p:sp>
        <p:sp>
          <p:nvSpPr>
            <p:cNvPr id="221" name="a-st"/>
            <p:cNvSpPr/>
            <p:nvPr/>
          </p:nvSpPr>
          <p:spPr>
            <a:xfrm rot="5400000">
              <a:off x="4655688" y="3983198"/>
              <a:ext cx="158750" cy="10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3F3F3F"/>
            </a:solidFill>
            <a:ln w="0">
              <a:noFill/>
            </a:ln>
          </p:spPr>
          <p:txBody>
            <a:bodyPr/>
            <a:lstStyle/>
            <a:p>
              <a:endParaRPr lang="zh-CN" sz="2800"/>
            </a:p>
          </p:txBody>
        </p:sp>
        <p:sp>
          <p:nvSpPr>
            <p:cNvPr id="222" name="a-img"/>
            <p:cNvSpPr/>
            <p:nvPr/>
          </p:nvSpPr>
          <p:spPr>
            <a:xfrm rot="5400000">
              <a:off x="7335388" y="3983198"/>
              <a:ext cx="158750" cy="10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3F0B"/>
            </a:solidFill>
            <a:ln w="0">
              <a:noFill/>
            </a:ln>
          </p:spPr>
          <p:txBody>
            <a:bodyPr/>
            <a:lstStyle/>
            <a:p>
              <a:endParaRPr lang="zh-CN" sz="2800"/>
            </a:p>
          </p:txBody>
        </p:sp>
        <p:sp>
          <p:nvSpPr>
            <p:cNvPr id="230" name="mod-transformer"/>
            <p:cNvSpPr/>
            <p:nvPr/>
          </p:nvSpPr>
          <p:spPr>
            <a:xfrm>
              <a:off x="1701350" y="4138773"/>
              <a:ext cx="8542169" cy="825500"/>
            </a:xfrm>
            <a:prstGeom prst="roundRect">
              <a:avLst>
                <a:gd name="adj" fmla="val 8000"/>
              </a:avLst>
            </a:prstGeom>
            <a:solidFill>
              <a:srgbClr val="006C39"/>
            </a:solidFill>
            <a:ln w="0">
              <a:noFill/>
            </a:ln>
          </p:spPr>
          <p:txBody>
            <a:bodyPr wrap="square" lIns="54000" tIns="27000" rIns="54000" bIns="27000" anchor="t"/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④ Transformer 编码 / 解码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solidFill>
                    <a:srgbClr val="C8E6D5"/>
                  </a:solidFill>
                </a:rPr>
                <a:t>1 latent + 1 state + 480 image = </a:t>
              </a:r>
              <a:r>
                <a:rPr lang="en-US" altLang="zh-CN" sz="1100" b="1" dirty="0">
                  <a:solidFill>
                    <a:srgbClr val="FFFFFF"/>
                  </a:solidFill>
                </a:rPr>
                <a:t>482 tokens</a:t>
              </a:r>
              <a:r>
                <a:rPr lang="zh-CN" altLang="en-US" sz="1100" dirty="0">
                  <a:solidFill>
                    <a:srgbClr val="C8E6D5"/>
                  </a:solidFill>
                </a:rPr>
                <a:t>，每个 512 维</a:t>
              </a:r>
            </a:p>
            <a:p>
              <a:pPr algn="ctr"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100" dirty="0">
                  <a:solidFill>
                    <a:srgbClr val="C8E6D5"/>
                  </a:solidFill>
                </a:rPr>
                <a:t>→ Encoder ×4   → Decoder ×1</a:t>
              </a:r>
              <a:r>
                <a:rPr lang="zh-CN" altLang="en-US" sz="1100" dirty="0">
                  <a:solidFill>
                    <a:srgbClr val="C8E6D5"/>
                  </a:solidFill>
                </a:rPr>
                <a:t>（100 个 action query）</a:t>
              </a:r>
            </a:p>
          </p:txBody>
        </p:sp>
        <p:sp>
          <p:nvSpPr>
            <p:cNvPr id="231" name="tok-latent"/>
            <p:cNvSpPr/>
            <p:nvPr/>
          </p:nvSpPr>
          <p:spPr>
            <a:xfrm>
              <a:off x="2123176" y="4990152"/>
              <a:ext cx="4118139" cy="2154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36000" tIns="0" rIns="36000" bIns="0" anchor="t"/>
            <a:lstStyle/>
            <a:p>
              <a:pPr algn="ctr"/>
              <a:r>
                <a:rPr lang="zh-CN" altLang="en-US" sz="1050" dirty="0">
                  <a:solidFill>
                    <a:srgbClr val="888888"/>
                  </a:solidFill>
                </a:rPr>
                <a:t>拼接顺序：[latent_token, state_token, 480 × image_tokens]</a:t>
              </a:r>
            </a:p>
          </p:txBody>
        </p:sp>
        <p:sp>
          <p:nvSpPr>
            <p:cNvPr id="232" name="a-tf-out"/>
            <p:cNvSpPr/>
            <p:nvPr/>
          </p:nvSpPr>
          <p:spPr>
            <a:xfrm rot="5400000">
              <a:off x="6443881" y="5021088"/>
              <a:ext cx="177800" cy="7686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6C39"/>
            </a:solidFill>
            <a:ln w="0">
              <a:noFill/>
            </a:ln>
          </p:spPr>
          <p:txBody>
            <a:bodyPr/>
            <a:lstStyle/>
            <a:p>
              <a:endParaRPr lang="zh-CN" sz="2800"/>
            </a:p>
          </p:txBody>
        </p:sp>
        <p:sp>
          <p:nvSpPr>
            <p:cNvPr id="240" name="mod-output"/>
            <p:cNvSpPr/>
            <p:nvPr/>
          </p:nvSpPr>
          <p:spPr>
            <a:xfrm>
              <a:off x="1695020" y="5209113"/>
              <a:ext cx="8542169" cy="648758"/>
            </a:xfrm>
            <a:prstGeom prst="roundRect">
              <a:avLst>
                <a:gd name="adj" fmla="val 10000"/>
              </a:avLst>
            </a:prstGeom>
            <a:solidFill>
              <a:srgbClr val="3F3F3F"/>
            </a:solidFill>
            <a:ln w="0">
              <a:noFill/>
            </a:ln>
          </p:spPr>
          <p:txBody>
            <a:bodyPr wrap="square" lIns="54000" tIns="27000" rIns="54000" bIns="27000" anchor="t"/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⑤ 动作输出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solidFill>
                    <a:srgbClr val="CCCCCC"/>
                  </a:solidFill>
                </a:rPr>
                <a:t>action head → </a:t>
              </a:r>
              <a:r>
                <a:rPr lang="en-US" altLang="zh-CN" sz="1100" b="1" dirty="0">
                  <a:solidFill>
                    <a:srgbClr val="FFFFFF"/>
                  </a:solidFill>
                </a:rPr>
                <a:t>(1, 100, 6)</a:t>
              </a:r>
              <a:r>
                <a:rPr lang="zh-CN" altLang="en-US" sz="1100" dirty="0">
                  <a:solidFill>
                    <a:srgbClr val="CCCCCC"/>
                  </a:solidFill>
                </a:rPr>
                <a:t>    100 = chunk_size    6 = action_dim    取当前 1 帧</a:t>
              </a:r>
            </a:p>
          </p:txBody>
        </p:sp>
        <p:cxnSp>
          <p:nvCxnSpPr>
            <p:cNvPr id="250" name="a-select-fwd"/>
            <p:cNvCxnSpPr>
              <a:cxnSpLocks/>
              <a:stCxn id="124" idx="2"/>
              <a:endCxn id="200" idx="0"/>
            </p:cNvCxnSpPr>
            <p:nvPr/>
          </p:nvCxnSpPr>
          <p:spPr>
            <a:xfrm>
              <a:off x="5982431" y="2427448"/>
              <a:ext cx="58576" cy="130175"/>
            </a:xfrm>
            <a:prstGeom prst="line">
              <a:avLst/>
            </a:prstGeom>
            <a:ln w="19050">
              <a:solidFill>
                <a:srgbClr val="A13F0B"/>
              </a:solidFill>
              <a:prstDash val="dash"/>
              <a:tailEnd type="triangle" w="med" len="med"/>
            </a:ln>
          </p:spPr>
        </p:cxnSp>
        <p:sp>
          <p:nvSpPr>
            <p:cNvPr id="251" name="lbl-call-fwd"/>
            <p:cNvSpPr/>
            <p:nvPr/>
          </p:nvSpPr>
          <p:spPr>
            <a:xfrm>
              <a:off x="4691649" y="2563973"/>
              <a:ext cx="1382388" cy="177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/>
              <a:r>
                <a:rPr lang="zh-CN" altLang="en-US" sz="1050" dirty="0">
                  <a:solidFill>
                    <a:srgbClr val="A13F0B"/>
                  </a:solidFill>
                </a:rPr>
                <a:t>队列空时调用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435820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6627E43-8C13-E41F-8B97-5C17C9474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1C8359-0F61-5B45-26D2-BDEBD5E75C2D}"/>
              </a:ext>
            </a:extLst>
          </p:cNvPr>
          <p:cNvSpPr txBox="1"/>
          <p:nvPr/>
        </p:nvSpPr>
        <p:spPr>
          <a:xfrm>
            <a:off x="1606550" y="254000"/>
            <a:ext cx="8890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altLang="zh-CN" sz="2400" b="1" dirty="0" err="1">
                <a:solidFill>
                  <a:schemeClr val="tx1"/>
                </a:solidFill>
              </a:rPr>
              <a:t>Lerobot</a:t>
            </a:r>
            <a:r>
              <a:rPr lang="zh-CN" altLang="en-US" sz="2400" b="1" dirty="0">
                <a:solidFill>
                  <a:schemeClr val="tx1"/>
                </a:solidFill>
              </a:rPr>
              <a:t>内舵机读写链路</a:t>
            </a:r>
          </a:p>
        </p:txBody>
      </p:sp>
      <p:sp>
        <p:nvSpPr>
          <p:cNvPr id="101" name="RL"/>
          <p:cNvSpPr/>
          <p:nvPr/>
        </p:nvSpPr>
        <p:spPr>
          <a:xfrm>
            <a:off x="1106556" y="1121692"/>
            <a:ext cx="7575372" cy="433561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 w="12700">
            <a:solidFill>
              <a:srgbClr val="2D2D2D"/>
            </a:solidFill>
          </a:ln>
        </p:spPr>
        <p:txBody>
          <a:bodyPr lIns="101600" tIns="25400" rIns="101600" bIns="25400" anchor="ctr"/>
          <a:lstStyle/>
          <a:p>
            <a:pPr algn="ctr">
              <a:buNone/>
            </a:pPr>
            <a:r>
              <a:rPr lang="en-US" b="1" dirty="0">
                <a:solidFill>
                  <a:srgbClr val="2D2D2D"/>
                </a:solidFill>
                <a:latin typeface="Consolas"/>
              </a:rPr>
              <a:t>record_loop()</a:t>
            </a:r>
            <a:r>
              <a:rPr lang="en-US" sz="1400" dirty="0">
                <a:solidFill>
                  <a:srgbClr val="777777"/>
                </a:solidFill>
                <a:latin typeface="Consolas"/>
              </a:rPr>
              <a:t>  record.py</a:t>
            </a:r>
          </a:p>
        </p:txBody>
      </p:sp>
      <p:sp>
        <p:nvSpPr>
          <p:cNvPr id="102" name="RobotBig"/>
          <p:cNvSpPr/>
          <p:nvPr/>
        </p:nvSpPr>
        <p:spPr>
          <a:xfrm>
            <a:off x="1106556" y="1606989"/>
            <a:ext cx="7575372" cy="1220933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006C39"/>
            </a:solidFill>
          </a:ln>
        </p:spPr>
        <p:txBody>
          <a:bodyPr lIns="127000" tIns="50800" rIns="127000" bIns="50800" anchor="t"/>
          <a:lstStyle/>
          <a:p>
            <a:pPr algn="l">
              <a:buNone/>
            </a:pPr>
            <a:r>
              <a:rPr lang="en-US" sz="1600" b="1" dirty="0">
                <a:solidFill>
                  <a:srgbClr val="006C39"/>
                </a:solidFill>
                <a:latin typeface="Consolas"/>
              </a:rPr>
              <a:t>Robot</a:t>
            </a:r>
            <a:r>
              <a:rPr lang="en-US" sz="1100" dirty="0">
                <a:solidFill>
                  <a:srgbClr val="777777"/>
                </a:solidFill>
              </a:rPr>
              <a:t>  (</a:t>
            </a:r>
            <a:r>
              <a:rPr lang="en-US" sz="1100" dirty="0" err="1">
                <a:solidFill>
                  <a:srgbClr val="777777"/>
                </a:solidFill>
              </a:rPr>
              <a:t>ManipulatorRobot</a:t>
            </a:r>
            <a:r>
              <a:rPr lang="en-US" sz="1100" dirty="0">
                <a:solidFill>
                  <a:srgbClr val="777777"/>
                </a:solidFill>
              </a:rPr>
              <a:t>)</a:t>
            </a:r>
            <a:r>
              <a:rPr lang="zh-CN" altLang="en-US" sz="1100" dirty="0">
                <a:solidFill>
                  <a:srgbClr val="777777"/>
                </a:solidFill>
              </a:rPr>
              <a:t>    </a:t>
            </a:r>
            <a:r>
              <a:rPr lang="en-US" sz="1100" dirty="0" err="1">
                <a:solidFill>
                  <a:srgbClr val="777777"/>
                </a:solidFill>
              </a:rPr>
              <a:t>抽象类</a:t>
            </a:r>
            <a:endParaRPr lang="en-US" sz="1100" dirty="0">
              <a:solidFill>
                <a:srgbClr val="777777"/>
              </a:solidFill>
            </a:endParaRPr>
          </a:p>
        </p:txBody>
      </p:sp>
      <p:sp>
        <p:nvSpPr>
          <p:cNvPr id="103" name="SO101"/>
          <p:cNvSpPr/>
          <p:nvPr/>
        </p:nvSpPr>
        <p:spPr>
          <a:xfrm>
            <a:off x="1424057" y="1900806"/>
            <a:ext cx="7124458" cy="870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6C39"/>
            </a:solidFill>
            <a:prstDash val="dash"/>
          </a:ln>
        </p:spPr>
        <p:txBody>
          <a:bodyPr lIns="127000" tIns="50800" rIns="127000" bIns="50800" anchor="t"/>
          <a:lstStyle/>
          <a:p>
            <a:r>
              <a:rPr lang="en-US" sz="1400" b="1" dirty="0">
                <a:solidFill>
                  <a:srgbClr val="006C39"/>
                </a:solidFill>
                <a:latin typeface="Consolas"/>
              </a:rPr>
              <a:t>SO101Follower</a:t>
            </a:r>
            <a:r>
              <a:rPr lang="en-US" sz="1050" dirty="0">
                <a:solidFill>
                  <a:srgbClr val="777777"/>
                </a:solidFill>
                <a:latin typeface="Consolas"/>
              </a:rPr>
              <a:t>  so101_follower.py</a:t>
            </a:r>
            <a:r>
              <a:rPr lang="zh-CN" altLang="en-US" sz="1050" dirty="0">
                <a:solidFill>
                  <a:srgbClr val="777777"/>
                </a:solidFill>
                <a:latin typeface="Consolas"/>
              </a:rPr>
              <a:t>  子类</a:t>
            </a:r>
            <a:endParaRPr lang="en-US" sz="1050" dirty="0">
              <a:solidFill>
                <a:srgbClr val="777777"/>
              </a:solidFill>
              <a:latin typeface="Consolas"/>
            </a:endParaRPr>
          </a:p>
        </p:txBody>
      </p:sp>
      <p:sp>
        <p:nvSpPr>
          <p:cNvPr id="104" name="GetObs"/>
          <p:cNvSpPr/>
          <p:nvPr/>
        </p:nvSpPr>
        <p:spPr>
          <a:xfrm>
            <a:off x="1678057" y="2155492"/>
            <a:ext cx="3066222" cy="560969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9525">
            <a:solidFill>
              <a:srgbClr val="006C39"/>
            </a:solidFill>
          </a:ln>
        </p:spPr>
        <p:txBody>
          <a:bodyPr lIns="101600" tIns="50800" rIns="101600" bIns="50800" anchor="ctr"/>
          <a:lstStyle/>
          <a:p>
            <a:pPr algn="ctr">
              <a:buNone/>
            </a:pPr>
            <a:r>
              <a:rPr lang="en-US" sz="1600" b="1" dirty="0" err="1">
                <a:solidFill>
                  <a:srgbClr val="006C39"/>
                </a:solidFill>
                <a:latin typeface="Consolas"/>
              </a:rPr>
              <a:t>get_observation</a:t>
            </a:r>
            <a:r>
              <a:rPr lang="en-US" sz="1600" b="1" dirty="0">
                <a:solidFill>
                  <a:srgbClr val="006C39"/>
                </a:solidFill>
                <a:latin typeface="Consolas"/>
              </a:rPr>
              <a:t>()</a:t>
            </a:r>
          </a:p>
        </p:txBody>
      </p:sp>
      <p:sp>
        <p:nvSpPr>
          <p:cNvPr id="105" name="SendAct"/>
          <p:cNvSpPr/>
          <p:nvPr/>
        </p:nvSpPr>
        <p:spPr>
          <a:xfrm>
            <a:off x="5061780" y="2155492"/>
            <a:ext cx="3066222" cy="560969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9525">
            <a:solidFill>
              <a:srgbClr val="A13F0B"/>
            </a:solidFill>
          </a:ln>
        </p:spPr>
        <p:txBody>
          <a:bodyPr lIns="101600" tIns="50800" rIns="101600" bIns="50800" anchor="ctr"/>
          <a:lstStyle/>
          <a:p>
            <a:pPr algn="ctr">
              <a:buNone/>
            </a:pPr>
            <a:r>
              <a:rPr lang="en-US" sz="1600" b="1" dirty="0" err="1">
                <a:solidFill>
                  <a:srgbClr val="A13F0B"/>
                </a:solidFill>
                <a:latin typeface="Consolas"/>
              </a:rPr>
              <a:t>send_action</a:t>
            </a:r>
            <a:r>
              <a:rPr lang="en-US" sz="1600" b="1" dirty="0">
                <a:solidFill>
                  <a:srgbClr val="A13F0B"/>
                </a:solidFill>
                <a:latin typeface="Consolas"/>
              </a:rPr>
              <a:t>()</a:t>
            </a:r>
          </a:p>
        </p:txBody>
      </p:sp>
      <p:cxnSp>
        <p:nvCxnSpPr>
          <p:cNvPr id="106" name="Arr1"/>
          <p:cNvCxnSpPr>
            <a:cxnSpLocks/>
          </p:cNvCxnSpPr>
          <p:nvPr/>
        </p:nvCxnSpPr>
        <p:spPr>
          <a:xfrm flipV="1">
            <a:off x="6453255" y="3213241"/>
            <a:ext cx="0" cy="2368"/>
          </a:xfrm>
          <a:prstGeom prst="line">
            <a:avLst/>
          </a:prstGeom>
          <a:ln w="19050">
            <a:solidFill>
              <a:srgbClr val="2D2D2D"/>
            </a:solidFill>
            <a:tailEnd type="triangle" w="med" len="med"/>
          </a:ln>
        </p:spPr>
      </p:cxnSp>
      <p:sp>
        <p:nvSpPr>
          <p:cNvPr id="107" name="MBBig"/>
          <p:cNvSpPr/>
          <p:nvPr/>
        </p:nvSpPr>
        <p:spPr>
          <a:xfrm>
            <a:off x="1106556" y="2971147"/>
            <a:ext cx="7575372" cy="172515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9050">
            <a:solidFill>
              <a:srgbClr val="1565C0"/>
            </a:solidFill>
          </a:ln>
        </p:spPr>
        <p:txBody>
          <a:bodyPr lIns="127000" tIns="50800" rIns="127000" bIns="50800" anchor="t"/>
          <a:lstStyle/>
          <a:p>
            <a:r>
              <a:rPr lang="en-US" b="1" dirty="0">
                <a:solidFill>
                  <a:srgbClr val="1565C0"/>
                </a:solidFill>
                <a:latin typeface="Consolas"/>
              </a:rPr>
              <a:t>MotorsBus</a:t>
            </a:r>
            <a:r>
              <a:rPr lang="en-US" sz="1200" dirty="0">
                <a:solidFill>
                  <a:srgbClr val="777777"/>
                </a:solidFill>
              </a:rPr>
              <a:t>  </a:t>
            </a:r>
            <a:r>
              <a:rPr lang="en-US" sz="1200" dirty="0" err="1">
                <a:solidFill>
                  <a:srgbClr val="777777"/>
                </a:solidFill>
              </a:rPr>
              <a:t>motors_bus.py</a:t>
            </a:r>
            <a:r>
              <a:rPr lang="zh-CN" altLang="en-US" sz="1200" dirty="0">
                <a:solidFill>
                  <a:srgbClr val="777777"/>
                </a:solidFill>
              </a:rPr>
              <a:t>     </a:t>
            </a:r>
            <a:r>
              <a:rPr lang="en-US" altLang="zh-CN" sz="1200" dirty="0" err="1">
                <a:solidFill>
                  <a:srgbClr val="777777"/>
                </a:solidFill>
              </a:rPr>
              <a:t>抽象类</a:t>
            </a:r>
            <a:endParaRPr lang="en-US" sz="1200" dirty="0">
              <a:solidFill>
                <a:srgbClr val="777777"/>
              </a:solidFill>
            </a:endParaRPr>
          </a:p>
        </p:txBody>
      </p:sp>
      <p:sp>
        <p:nvSpPr>
          <p:cNvPr id="108" name="Feetech"/>
          <p:cNvSpPr/>
          <p:nvPr/>
        </p:nvSpPr>
        <p:spPr>
          <a:xfrm>
            <a:off x="1424055" y="3326747"/>
            <a:ext cx="7124457" cy="132755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dash"/>
          </a:ln>
        </p:spPr>
        <p:txBody>
          <a:bodyPr lIns="127000" tIns="50800" rIns="127000" bIns="50800" anchor="t"/>
          <a:lstStyle/>
          <a:p>
            <a:pPr algn="l">
              <a:buNone/>
            </a:pPr>
            <a:r>
              <a:rPr lang="en-US" sz="1600" b="1" dirty="0">
                <a:solidFill>
                  <a:srgbClr val="1565C0"/>
                </a:solidFill>
                <a:latin typeface="Consolas"/>
              </a:rPr>
              <a:t>FeetechMotorsBus</a:t>
            </a:r>
            <a:r>
              <a:rPr lang="en-US" sz="1100" dirty="0">
                <a:solidFill>
                  <a:srgbClr val="777777"/>
                </a:solidFill>
                <a:latin typeface="Consolas"/>
              </a:rPr>
              <a:t>  </a:t>
            </a:r>
            <a:r>
              <a:rPr lang="en-US" sz="1100" dirty="0" err="1">
                <a:solidFill>
                  <a:srgbClr val="777777"/>
                </a:solidFill>
                <a:latin typeface="Consolas"/>
              </a:rPr>
              <a:t>feetech.py</a:t>
            </a:r>
            <a:r>
              <a:rPr lang="zh-CN" altLang="en-US" sz="1100" dirty="0">
                <a:solidFill>
                  <a:srgbClr val="777777"/>
                </a:solidFill>
                <a:latin typeface="Consolas"/>
              </a:rPr>
              <a:t> 子类</a:t>
            </a:r>
            <a:endParaRPr lang="en-US" sz="1100" dirty="0">
              <a:solidFill>
                <a:srgbClr val="777777"/>
              </a:solidFill>
              <a:latin typeface="Consolas"/>
            </a:endParaRPr>
          </a:p>
        </p:txBody>
      </p:sp>
      <p:sp>
        <p:nvSpPr>
          <p:cNvPr id="109" name="FtRead"/>
          <p:cNvSpPr/>
          <p:nvPr/>
        </p:nvSpPr>
        <p:spPr>
          <a:xfrm>
            <a:off x="1678055" y="3656947"/>
            <a:ext cx="3066222" cy="8636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9525">
            <a:solidFill>
              <a:srgbClr val="1565C0"/>
            </a:solidFill>
          </a:ln>
        </p:spPr>
        <p:txBody>
          <a:bodyPr lIns="101600" tIns="50800" rIns="101600" bIns="508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onsolas"/>
              </a:rPr>
              <a:t>GroupSyncRead</a:t>
            </a:r>
          </a:p>
          <a:p>
            <a:pPr algn="ctr">
              <a:buNone/>
            </a:pPr>
            <a:r>
              <a:rPr lang="en-US" sz="1050" dirty="0">
                <a:solidFill>
                  <a:srgbClr val="777777"/>
                </a:solidFill>
                <a:latin typeface="Consolas"/>
              </a:rPr>
              <a:t>txRxPacket() + getData()</a:t>
            </a:r>
          </a:p>
          <a:p>
            <a:pPr algn="ctr">
              <a:buNone/>
            </a:pPr>
            <a:r>
              <a:rPr lang="zh-CN" sz="1000" dirty="0">
                <a:solidFill>
                  <a:srgbClr val="777777"/>
                </a:solidFill>
              </a:rPr>
              <a:t>半双工, 6舵机按ID顺序回包</a:t>
            </a:r>
          </a:p>
        </p:txBody>
      </p:sp>
      <p:sp>
        <p:nvSpPr>
          <p:cNvPr id="110" name="FtWrite"/>
          <p:cNvSpPr/>
          <p:nvPr/>
        </p:nvSpPr>
        <p:spPr>
          <a:xfrm>
            <a:off x="5113283" y="3631547"/>
            <a:ext cx="3066222" cy="8636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9525">
            <a:solidFill>
              <a:srgbClr val="A13F0B"/>
            </a:solidFill>
          </a:ln>
        </p:spPr>
        <p:txBody>
          <a:bodyPr lIns="101600" tIns="50800" rIns="101600" bIns="508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A13F0B"/>
                </a:solidFill>
                <a:latin typeface="Consolas"/>
              </a:rPr>
              <a:t>GroupSyncWrite</a:t>
            </a:r>
          </a:p>
          <a:p>
            <a:pPr algn="ctr">
              <a:buNone/>
            </a:pPr>
            <a:r>
              <a:rPr lang="en-US" sz="1050" dirty="0">
                <a:solidFill>
                  <a:srgbClr val="777777"/>
                </a:solidFill>
                <a:latin typeface="Consolas"/>
              </a:rPr>
              <a:t>txPacket()</a:t>
            </a:r>
          </a:p>
          <a:p>
            <a:pPr algn="ctr">
              <a:buNone/>
            </a:pPr>
            <a:r>
              <a:rPr lang="zh-CN" sz="1000" dirty="0">
                <a:solidFill>
                  <a:srgbClr val="777777"/>
                </a:solidFill>
              </a:rPr>
              <a:t>发完即返回, 无回包</a:t>
            </a:r>
          </a:p>
        </p:txBody>
      </p:sp>
      <p:sp>
        <p:nvSpPr>
          <p:cNvPr id="112" name="SCSDK"/>
          <p:cNvSpPr/>
          <p:nvPr/>
        </p:nvSpPr>
        <p:spPr>
          <a:xfrm>
            <a:off x="1106556" y="4807435"/>
            <a:ext cx="7575372" cy="978783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txBody>
          <a:bodyPr lIns="127000" tIns="50800" rIns="127000" bIns="50800" anchor="t"/>
          <a:lstStyle/>
          <a:p>
            <a:pPr algn="l">
              <a:buNone/>
            </a:pPr>
            <a:r>
              <a:rPr lang="en-US" sz="2000" b="1" dirty="0">
                <a:solidFill>
                  <a:srgbClr val="6A1B9A"/>
                </a:solidFill>
                <a:latin typeface="Consolas"/>
              </a:rPr>
              <a:t>scservo_sdk</a:t>
            </a:r>
            <a:r>
              <a:rPr lang="en-US" sz="1400" dirty="0">
                <a:solidFill>
                  <a:srgbClr val="777777"/>
                </a:solidFill>
              </a:rPr>
              <a:t>  PortHandler</a:t>
            </a:r>
          </a:p>
        </p:txBody>
      </p:sp>
      <p:sp>
        <p:nvSpPr>
          <p:cNvPr id="113" name="WP"/>
          <p:cNvSpPr/>
          <p:nvPr/>
        </p:nvSpPr>
        <p:spPr>
          <a:xfrm>
            <a:off x="1678055" y="5215754"/>
            <a:ext cx="2344758" cy="505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txBody>
          <a:bodyPr lIns="76200" tIns="25400" rIns="76200" bIns="254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6A1B9A"/>
                </a:solidFill>
                <a:latin typeface="Consolas"/>
              </a:rPr>
              <a:t>writePort(packet)</a:t>
            </a:r>
          </a:p>
          <a:p>
            <a:pPr algn="ctr">
              <a:buNone/>
            </a:pPr>
            <a:r>
              <a:rPr lang="en-US" sz="1100" dirty="0">
                <a:solidFill>
                  <a:srgbClr val="777777"/>
                </a:solidFill>
                <a:latin typeface="Consolas"/>
              </a:rPr>
              <a:t>→ ser.write()</a:t>
            </a:r>
          </a:p>
        </p:txBody>
      </p:sp>
      <p:sp>
        <p:nvSpPr>
          <p:cNvPr id="114" name="RP"/>
          <p:cNvSpPr/>
          <p:nvPr/>
        </p:nvSpPr>
        <p:spPr>
          <a:xfrm>
            <a:off x="5280876" y="5215754"/>
            <a:ext cx="2344758" cy="505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txBody>
          <a:bodyPr lIns="76200" tIns="25400" rIns="76200" bIns="254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6A1B9A"/>
                </a:solidFill>
                <a:latin typeface="Consolas"/>
              </a:rPr>
              <a:t>readPort(length)</a:t>
            </a:r>
          </a:p>
          <a:p>
            <a:pPr algn="ctr">
              <a:buNone/>
            </a:pPr>
            <a:r>
              <a:rPr lang="en-US" sz="1100" dirty="0">
                <a:solidFill>
                  <a:srgbClr val="777777"/>
                </a:solidFill>
                <a:latin typeface="Consolas"/>
              </a:rPr>
              <a:t>→ ser.read()</a:t>
            </a:r>
          </a:p>
        </p:txBody>
      </p:sp>
    </p:spTree>
    <p:extLst>
      <p:ext uri="{BB962C8B-B14F-4D97-AF65-F5344CB8AC3E}">
        <p14:creationId xmlns:p14="http://schemas.microsoft.com/office/powerpoint/2010/main" val="3118992327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72E94-8E91-B33D-1F83-E69601E2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230418"/>
            <a:ext cx="8643848" cy="258532"/>
          </a:xfrm>
        </p:spPr>
        <p:txBody>
          <a:bodyPr/>
          <a:lstStyle/>
          <a:p>
            <a:r>
              <a:rPr lang="zh-CN" altLang="en-US" sz="1200" b="1" dirty="0">
                <a:solidFill>
                  <a:schemeClr val="tx1"/>
                </a:solidFill>
              </a:rPr>
              <a:t>写链路调用链（序列图）</a:t>
            </a:r>
          </a:p>
        </p:txBody>
      </p:sp>
      <p:sp>
        <p:nvSpPr>
          <p:cNvPr id="260" name="PageNum"/>
          <p:cNvSpPr/>
          <p:nvPr/>
        </p:nvSpPr>
        <p:spPr>
          <a:xfrm>
            <a:off x="355600" y="241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06C39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altLang="zh-CN" sz="3600" b="1" dirty="0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FB7898-EF36-BD17-BCFD-C69F83914D4C}"/>
              </a:ext>
            </a:extLst>
          </p:cNvPr>
          <p:cNvGrpSpPr/>
          <p:nvPr/>
        </p:nvGrpSpPr>
        <p:grpSpPr>
          <a:xfrm>
            <a:off x="344398" y="1041883"/>
            <a:ext cx="11658600" cy="5131566"/>
            <a:chOff x="344398" y="1041883"/>
            <a:chExt cx="11658600" cy="5131566"/>
          </a:xfrm>
        </p:grpSpPr>
        <p:sp>
          <p:nvSpPr>
            <p:cNvPr id="6001" name="B6001"/>
            <p:cNvSpPr/>
            <p:nvPr/>
          </p:nvSpPr>
          <p:spPr>
            <a:xfrm>
              <a:off x="344398" y="1041883"/>
              <a:ext cx="14986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motors_bus.py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电机总线入口</a:t>
              </a:r>
            </a:p>
          </p:txBody>
        </p:sp>
        <p:sp>
          <p:nvSpPr>
            <p:cNvPr id="6002" name="B6002"/>
            <p:cNvSpPr/>
            <p:nvPr/>
          </p:nvSpPr>
          <p:spPr>
            <a:xfrm>
              <a:off x="1995398" y="1041883"/>
              <a:ext cx="16510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motors_bus.py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阶段分发</a:t>
              </a:r>
            </a:p>
          </p:txBody>
        </p:sp>
        <p:sp>
          <p:nvSpPr>
            <p:cNvPr id="6003" name="B6003"/>
            <p:cNvSpPr/>
            <p:nvPr/>
          </p:nvSpPr>
          <p:spPr>
            <a:xfrm>
              <a:off x="3798798" y="1041883"/>
              <a:ext cx="18796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group_sync_write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同步写业务层</a:t>
              </a:r>
            </a:p>
          </p:txBody>
        </p:sp>
        <p:sp>
          <p:nvSpPr>
            <p:cNvPr id="6004" name="B6004"/>
            <p:cNvSpPr/>
            <p:nvPr/>
          </p:nvSpPr>
          <p:spPr>
            <a:xfrm>
              <a:off x="5830798" y="1041883"/>
              <a:ext cx="20066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protocol_handler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协议组包层</a:t>
              </a:r>
            </a:p>
          </p:txBody>
        </p:sp>
        <p:sp>
          <p:nvSpPr>
            <p:cNvPr id="6005" name="B6005"/>
            <p:cNvSpPr/>
            <p:nvPr/>
          </p:nvSpPr>
          <p:spPr>
            <a:xfrm>
              <a:off x="7989798" y="1041883"/>
              <a:ext cx="21082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port_handler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串口物理层</a:t>
              </a:r>
            </a:p>
          </p:txBody>
        </p:sp>
        <p:sp>
          <p:nvSpPr>
            <p:cNvPr id="6006" name="B6006"/>
            <p:cNvSpPr/>
            <p:nvPr/>
          </p:nvSpPr>
          <p:spPr>
            <a:xfrm>
              <a:off x="10250398" y="1041883"/>
              <a:ext cx="17526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ser / kernel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驱动/系统调用</a:t>
              </a:r>
            </a:p>
          </p:txBody>
        </p:sp>
        <p:cxnSp>
          <p:nvCxnSpPr>
            <p:cNvPr id="6007" name="C6007"/>
            <p:cNvCxnSpPr/>
            <p:nvPr/>
          </p:nvCxnSpPr>
          <p:spPr>
            <a:xfrm>
              <a:off x="344398" y="1366272"/>
              <a:ext cx="11658600" cy="0"/>
            </a:xfrm>
            <a:prstGeom prst="line">
              <a:avLst/>
            </a:prstGeom>
            <a:ln w="12700">
              <a:solidFill>
                <a:srgbClr val="DDDDDD"/>
              </a:solidFill>
            </a:ln>
          </p:spPr>
        </p:cxnSp>
        <p:cxnSp>
          <p:nvCxnSpPr>
            <p:cNvPr id="6008" name="C6008"/>
            <p:cNvCxnSpPr/>
            <p:nvPr/>
          </p:nvCxnSpPr>
          <p:spPr>
            <a:xfrm>
              <a:off x="1893798" y="3531849"/>
              <a:ext cx="10109200" cy="0"/>
            </a:xfrm>
            <a:prstGeom prst="line">
              <a:avLst/>
            </a:prstGeom>
            <a:ln w="12700">
              <a:solidFill>
                <a:srgbClr val="D8EED8"/>
              </a:solidFill>
              <a:prstDash val="dash"/>
            </a:ln>
          </p:spPr>
        </p:cxnSp>
        <p:sp>
          <p:nvSpPr>
            <p:cNvPr id="6009" name="B6009"/>
            <p:cNvSpPr/>
            <p:nvPr/>
          </p:nvSpPr>
          <p:spPr>
            <a:xfrm>
              <a:off x="344398" y="1391899"/>
              <a:ext cx="1498600" cy="4781546"/>
            </a:xfrm>
            <a:prstGeom prst="roundRect">
              <a:avLst>
                <a:gd name="adj" fmla="val 3000"/>
              </a:avLst>
            </a:prstGeom>
            <a:solidFill>
              <a:srgbClr val="006C39"/>
            </a:solidFill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FFFF"/>
                  </a:solidFill>
                  <a:latin typeface="Consolas"/>
                  <a:ea typeface="微软雅黑"/>
                </a:rPr>
                <a:t>_sync_write</a:t>
              </a:r>
            </a:p>
            <a:p>
              <a:pPr>
                <a:spcBef>
                  <a:spcPts val="200"/>
                </a:spcBef>
              </a:pPr>
              <a:endParaRPr lang="zh-CN" sz="400" dirty="0"/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D0E8D0"/>
                  </a:solidFill>
                  <a:latin typeface="微软雅黑"/>
                  <a:ea typeface="微软雅黑"/>
                </a:rPr>
                <a:t>addr=42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D0E8D0"/>
                  </a:solidFill>
                  <a:latin typeface="微软雅黑"/>
                  <a:ea typeface="微软雅黑"/>
                </a:rPr>
                <a:t>len=2, ×6电机</a:t>
              </a:r>
            </a:p>
            <a:p>
              <a:pPr>
                <a:spcBef>
                  <a:spcPts val="300"/>
                </a:spcBef>
              </a:pPr>
              <a:endParaRPr lang="zh-CN" sz="400" dirty="0"/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A8D4B8"/>
                  </a:solidFill>
                  <a:latin typeface="微软雅黑"/>
                  <a:ea typeface="微软雅黑"/>
                </a:rPr>
                <a:t>① setup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A8D4B8"/>
                  </a:solidFill>
                  <a:latin typeface="微软雅黑"/>
                  <a:ea typeface="微软雅黑"/>
                </a:rPr>
                <a:t>② txPacket</a:t>
              </a:r>
            </a:p>
          </p:txBody>
        </p:sp>
        <p:sp>
          <p:nvSpPr>
            <p:cNvPr id="6010" name="B6010"/>
            <p:cNvSpPr/>
            <p:nvPr/>
          </p:nvSpPr>
          <p:spPr>
            <a:xfrm>
              <a:off x="1995398" y="1406715"/>
              <a:ext cx="1651000" cy="2074333"/>
            </a:xfrm>
            <a:prstGeom prst="roundRect">
              <a:avLst>
                <a:gd name="adj" fmla="val 4000"/>
              </a:avLst>
            </a:prstGeom>
            <a:solidFill>
              <a:srgbClr val="F0F7F0"/>
            </a:solidFill>
            <a:ln w="9525">
              <a:solidFill>
                <a:srgbClr val="5AA87A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5C2E"/>
                  </a:solidFill>
                  <a:latin typeface="Consolas"/>
                  <a:ea typeface="微软雅黑"/>
                </a:rPr>
                <a:t>① _setup_sync_writer</a:t>
              </a:r>
            </a:p>
            <a:p>
              <a:pPr>
                <a:spcBef>
                  <a:spcPts val="100"/>
                </a:spcBef>
              </a:pPr>
              <a:endParaRPr lang="zh-CN" sz="400" dirty="0"/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606060"/>
                  </a:solidFill>
                  <a:latin typeface="微软雅黑"/>
                  <a:ea typeface="微软雅黑"/>
                </a:rPr>
                <a:t>注册目标值序列化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addr=42  len=2</a:t>
              </a:r>
            </a:p>
          </p:txBody>
        </p:sp>
        <p:cxnSp>
          <p:nvCxnSpPr>
            <p:cNvPr id="6011" name="C6011"/>
            <p:cNvCxnSpPr/>
            <p:nvPr/>
          </p:nvCxnSpPr>
          <p:spPr>
            <a:xfrm>
              <a:off x="1842998" y="22491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12" name="B6012"/>
            <p:cNvSpPr/>
            <p:nvPr/>
          </p:nvSpPr>
          <p:spPr>
            <a:xfrm>
              <a:off x="3798798" y="1397403"/>
              <a:ext cx="1879600" cy="389467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1E1E1E"/>
                  </a:solidFill>
                  <a:latin typeface="Consolas"/>
                  <a:ea typeface="微软雅黑"/>
                </a:rPr>
                <a:t>clearParam()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清除残留</a:t>
              </a:r>
            </a:p>
          </p:txBody>
        </p:sp>
        <p:cxnSp>
          <p:nvCxnSpPr>
            <p:cNvPr id="6013" name="C6013"/>
            <p:cNvCxnSpPr/>
            <p:nvPr/>
          </p:nvCxnSpPr>
          <p:spPr>
            <a:xfrm>
              <a:off x="3646398" y="1619831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14" name="B6014"/>
            <p:cNvSpPr/>
            <p:nvPr/>
          </p:nvSpPr>
          <p:spPr>
            <a:xfrm>
              <a:off x="3798798" y="1906640"/>
              <a:ext cx="1879600" cy="774309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start_address=42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b="1" dirty="0">
                  <a:solidFill>
                    <a:srgbClr val="3A3A3A"/>
                  </a:solidFill>
                  <a:latin typeface="微软雅黑"/>
                  <a:ea typeface="微软雅黑"/>
                </a:rPr>
                <a:t>起始地址 / 长度=2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data_length=2</a:t>
              </a:r>
            </a:p>
          </p:txBody>
        </p:sp>
        <p:cxnSp>
          <p:nvCxnSpPr>
            <p:cNvPr id="6015" name="C6015"/>
            <p:cNvCxnSpPr>
              <a:cxnSpLocks/>
              <a:stCxn id="6012" idx="2"/>
              <a:endCxn id="6014" idx="0"/>
            </p:cNvCxnSpPr>
            <p:nvPr/>
          </p:nvCxnSpPr>
          <p:spPr>
            <a:xfrm>
              <a:off x="4738598" y="1786870"/>
              <a:ext cx="0" cy="11977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16" name="B6016"/>
            <p:cNvSpPr/>
            <p:nvPr/>
          </p:nvSpPr>
          <p:spPr>
            <a:xfrm>
              <a:off x="3798798" y="2782550"/>
              <a:ext cx="1879600" cy="698497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rgbClr val="3A3A3A"/>
                  </a:solidFill>
                  <a:latin typeface="微软雅黑"/>
                  <a:ea typeface="微软雅黑"/>
                </a:rPr>
                <a:t>构建发送数据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addParam(id_, data)</a:t>
              </a:r>
            </a:p>
          </p:txBody>
        </p:sp>
        <p:cxnSp>
          <p:nvCxnSpPr>
            <p:cNvPr id="6017" name="C6017"/>
            <p:cNvCxnSpPr>
              <a:cxnSpLocks/>
              <a:stCxn id="6014" idx="2"/>
              <a:endCxn id="6016" idx="0"/>
            </p:cNvCxnSpPr>
            <p:nvPr/>
          </p:nvCxnSpPr>
          <p:spPr>
            <a:xfrm>
              <a:off x="4738598" y="2680949"/>
              <a:ext cx="0" cy="101601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18" name="B6018"/>
            <p:cNvSpPr/>
            <p:nvPr/>
          </p:nvSpPr>
          <p:spPr>
            <a:xfrm>
              <a:off x="5830798" y="2274550"/>
              <a:ext cx="2006600" cy="1206497"/>
            </a:xfrm>
            <a:prstGeom prst="roundRect">
              <a:avLst>
                <a:gd name="adj" fmla="val 3000"/>
              </a:avLst>
            </a:prstGeom>
            <a:solidFill>
              <a:srgbClr val="FFF8F0"/>
            </a:solidFill>
            <a:ln w="9525">
              <a:solidFill>
                <a:srgbClr val="D4A06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5C3A00"/>
                  </a:solidFill>
                  <a:latin typeface="Consolas"/>
                  <a:ea typeface="微软雅黑"/>
                </a:rPr>
                <a:t>_serialize_data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3A3A3A"/>
                  </a:solidFill>
                  <a:latin typeface="微软雅黑"/>
                  <a:ea typeface="微软雅黑"/>
                </a:rPr>
                <a:t>值1891拆为2字节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B06010"/>
                  </a:solidFill>
                  <a:latin typeface="微软雅黑"/>
                  <a:ea typeface="微软雅黑"/>
                </a:rPr>
                <a:t>低字节: 0x83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B06010"/>
                  </a:solidFill>
                  <a:latin typeface="微软雅黑"/>
                  <a:ea typeface="微软雅黑"/>
                </a:rPr>
                <a:t>高字节: 0x07</a:t>
              </a:r>
            </a:p>
          </p:txBody>
        </p:sp>
        <p:cxnSp>
          <p:nvCxnSpPr>
            <p:cNvPr id="6019" name="C6019"/>
            <p:cNvCxnSpPr>
              <a:cxnSpLocks/>
            </p:cNvCxnSpPr>
            <p:nvPr/>
          </p:nvCxnSpPr>
          <p:spPr>
            <a:xfrm>
              <a:off x="5678398" y="3193052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20" name="B6020"/>
            <p:cNvSpPr/>
            <p:nvPr/>
          </p:nvSpPr>
          <p:spPr>
            <a:xfrm>
              <a:off x="1995398" y="3608049"/>
              <a:ext cx="1651000" cy="2565398"/>
            </a:xfrm>
            <a:prstGeom prst="roundRect">
              <a:avLst>
                <a:gd name="adj" fmla="val 4000"/>
              </a:avLst>
            </a:prstGeom>
            <a:solidFill>
              <a:srgbClr val="F0F7F0"/>
            </a:solidFill>
            <a:ln w="9525">
              <a:solidFill>
                <a:srgbClr val="5AA87A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5C2E"/>
                  </a:solidFill>
                  <a:latin typeface="Consolas"/>
                  <a:ea typeface="微软雅黑"/>
                </a:rPr>
                <a:t>② txPacket()</a:t>
              </a:r>
            </a:p>
            <a:p>
              <a:pPr>
                <a:spcBef>
                  <a:spcPts val="100"/>
                </a:spcBef>
              </a:pPr>
              <a:endParaRPr lang="zh-CN" sz="400" dirty="0"/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606060"/>
                  </a:solidFill>
                  <a:latin typeface="微软雅黑"/>
                  <a:ea typeface="微软雅黑"/>
                </a:rPr>
                <a:t>打包广播写帧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606060"/>
                  </a:solidFill>
                  <a:latin typeface="微软雅黑"/>
                  <a:ea typeface="微软雅黑"/>
                </a:rPr>
                <a:t>广播地址，不等回包</a:t>
              </a:r>
            </a:p>
          </p:txBody>
        </p:sp>
        <p:cxnSp>
          <p:nvCxnSpPr>
            <p:cNvPr id="6021" name="C6021"/>
            <p:cNvCxnSpPr/>
            <p:nvPr/>
          </p:nvCxnSpPr>
          <p:spPr>
            <a:xfrm>
              <a:off x="2820898" y="3481049"/>
              <a:ext cx="0" cy="12700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cxnSp>
          <p:nvCxnSpPr>
            <p:cNvPr id="6022" name="C6022"/>
            <p:cNvCxnSpPr/>
            <p:nvPr/>
          </p:nvCxnSpPr>
          <p:spPr>
            <a:xfrm>
              <a:off x="1842998" y="49669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23" name="B6023"/>
            <p:cNvSpPr/>
            <p:nvPr/>
          </p:nvSpPr>
          <p:spPr>
            <a:xfrm>
              <a:off x="3798798" y="3608049"/>
              <a:ext cx="1879600" cy="9652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1E1E1E"/>
                  </a:solidFill>
                  <a:latin typeface="Consolas"/>
                  <a:ea typeface="微软雅黑"/>
                </a:rPr>
                <a:t>makeParam()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3A3A3A"/>
                  </a:solidFill>
                  <a:latin typeface="微软雅黑"/>
                  <a:ea typeface="微软雅黑"/>
                </a:rPr>
                <a:t>展开 data_dict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[id,lo,hi] × 6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909090"/>
                  </a:solidFill>
                  <a:latin typeface="微软雅黑"/>
                  <a:ea typeface="微软雅黑"/>
                </a:rPr>
                <a:t>共18字节</a:t>
              </a:r>
            </a:p>
          </p:txBody>
        </p:sp>
        <p:cxnSp>
          <p:nvCxnSpPr>
            <p:cNvPr id="6024" name="C6024"/>
            <p:cNvCxnSpPr>
              <a:cxnSpLocks/>
              <a:endCxn id="6023" idx="1"/>
            </p:cNvCxnSpPr>
            <p:nvPr/>
          </p:nvCxnSpPr>
          <p:spPr>
            <a:xfrm>
              <a:off x="3646398" y="40906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25" name="B6025"/>
            <p:cNvSpPr/>
            <p:nvPr/>
          </p:nvSpPr>
          <p:spPr>
            <a:xfrm>
              <a:off x="3798798" y="4674849"/>
              <a:ext cx="1879600" cy="1498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1E1E1E"/>
                  </a:solidFill>
                  <a:latin typeface="Consolas"/>
                  <a:ea typeface="微软雅黑"/>
                </a:rPr>
                <a:t>txRxPacket()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606060"/>
                  </a:solidFill>
                  <a:latin typeface="微软雅黑"/>
                  <a:ea typeface="微软雅黑"/>
                </a:rPr>
                <a:t>加锁 is_using=True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Header: FF FF ×2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计算 checksum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rgbClr val="8B0000"/>
                  </a:solidFill>
                  <a:latin typeface="微软雅黑"/>
                  <a:ea typeface="微软雅黑"/>
                </a:rPr>
                <a:t>广播→不等回包</a:t>
              </a:r>
            </a:p>
          </p:txBody>
        </p:sp>
        <p:cxnSp>
          <p:nvCxnSpPr>
            <p:cNvPr id="6026" name="C6026"/>
            <p:cNvCxnSpPr/>
            <p:nvPr/>
          </p:nvCxnSpPr>
          <p:spPr>
            <a:xfrm>
              <a:off x="4738598" y="4573249"/>
              <a:ext cx="0" cy="10160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27" name="B6027"/>
            <p:cNvSpPr/>
            <p:nvPr/>
          </p:nvSpPr>
          <p:spPr>
            <a:xfrm>
              <a:off x="5830798" y="3608049"/>
              <a:ext cx="2006600" cy="965200"/>
            </a:xfrm>
            <a:prstGeom prst="roundRect">
              <a:avLst>
                <a:gd name="adj" fmla="val 3000"/>
              </a:avLst>
            </a:prstGeom>
            <a:solidFill>
              <a:srgbClr val="FFF8F0"/>
            </a:solidFill>
            <a:ln w="9525">
              <a:solidFill>
                <a:srgbClr val="D4A06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5C3A00"/>
                  </a:solidFill>
                  <a:latin typeface="Consolas"/>
                  <a:ea typeface="微软雅黑"/>
                </a:rPr>
                <a:t>syncWriteTxOnly()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组 SYNC_WRITE 广播帧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ID=0xFE  INST=0x83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addr=0x2A  len=2</a:t>
              </a:r>
            </a:p>
          </p:txBody>
        </p:sp>
        <p:cxnSp>
          <p:nvCxnSpPr>
            <p:cNvPr id="6028" name="C6028"/>
            <p:cNvCxnSpPr>
              <a:cxnSpLocks/>
              <a:stCxn id="6023" idx="3"/>
              <a:endCxn id="6027" idx="1"/>
            </p:cNvCxnSpPr>
            <p:nvPr/>
          </p:nvCxnSpPr>
          <p:spPr>
            <a:xfrm>
              <a:off x="5678398" y="40906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29" name="B6029"/>
            <p:cNvSpPr/>
            <p:nvPr/>
          </p:nvSpPr>
          <p:spPr>
            <a:xfrm>
              <a:off x="5830798" y="4674849"/>
              <a:ext cx="2006600" cy="1498600"/>
            </a:xfrm>
            <a:prstGeom prst="roundRect">
              <a:avLst>
                <a:gd name="adj" fmla="val 3000"/>
              </a:avLst>
            </a:prstGeom>
            <a:solidFill>
              <a:srgbClr val="FFF8F0"/>
            </a:solidFill>
            <a:ln w="9525">
              <a:solidFill>
                <a:srgbClr val="D4A06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5C3A00"/>
                  </a:solidFill>
                  <a:latin typeface="Consolas"/>
                  <a:ea typeface="微软雅黑"/>
                </a:rPr>
                <a:t>ph.txPacket(port,pkt)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共26字节广播写帧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BROADCAST_ID 检测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8B0000"/>
                  </a:solidFill>
                  <a:latin typeface="微软雅黑"/>
                  <a:ea typeface="微软雅黑"/>
                </a:rPr>
                <a:t>释放锁，直接返回</a:t>
              </a:r>
            </a:p>
          </p:txBody>
        </p:sp>
        <p:cxnSp>
          <p:nvCxnSpPr>
            <p:cNvPr id="6031" name="C6031"/>
            <p:cNvCxnSpPr/>
            <p:nvPr/>
          </p:nvCxnSpPr>
          <p:spPr>
            <a:xfrm>
              <a:off x="5678398" y="54241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32" name="B6032"/>
            <p:cNvSpPr/>
            <p:nvPr/>
          </p:nvSpPr>
          <p:spPr>
            <a:xfrm>
              <a:off x="7989798" y="4674849"/>
              <a:ext cx="2108200" cy="1498600"/>
            </a:xfrm>
            <a:prstGeom prst="roundRect">
              <a:avLst>
                <a:gd name="adj" fmla="val 3000"/>
              </a:avLst>
            </a:prstGeom>
            <a:solidFill>
              <a:srgbClr val="F5F5FF"/>
            </a:solidFill>
            <a:ln w="9525">
              <a:solidFill>
                <a:srgbClr val="8080C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18185A"/>
                  </a:solidFill>
                  <a:latin typeface="Consolas"/>
                  <a:ea typeface="微软雅黑"/>
                </a:rPr>
                <a:t>port.writePort(pkt)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4040A0"/>
                  </a:solidFill>
                  <a:latin typeface="微软雅黑"/>
                  <a:ea typeface="微软雅黑"/>
                </a:rPr>
                <a:t>ser.write(pkt)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rgbClr val="2020A0"/>
                  </a:solidFill>
                  <a:latin typeface="微软雅黑"/>
                  <a:ea typeface="微软雅黑"/>
                </a:rPr>
                <a:t>★ 写串口  26字节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8B0000"/>
                  </a:solidFill>
                  <a:latin typeface="微软雅黑"/>
                  <a:ea typeface="微软雅黑"/>
                </a:rPr>
                <a:t>广播帧→无需等回包</a:t>
              </a:r>
            </a:p>
          </p:txBody>
        </p:sp>
        <p:cxnSp>
          <p:nvCxnSpPr>
            <p:cNvPr id="6033" name="C6033"/>
            <p:cNvCxnSpPr/>
            <p:nvPr/>
          </p:nvCxnSpPr>
          <p:spPr>
            <a:xfrm>
              <a:off x="7837398" y="54241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34" name="B6034"/>
            <p:cNvSpPr/>
            <p:nvPr/>
          </p:nvSpPr>
          <p:spPr>
            <a:xfrm>
              <a:off x="10250398" y="4674849"/>
              <a:ext cx="1752600" cy="1498600"/>
            </a:xfrm>
            <a:prstGeom prst="roundRect">
              <a:avLst>
                <a:gd name="adj" fmla="val 3000"/>
              </a:avLst>
            </a:prstGeom>
            <a:solidFill>
              <a:srgbClr val="FFFCF0"/>
            </a:solidFill>
            <a:ln w="14000">
              <a:solidFill>
                <a:srgbClr val="C8902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4A3000"/>
                  </a:solidFill>
                  <a:latin typeface="Consolas"/>
                  <a:ea typeface="微软雅黑"/>
                </a:rPr>
                <a:t>★ ser.write()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b="1" dirty="0">
                  <a:solidFill>
                    <a:srgbClr val="C87000"/>
                  </a:solidFill>
                  <a:latin typeface="微软雅黑"/>
                  <a:ea typeface="微软雅黑"/>
                </a:rPr>
                <a:t>写串口  共26字节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rgbClr val="909090"/>
                  </a:solidFill>
                  <a:latin typeface="微软雅黑"/>
                  <a:ea typeface="微软雅黑"/>
                </a:rPr>
                <a:t>帧头FF×2 | ID=FE(广播)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rgbClr val="909090"/>
                  </a:solidFill>
                  <a:latin typeface="微软雅黑"/>
                  <a:ea typeface="微软雅黑"/>
                </a:rPr>
                <a:t>LEN=22 | 指令0x83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rgbClr val="909090"/>
                  </a:solidFill>
                  <a:latin typeface="微软雅黑"/>
                  <a:ea typeface="微软雅黑"/>
                </a:rPr>
                <a:t>起址+长度(4B)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rgbClr val="909090"/>
                  </a:solidFill>
                  <a:latin typeface="微软雅黑"/>
                  <a:ea typeface="微软雅黑"/>
                </a:rPr>
                <a:t>[ID+lo+hi]×6 (18B)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rgbClr val="909090"/>
                  </a:solidFill>
                  <a:latin typeface="微软雅黑"/>
                  <a:ea typeface="微软雅黑"/>
                </a:rPr>
                <a:t>CS校验(1B)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rgbClr val="8B0000"/>
                  </a:solidFill>
                  <a:latin typeface="微软雅黑"/>
                  <a:ea typeface="微软雅黑"/>
                </a:rPr>
                <a:t>广播→无回包</a:t>
              </a:r>
            </a:p>
          </p:txBody>
        </p:sp>
        <p:cxnSp>
          <p:nvCxnSpPr>
            <p:cNvPr id="6035" name="C6035"/>
            <p:cNvCxnSpPr/>
            <p:nvPr/>
          </p:nvCxnSpPr>
          <p:spPr>
            <a:xfrm>
              <a:off x="10097998" y="54241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36" name="B6036"/>
            <p:cNvSpPr/>
            <p:nvPr/>
          </p:nvSpPr>
          <p:spPr>
            <a:xfrm>
              <a:off x="7989798" y="2672482"/>
              <a:ext cx="4013200" cy="1718733"/>
            </a:xfrm>
            <a:prstGeom prst="roundRect">
              <a:avLst>
                <a:gd name="adj" fmla="val 2000"/>
              </a:avLst>
            </a:prstGeom>
            <a:solidFill>
              <a:srgbClr val="FFFDF5"/>
            </a:solidFill>
            <a:ln w="9525">
              <a:solidFill>
                <a:srgbClr val="C89020"/>
              </a:solidFill>
            </a:ln>
          </p:spPr>
          <p:txBody>
            <a:bodyPr wrap="square" lIns="72000" tIns="36000" rIns="72000" bIns="3600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7A4A00"/>
                  </a:solidFill>
                  <a:latin typeface="Consolas"/>
                  <a:ea typeface="微软雅黑"/>
                </a:rPr>
                <a:t>TX: SYNC_WRITE [0x83]  26 bytes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FF FF  帧头(2B)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FE  广播ID(1B)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16  长度=22(1B)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83  SYNC_WRITE指令(1B)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2A 02  起址0x42，每电机2字节(2B)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[ID+lo+hi]×6  各电机数据(18B)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CS  校验和(1B)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rgbClr val="8B0000"/>
                  </a:solidFill>
                  <a:latin typeface="微软雅黑"/>
                  <a:ea typeface="微软雅黑"/>
                </a:rPr>
                <a:t>BROADCAST广播帧，无需等回包</a:t>
              </a:r>
            </a:p>
          </p:txBody>
        </p:sp>
        <p:cxnSp>
          <p:nvCxnSpPr>
            <p:cNvPr id="6037" name="C6037"/>
            <p:cNvCxnSpPr>
              <a:cxnSpLocks/>
              <a:stCxn id="6036" idx="2"/>
              <a:endCxn id="6032" idx="0"/>
            </p:cNvCxnSpPr>
            <p:nvPr/>
          </p:nvCxnSpPr>
          <p:spPr>
            <a:xfrm flipH="1">
              <a:off x="9043898" y="4391215"/>
              <a:ext cx="952500" cy="283634"/>
            </a:xfrm>
            <a:prstGeom prst="line">
              <a:avLst/>
            </a:prstGeom>
            <a:ln w="12700">
              <a:solidFill>
                <a:srgbClr val="C89020"/>
              </a:solidFill>
              <a:prstDash val="sysDot"/>
              <a:tailEnd type="arrow" w="sm" len="sm"/>
            </a:ln>
          </p:spPr>
        </p:cxnSp>
        <p:cxnSp>
          <p:nvCxnSpPr>
            <p:cNvPr id="6" name="C6037">
              <a:extLst>
                <a:ext uri="{FF2B5EF4-FFF2-40B4-BE49-F238E27FC236}">
                  <a16:creationId xmlns:a16="http://schemas.microsoft.com/office/drawing/2014/main" id="{ED7AFE6F-EBA8-D7F3-B42D-021FD437A248}"/>
                </a:ext>
              </a:extLst>
            </p:cNvPr>
            <p:cNvCxnSpPr>
              <a:cxnSpLocks/>
              <a:stCxn id="6027" idx="3"/>
              <a:endCxn id="6036" idx="1"/>
            </p:cNvCxnSpPr>
            <p:nvPr/>
          </p:nvCxnSpPr>
          <p:spPr>
            <a:xfrm flipV="1">
              <a:off x="7837398" y="3531849"/>
              <a:ext cx="152400" cy="558800"/>
            </a:xfrm>
            <a:prstGeom prst="line">
              <a:avLst/>
            </a:prstGeom>
            <a:ln w="12700">
              <a:solidFill>
                <a:srgbClr val="C89020"/>
              </a:solidFill>
              <a:prstDash val="sysDot"/>
              <a:tailEnd type="arrow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575225425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F8970-E87A-9295-1D53-738D5EB3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2DAA0-DE51-44D1-5DFF-44CF2FFAD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72016"/>
            <a:ext cx="8643848" cy="424732"/>
          </a:xfrm>
        </p:spPr>
        <p:txBody>
          <a:bodyPr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读链路调用链</a:t>
            </a:r>
            <a:r>
              <a:rPr lang="en-US" altLang="zh-CN" sz="1600" dirty="0">
                <a:solidFill>
                  <a:srgbClr val="777777"/>
                </a:solidFill>
              </a:rPr>
              <a:t>  Sync Read Call Chain</a:t>
            </a:r>
          </a:p>
        </p:txBody>
      </p:sp>
      <p:sp>
        <p:nvSpPr>
          <p:cNvPr id="260" name="PageNum">
            <a:extLst>
              <a:ext uri="{FF2B5EF4-FFF2-40B4-BE49-F238E27FC236}">
                <a16:creationId xmlns:a16="http://schemas.microsoft.com/office/drawing/2014/main" id="{347AA0FE-F6D9-CAF0-592B-0387C5D20288}"/>
              </a:ext>
            </a:extLst>
          </p:cNvPr>
          <p:cNvSpPr/>
          <p:nvPr/>
        </p:nvSpPr>
        <p:spPr>
          <a:xfrm>
            <a:off x="355600" y="241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06C39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altLang="zh-CN" sz="3600" b="1" dirty="0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A96652E-5494-F013-A2E3-7B1CE173952E}"/>
              </a:ext>
            </a:extLst>
          </p:cNvPr>
          <p:cNvGrpSpPr/>
          <p:nvPr/>
        </p:nvGrpSpPr>
        <p:grpSpPr>
          <a:xfrm>
            <a:off x="228600" y="914398"/>
            <a:ext cx="11734800" cy="5190980"/>
            <a:chOff x="228600" y="914398"/>
            <a:chExt cx="11734800" cy="5190980"/>
          </a:xfrm>
        </p:grpSpPr>
        <p:sp>
          <p:nvSpPr>
            <p:cNvPr id="5001" name="B5001"/>
            <p:cNvSpPr/>
            <p:nvPr/>
          </p:nvSpPr>
          <p:spPr>
            <a:xfrm>
              <a:off x="228600" y="914398"/>
              <a:ext cx="14986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motors_bus.py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电机总线入口</a:t>
              </a:r>
            </a:p>
          </p:txBody>
        </p:sp>
        <p:sp>
          <p:nvSpPr>
            <p:cNvPr id="5002" name="B5002"/>
            <p:cNvSpPr/>
            <p:nvPr/>
          </p:nvSpPr>
          <p:spPr>
            <a:xfrm>
              <a:off x="1879600" y="914398"/>
              <a:ext cx="16510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motors_bus.py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阶段分发</a:t>
              </a:r>
            </a:p>
          </p:txBody>
        </p:sp>
        <p:sp>
          <p:nvSpPr>
            <p:cNvPr id="5003" name="B5003"/>
            <p:cNvSpPr/>
            <p:nvPr/>
          </p:nvSpPr>
          <p:spPr>
            <a:xfrm>
              <a:off x="3683000" y="914398"/>
              <a:ext cx="18796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group_sync_read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同步读业务层</a:t>
              </a:r>
            </a:p>
          </p:txBody>
        </p:sp>
        <p:sp>
          <p:nvSpPr>
            <p:cNvPr id="5004" name="B5004"/>
            <p:cNvSpPr/>
            <p:nvPr/>
          </p:nvSpPr>
          <p:spPr>
            <a:xfrm>
              <a:off x="5715000" y="914398"/>
              <a:ext cx="20066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protocol_handler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协议组包/解包层</a:t>
              </a:r>
            </a:p>
          </p:txBody>
        </p:sp>
        <p:sp>
          <p:nvSpPr>
            <p:cNvPr id="5005" name="B5005"/>
            <p:cNvSpPr/>
            <p:nvPr/>
          </p:nvSpPr>
          <p:spPr>
            <a:xfrm>
              <a:off x="7874000" y="914398"/>
              <a:ext cx="21082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port_handler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串口物理层</a:t>
              </a:r>
            </a:p>
          </p:txBody>
        </p:sp>
        <p:sp>
          <p:nvSpPr>
            <p:cNvPr id="5006" name="B5006"/>
            <p:cNvSpPr/>
            <p:nvPr/>
          </p:nvSpPr>
          <p:spPr>
            <a:xfrm>
              <a:off x="10134600" y="914398"/>
              <a:ext cx="17526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ser / kernel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驱动/系统调用</a:t>
              </a:r>
            </a:p>
          </p:txBody>
        </p:sp>
        <p:cxnSp>
          <p:nvCxnSpPr>
            <p:cNvPr id="5007" name="C5007"/>
            <p:cNvCxnSpPr/>
            <p:nvPr/>
          </p:nvCxnSpPr>
          <p:spPr>
            <a:xfrm>
              <a:off x="228600" y="1357010"/>
              <a:ext cx="11658600" cy="0"/>
            </a:xfrm>
            <a:prstGeom prst="line">
              <a:avLst/>
            </a:prstGeom>
            <a:ln w="12700">
              <a:solidFill>
                <a:srgbClr val="DDDDDD"/>
              </a:solidFill>
            </a:ln>
          </p:spPr>
        </p:cxnSp>
        <p:cxnSp>
          <p:nvCxnSpPr>
            <p:cNvPr id="5008" name="C5008"/>
            <p:cNvCxnSpPr/>
            <p:nvPr/>
          </p:nvCxnSpPr>
          <p:spPr>
            <a:xfrm>
              <a:off x="1778000" y="2834400"/>
              <a:ext cx="10109200" cy="0"/>
            </a:xfrm>
            <a:prstGeom prst="line">
              <a:avLst/>
            </a:prstGeom>
            <a:ln w="12700">
              <a:solidFill>
                <a:srgbClr val="D8EED8"/>
              </a:solidFill>
              <a:prstDash val="dash"/>
            </a:ln>
          </p:spPr>
        </p:cxnSp>
        <p:cxnSp>
          <p:nvCxnSpPr>
            <p:cNvPr id="5009" name="C5009"/>
            <p:cNvCxnSpPr/>
            <p:nvPr/>
          </p:nvCxnSpPr>
          <p:spPr>
            <a:xfrm>
              <a:off x="1778000" y="5109524"/>
              <a:ext cx="10109200" cy="0"/>
            </a:xfrm>
            <a:prstGeom prst="line">
              <a:avLst/>
            </a:prstGeom>
            <a:ln w="12700">
              <a:solidFill>
                <a:srgbClr val="D8EED8"/>
              </a:solidFill>
              <a:prstDash val="dash"/>
            </a:ln>
          </p:spPr>
        </p:cxnSp>
        <p:sp>
          <p:nvSpPr>
            <p:cNvPr id="5010" name="B5010"/>
            <p:cNvSpPr/>
            <p:nvPr/>
          </p:nvSpPr>
          <p:spPr>
            <a:xfrm>
              <a:off x="228600" y="1397000"/>
              <a:ext cx="1498600" cy="4708378"/>
            </a:xfrm>
            <a:prstGeom prst="roundRect">
              <a:avLst>
                <a:gd name="adj" fmla="val 3000"/>
              </a:avLst>
            </a:prstGeom>
            <a:solidFill>
              <a:srgbClr val="006C39"/>
            </a:solidFill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FFFF"/>
                  </a:solidFill>
                  <a:latin typeface="Consolas"/>
                  <a:ea typeface="微软雅黑"/>
                </a:rPr>
                <a:t>_sync_read</a:t>
              </a:r>
            </a:p>
            <a:p>
              <a:pPr>
                <a:spcBef>
                  <a:spcPts val="200"/>
                </a:spcBef>
              </a:pPr>
              <a:endParaRPr lang="zh-CN" sz="300" dirty="0"/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D0E8D0"/>
                  </a:solidFill>
                  <a:latin typeface="微软雅黑"/>
                  <a:ea typeface="微软雅黑"/>
                </a:rPr>
                <a:t>addr=56, len=2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D0E8D0"/>
                  </a:solidFill>
                  <a:latin typeface="微软雅黑"/>
                  <a:ea typeface="微软雅黑"/>
                </a:rPr>
                <a:t>ids=[1..6]  6个电机</a:t>
              </a:r>
            </a:p>
            <a:p>
              <a:pPr>
                <a:spcBef>
                  <a:spcPts val="300"/>
                </a:spcBef>
              </a:pPr>
              <a:endParaRPr lang="zh-CN" sz="300" dirty="0"/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A8D4B8"/>
                  </a:solidFill>
                  <a:latin typeface="微软雅黑"/>
                  <a:ea typeface="微软雅黑"/>
                </a:rPr>
                <a:t>① 登记要读的ID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A8D4B8"/>
                  </a:solidFill>
                  <a:latin typeface="微软雅黑"/>
                  <a:ea typeface="微软雅黑"/>
                </a:rPr>
                <a:t>② 发读包等回包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A8D4B8"/>
                  </a:solidFill>
                  <a:latin typeface="微软雅黑"/>
                  <a:ea typeface="微软雅黑"/>
                </a:rPr>
                <a:t>③ 解析返回数据</a:t>
              </a:r>
            </a:p>
          </p:txBody>
        </p:sp>
        <p:sp>
          <p:nvSpPr>
            <p:cNvPr id="5011" name="B5011"/>
            <p:cNvSpPr/>
            <p:nvPr/>
          </p:nvSpPr>
          <p:spPr>
            <a:xfrm>
              <a:off x="1879600" y="1396960"/>
              <a:ext cx="1651000" cy="1346241"/>
            </a:xfrm>
            <a:prstGeom prst="roundRect">
              <a:avLst>
                <a:gd name="adj" fmla="val 4000"/>
              </a:avLst>
            </a:prstGeom>
            <a:solidFill>
              <a:srgbClr val="F0F7F0"/>
            </a:solidFill>
            <a:ln w="9525">
              <a:solidFill>
                <a:srgbClr val="5AA87A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5C2E"/>
                  </a:solidFill>
                  <a:latin typeface="Consolas"/>
                  <a:ea typeface="微软雅黑"/>
                </a:rPr>
                <a:t>① setup</a:t>
              </a:r>
            </a:p>
            <a:p>
              <a:pPr>
                <a:spcBef>
                  <a:spcPts val="100"/>
                </a:spcBef>
              </a:pPr>
              <a:endParaRPr lang="zh-CN" sz="300" dirty="0"/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清空旧ID列表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登记6个电机ID</a:t>
              </a:r>
            </a:p>
          </p:txBody>
        </p:sp>
        <p:cxnSp>
          <p:nvCxnSpPr>
            <p:cNvPr id="5012" name="C5012"/>
            <p:cNvCxnSpPr/>
            <p:nvPr/>
          </p:nvCxnSpPr>
          <p:spPr>
            <a:xfrm>
              <a:off x="1727200" y="1892261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13" name="B5013"/>
            <p:cNvSpPr/>
            <p:nvPr/>
          </p:nvSpPr>
          <p:spPr>
            <a:xfrm>
              <a:off x="3683000" y="1396960"/>
              <a:ext cx="1879600" cy="423583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rgbClr val="1E1E1E"/>
                  </a:solidFill>
                  <a:latin typeface="Consolas"/>
                  <a:ea typeface="微软雅黑"/>
                </a:rPr>
                <a:t>clearParam()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9090"/>
                  </a:solidFill>
                  <a:latin typeface="微软雅黑"/>
                  <a:ea typeface="微软雅黑"/>
                </a:rPr>
                <a:t>清空电机ID列表</a:t>
              </a:r>
            </a:p>
          </p:txBody>
        </p:sp>
        <p:cxnSp>
          <p:nvCxnSpPr>
            <p:cNvPr id="5014" name="C5014"/>
            <p:cNvCxnSpPr>
              <a:cxnSpLocks/>
              <a:endCxn id="5013" idx="1"/>
            </p:cNvCxnSpPr>
            <p:nvPr/>
          </p:nvCxnSpPr>
          <p:spPr>
            <a:xfrm>
              <a:off x="3530600" y="1608752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15" name="B5015"/>
            <p:cNvSpPr/>
            <p:nvPr/>
          </p:nvSpPr>
          <p:spPr>
            <a:xfrm>
              <a:off x="3683000" y="1909444"/>
              <a:ext cx="1879600" cy="355601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起址0x38(56)  长度=2</a:t>
              </a:r>
            </a:p>
          </p:txBody>
        </p:sp>
        <p:cxnSp>
          <p:nvCxnSpPr>
            <p:cNvPr id="5016" name="C5016"/>
            <p:cNvCxnSpPr>
              <a:cxnSpLocks/>
              <a:stCxn id="5013" idx="2"/>
              <a:endCxn id="5015" idx="0"/>
            </p:cNvCxnSpPr>
            <p:nvPr/>
          </p:nvCxnSpPr>
          <p:spPr>
            <a:xfrm>
              <a:off x="4622800" y="1820543"/>
              <a:ext cx="0" cy="88901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17" name="B5017"/>
            <p:cNvSpPr/>
            <p:nvPr/>
          </p:nvSpPr>
          <p:spPr>
            <a:xfrm>
              <a:off x="3683000" y="2353945"/>
              <a:ext cx="1879600" cy="382926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3A3A3A"/>
                  </a:solidFill>
                  <a:latin typeface="微软雅黑"/>
                  <a:ea typeface="微软雅黑"/>
                </a:rPr>
                <a:t>逐个登记ID 1..6</a:t>
              </a:r>
            </a:p>
          </p:txBody>
        </p:sp>
        <p:cxnSp>
          <p:nvCxnSpPr>
            <p:cNvPr id="5018" name="C5018"/>
            <p:cNvCxnSpPr>
              <a:cxnSpLocks/>
              <a:stCxn id="5015" idx="2"/>
              <a:endCxn id="5017" idx="0"/>
            </p:cNvCxnSpPr>
            <p:nvPr/>
          </p:nvCxnSpPr>
          <p:spPr>
            <a:xfrm>
              <a:off x="4622800" y="2265045"/>
              <a:ext cx="0" cy="8890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19" name="B5019"/>
            <p:cNvSpPr/>
            <p:nvPr/>
          </p:nvSpPr>
          <p:spPr>
            <a:xfrm>
              <a:off x="1879600" y="2920961"/>
              <a:ext cx="1651000" cy="2042979"/>
            </a:xfrm>
            <a:prstGeom prst="roundRect">
              <a:avLst>
                <a:gd name="adj" fmla="val 4000"/>
              </a:avLst>
            </a:prstGeom>
            <a:solidFill>
              <a:srgbClr val="F0F7F0"/>
            </a:solidFill>
            <a:ln w="9525">
              <a:solidFill>
                <a:srgbClr val="5AA87A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5C2E"/>
                  </a:solidFill>
                  <a:latin typeface="Consolas"/>
                  <a:ea typeface="微软雅黑"/>
                </a:rPr>
                <a:t>② txRxPacket</a:t>
              </a:r>
            </a:p>
            <a:p>
              <a:pPr>
                <a:spcBef>
                  <a:spcPts val="100"/>
                </a:spcBef>
              </a:pPr>
              <a:endParaRPr lang="zh-CN" sz="300" dirty="0"/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006C39"/>
                  </a:solidFill>
                  <a:latin typeface="微软雅黑"/>
                  <a:ea typeface="微软雅黑"/>
                </a:rPr>
                <a:t>发读帧，等所有电机回包</a:t>
              </a:r>
            </a:p>
          </p:txBody>
        </p:sp>
        <p:cxnSp>
          <p:nvCxnSpPr>
            <p:cNvPr id="5020" name="C5020"/>
            <p:cNvCxnSpPr>
              <a:cxnSpLocks/>
              <a:stCxn id="5011" idx="2"/>
              <a:endCxn id="5019" idx="0"/>
            </p:cNvCxnSpPr>
            <p:nvPr/>
          </p:nvCxnSpPr>
          <p:spPr>
            <a:xfrm>
              <a:off x="2705100" y="2743201"/>
              <a:ext cx="0" cy="17776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21" name="B5021"/>
            <p:cNvSpPr/>
            <p:nvPr/>
          </p:nvSpPr>
          <p:spPr>
            <a:xfrm>
              <a:off x="3683000" y="2920999"/>
              <a:ext cx="1879600" cy="962873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1E1E1E"/>
                  </a:solidFill>
                  <a:latin typeface="Consolas"/>
                  <a:ea typeface="微软雅黑"/>
                </a:rPr>
                <a:t>txPacket()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3A3A3A"/>
                  </a:solidFill>
                  <a:latin typeface="微软雅黑"/>
                  <a:ea typeface="微软雅黑"/>
                </a:rPr>
                <a:t>组 SYNC_READ 帧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3A3A3A"/>
                  </a:solidFill>
                  <a:latin typeface="微软雅黑"/>
                  <a:ea typeface="微软雅黑"/>
                </a:rPr>
                <a:t>加帧头+校验和</a:t>
              </a:r>
            </a:p>
          </p:txBody>
        </p:sp>
        <p:cxnSp>
          <p:nvCxnSpPr>
            <p:cNvPr id="5022" name="C5022"/>
            <p:cNvCxnSpPr>
              <a:cxnSpLocks/>
              <a:endCxn id="5021" idx="1"/>
            </p:cNvCxnSpPr>
            <p:nvPr/>
          </p:nvCxnSpPr>
          <p:spPr>
            <a:xfrm>
              <a:off x="3530600" y="3348769"/>
              <a:ext cx="152400" cy="53667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23" name="B5023"/>
            <p:cNvSpPr/>
            <p:nvPr/>
          </p:nvSpPr>
          <p:spPr>
            <a:xfrm>
              <a:off x="5715000" y="2920999"/>
              <a:ext cx="2006600" cy="962872"/>
            </a:xfrm>
            <a:prstGeom prst="roundRect">
              <a:avLst>
                <a:gd name="adj" fmla="val 3000"/>
              </a:avLst>
            </a:prstGeom>
            <a:solidFill>
              <a:srgbClr val="FFF8F0"/>
            </a:solidFill>
            <a:ln w="9525">
              <a:solidFill>
                <a:srgbClr val="D4A06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5C3A00"/>
                  </a:solidFill>
                  <a:latin typeface="Consolas"/>
                  <a:ea typeface="微软雅黑"/>
                </a:rPr>
                <a:t>syncReadTx()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rgbClr val="3A3A3A"/>
                  </a:solidFill>
                  <a:latin typeface="微软雅黑"/>
                  <a:ea typeface="微软雅黑"/>
                </a:rPr>
                <a:t>指令 0x82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rgbClr val="3A3A3A"/>
                  </a:solidFill>
                  <a:latin typeface="微软雅黑"/>
                  <a:ea typeface="微软雅黑"/>
                </a:rPr>
                <a:t>设超时，发串口</a:t>
              </a:r>
            </a:p>
          </p:txBody>
        </p:sp>
        <p:cxnSp>
          <p:nvCxnSpPr>
            <p:cNvPr id="5024" name="C5024"/>
            <p:cNvCxnSpPr>
              <a:cxnSpLocks/>
              <a:stCxn id="5021" idx="3"/>
              <a:endCxn id="5023" idx="1"/>
            </p:cNvCxnSpPr>
            <p:nvPr/>
          </p:nvCxnSpPr>
          <p:spPr>
            <a:xfrm flipV="1">
              <a:off x="5562600" y="3402435"/>
              <a:ext cx="152400" cy="1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25" name="B5025"/>
            <p:cNvSpPr/>
            <p:nvPr/>
          </p:nvSpPr>
          <p:spPr>
            <a:xfrm>
              <a:off x="7874000" y="2920999"/>
              <a:ext cx="1701799" cy="962871"/>
            </a:xfrm>
            <a:prstGeom prst="roundRect">
              <a:avLst>
                <a:gd name="adj" fmla="val 3000"/>
              </a:avLst>
            </a:prstGeom>
            <a:solidFill>
              <a:srgbClr val="F5F5FF"/>
            </a:solidFill>
            <a:ln w="9525">
              <a:solidFill>
                <a:srgbClr val="8080C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18185A"/>
                  </a:solidFill>
                  <a:latin typeface="Consolas"/>
                  <a:ea typeface="微软雅黑"/>
                </a:rPr>
                <a:t>ph.txPacket()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补帧头 FF FF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计算校验和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9090"/>
                  </a:solidFill>
                  <a:latin typeface="微软雅黑"/>
                  <a:ea typeface="微软雅黑"/>
                </a:rPr>
                <a:t>清缓冲 → 写串口</a:t>
              </a:r>
            </a:p>
          </p:txBody>
        </p:sp>
        <p:cxnSp>
          <p:nvCxnSpPr>
            <p:cNvPr id="5026" name="C5026"/>
            <p:cNvCxnSpPr>
              <a:cxnSpLocks/>
              <a:stCxn id="5023" idx="3"/>
              <a:endCxn id="5025" idx="1"/>
            </p:cNvCxnSpPr>
            <p:nvPr/>
          </p:nvCxnSpPr>
          <p:spPr>
            <a:xfrm>
              <a:off x="7721600" y="3402435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27" name="B5027"/>
            <p:cNvSpPr/>
            <p:nvPr/>
          </p:nvSpPr>
          <p:spPr>
            <a:xfrm>
              <a:off x="9725479" y="2920999"/>
              <a:ext cx="2237921" cy="962871"/>
            </a:xfrm>
            <a:prstGeom prst="roundRect">
              <a:avLst>
                <a:gd name="adj" fmla="val 3000"/>
              </a:avLst>
            </a:prstGeom>
            <a:solidFill>
              <a:srgbClr val="FFFCF0"/>
            </a:solidFill>
            <a:ln w="14000">
              <a:solidFill>
                <a:srgbClr val="C8902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4A3000"/>
                  </a:solidFill>
                  <a:latin typeface="Consolas"/>
                  <a:ea typeface="微软雅黑"/>
                </a:rPr>
                <a:t>★ writePort()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rgbClr val="C87000"/>
                  </a:solidFill>
                  <a:latin typeface="微软雅黑"/>
                  <a:ea typeface="微软雅黑"/>
                </a:rPr>
                <a:t>★ 写串口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3A3A3A"/>
                  </a:solidFill>
                  <a:latin typeface="微软雅黑"/>
                  <a:ea typeface="微软雅黑"/>
                </a:rPr>
                <a:t>发出 SYNC_READ 请求</a:t>
              </a:r>
            </a:p>
          </p:txBody>
        </p:sp>
        <p:cxnSp>
          <p:nvCxnSpPr>
            <p:cNvPr id="5028" name="C5028"/>
            <p:cNvCxnSpPr>
              <a:cxnSpLocks/>
              <a:stCxn id="5025" idx="3"/>
              <a:endCxn id="5027" idx="1"/>
            </p:cNvCxnSpPr>
            <p:nvPr/>
          </p:nvCxnSpPr>
          <p:spPr>
            <a:xfrm>
              <a:off x="9575799" y="3402435"/>
              <a:ext cx="14968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29" name="B5029"/>
            <p:cNvSpPr/>
            <p:nvPr/>
          </p:nvSpPr>
          <p:spPr>
            <a:xfrm>
              <a:off x="3683000" y="4069855"/>
              <a:ext cx="1879600" cy="894081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1E1E1E"/>
                  </a:solidFill>
                  <a:latin typeface="Consolas"/>
                  <a:ea typeface="微软雅黑"/>
                </a:rPr>
                <a:t>rxPacket()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3A3A3A"/>
                  </a:solidFill>
                  <a:latin typeface="微软雅黑"/>
                  <a:ea typeface="微软雅黑"/>
                </a:rPr>
                <a:t>轮询接收，每个电机1包</a:t>
              </a:r>
              <a:r>
                <a:rPr lang="zh-CN" altLang="en-US" sz="1400" dirty="0">
                  <a:solidFill>
                    <a:srgbClr val="606060"/>
                  </a:solidFill>
                  <a:latin typeface="微软雅黑"/>
                  <a:ea typeface="微软雅黑"/>
                </a:rPr>
                <a:t>×6次</a:t>
              </a:r>
            </a:p>
          </p:txBody>
        </p:sp>
        <p:cxnSp>
          <p:nvCxnSpPr>
            <p:cNvPr id="5030" name="C5030"/>
            <p:cNvCxnSpPr>
              <a:cxnSpLocks/>
              <a:stCxn id="5021" idx="2"/>
              <a:endCxn id="5029" idx="0"/>
            </p:cNvCxnSpPr>
            <p:nvPr/>
          </p:nvCxnSpPr>
          <p:spPr>
            <a:xfrm>
              <a:off x="4622800" y="3883872"/>
              <a:ext cx="0" cy="185983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31" name="B5031"/>
            <p:cNvSpPr/>
            <p:nvPr/>
          </p:nvSpPr>
          <p:spPr>
            <a:xfrm>
              <a:off x="5715000" y="4051702"/>
              <a:ext cx="2006600" cy="912234"/>
            </a:xfrm>
            <a:prstGeom prst="roundRect">
              <a:avLst>
                <a:gd name="adj" fmla="val 3000"/>
              </a:avLst>
            </a:prstGeom>
            <a:solidFill>
              <a:srgbClr val="FFF8F0"/>
            </a:solidFill>
            <a:ln w="9525">
              <a:solidFill>
                <a:srgbClr val="D4A06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5C3A00"/>
                  </a:solidFill>
                  <a:latin typeface="Consolas"/>
                  <a:ea typeface="微软雅黑"/>
                </a:rPr>
                <a:t>readRx(port,id,2)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rgbClr val="606060"/>
                  </a:solidFill>
                  <a:latin typeface="微软雅黑"/>
                  <a:ea typeface="微软雅黑"/>
                </a:rPr>
                <a:t>等当前ID回包到达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rgbClr val="B06010"/>
                  </a:solidFill>
                  <a:latin typeface="微软雅黑"/>
                  <a:ea typeface="微软雅黑"/>
                </a:rPr>
                <a:t>超时则报错</a:t>
              </a:r>
            </a:p>
          </p:txBody>
        </p:sp>
        <p:cxnSp>
          <p:nvCxnSpPr>
            <p:cNvPr id="5032" name="C5032"/>
            <p:cNvCxnSpPr>
              <a:cxnSpLocks/>
              <a:stCxn id="5029" idx="3"/>
              <a:endCxn id="5031" idx="1"/>
            </p:cNvCxnSpPr>
            <p:nvPr/>
          </p:nvCxnSpPr>
          <p:spPr>
            <a:xfrm flipV="1">
              <a:off x="5562600" y="4507819"/>
              <a:ext cx="152400" cy="9077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33" name="B5033"/>
            <p:cNvSpPr/>
            <p:nvPr/>
          </p:nvSpPr>
          <p:spPr>
            <a:xfrm>
              <a:off x="7874000" y="4051702"/>
              <a:ext cx="1701799" cy="912234"/>
            </a:xfrm>
            <a:prstGeom prst="roundRect">
              <a:avLst>
                <a:gd name="adj" fmla="val 3000"/>
              </a:avLst>
            </a:prstGeom>
            <a:solidFill>
              <a:srgbClr val="F5F5FF"/>
            </a:solidFill>
            <a:ln w="9525">
              <a:solidFill>
                <a:srgbClr val="8080C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18185A"/>
                  </a:solidFill>
                  <a:latin typeface="Consolas"/>
                  <a:ea typeface="微软雅黑"/>
                </a:rPr>
                <a:t>ph.rxPacket(port)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搜 FF FF 包头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读ID+LEN+数据+CS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验校验和</a:t>
              </a:r>
            </a:p>
          </p:txBody>
        </p:sp>
        <p:cxnSp>
          <p:nvCxnSpPr>
            <p:cNvPr id="5034" name="C5034"/>
            <p:cNvCxnSpPr>
              <a:cxnSpLocks/>
              <a:stCxn id="5031" idx="3"/>
              <a:endCxn id="5033" idx="1"/>
            </p:cNvCxnSpPr>
            <p:nvPr/>
          </p:nvCxnSpPr>
          <p:spPr>
            <a:xfrm>
              <a:off x="7721600" y="450781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35" name="B5035"/>
            <p:cNvSpPr/>
            <p:nvPr/>
          </p:nvSpPr>
          <p:spPr>
            <a:xfrm>
              <a:off x="9725479" y="4051702"/>
              <a:ext cx="2237921" cy="912234"/>
            </a:xfrm>
            <a:prstGeom prst="roundRect">
              <a:avLst>
                <a:gd name="adj" fmla="val 3000"/>
              </a:avLst>
            </a:prstGeom>
            <a:solidFill>
              <a:srgbClr val="F0F0FF"/>
            </a:solidFill>
            <a:ln w="14000">
              <a:solidFill>
                <a:srgbClr val="6060C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18185A"/>
                  </a:solidFill>
                  <a:latin typeface="Consolas"/>
                  <a:ea typeface="微软雅黑"/>
                </a:rPr>
                <a:t>★ ser.read(n)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4040A0"/>
                  </a:solidFill>
                  <a:latin typeface="微软雅黑"/>
                  <a:ea typeface="微软雅黑"/>
                </a:rPr>
                <a:t>读串口 (非阻塞)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8B0000"/>
                  </a:solidFill>
                  <a:latin typeface="微软雅黑"/>
                  <a:ea typeface="微软雅黑"/>
                </a:rPr>
                <a:t>软件轮询+超时退出</a:t>
              </a:r>
            </a:p>
          </p:txBody>
        </p:sp>
        <p:cxnSp>
          <p:nvCxnSpPr>
            <p:cNvPr id="5036" name="C5036"/>
            <p:cNvCxnSpPr>
              <a:cxnSpLocks/>
              <a:stCxn id="5033" idx="3"/>
              <a:endCxn id="5035" idx="1"/>
            </p:cNvCxnSpPr>
            <p:nvPr/>
          </p:nvCxnSpPr>
          <p:spPr>
            <a:xfrm>
              <a:off x="9575799" y="4507819"/>
              <a:ext cx="14968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37" name="B5037"/>
            <p:cNvSpPr/>
            <p:nvPr/>
          </p:nvSpPr>
          <p:spPr>
            <a:xfrm>
              <a:off x="5883728" y="1691162"/>
              <a:ext cx="5676901" cy="965200"/>
            </a:xfrm>
            <a:prstGeom prst="roundRect">
              <a:avLst>
                <a:gd name="adj" fmla="val 2000"/>
              </a:avLst>
            </a:prstGeom>
            <a:solidFill>
              <a:srgbClr val="FFFDF5"/>
            </a:solidFill>
            <a:ln w="9525">
              <a:solidFill>
                <a:srgbClr val="C89020"/>
              </a:solidFill>
            </a:ln>
          </p:spPr>
          <p:txBody>
            <a:bodyPr wrap="square" lIns="72000" tIns="36000" rIns="72000" bIns="3600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7A4A00"/>
                  </a:solidFill>
                  <a:latin typeface="Consolas"/>
                  <a:ea typeface="Consolas"/>
                </a:rPr>
                <a:t>TX: SYNC_READ [0x82]  14 bytes</a:t>
              </a:r>
            </a:p>
            <a:p>
              <a:pPr algn="l">
                <a:lnSpc>
                  <a:spcPct val="100000"/>
                </a:lnSpc>
                <a:spcBef>
                  <a:spcPts val="6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FF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FF FE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0A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82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38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02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01 02 03 04 05 06 CS</a:t>
              </a:r>
            </a:p>
            <a:p>
              <a:pPr algn="l">
                <a:lnSpc>
                  <a:spcPct val="100000"/>
                </a:lnSpc>
                <a:spcBef>
                  <a:spcPts val="6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906000"/>
                  </a:solidFill>
                  <a:latin typeface="微软雅黑"/>
                  <a:ea typeface="微软雅黑"/>
                </a:rPr>
                <a:t>帧头 广播ID 长10 读命令 起址56 读2字节 6个电机ID            校验  </a:t>
              </a:r>
            </a:p>
          </p:txBody>
        </p:sp>
        <p:sp>
          <p:nvSpPr>
            <p:cNvPr id="5038" name="B5038"/>
            <p:cNvSpPr/>
            <p:nvPr/>
          </p:nvSpPr>
          <p:spPr>
            <a:xfrm>
              <a:off x="5723164" y="5178516"/>
              <a:ext cx="5138057" cy="926862"/>
            </a:xfrm>
            <a:prstGeom prst="roundRect">
              <a:avLst>
                <a:gd name="adj" fmla="val 2000"/>
              </a:avLst>
            </a:prstGeom>
            <a:solidFill>
              <a:srgbClr val="F0F0FF"/>
            </a:solidFill>
            <a:ln w="9525">
              <a:solidFill>
                <a:srgbClr val="6060C0"/>
              </a:solidFill>
            </a:ln>
          </p:spPr>
          <p:txBody>
            <a:bodyPr wrap="square" lIns="72000" tIns="36000" rIns="72000" bIns="3600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18185A"/>
                  </a:solidFill>
                  <a:latin typeface="Consolas"/>
                  <a:ea typeface="Consolas"/>
                </a:rPr>
                <a:t>RX: per motor × 6  8 bytes each</a:t>
              </a:r>
            </a:p>
            <a:p>
              <a:pPr algn="l">
                <a:lnSpc>
                  <a:spcPct val="100000"/>
                </a:lnSpc>
                <a:spcBef>
                  <a:spcPts val="6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FF FF 01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04 00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FD 08 CS</a:t>
              </a:r>
            </a:p>
            <a:p>
              <a:pPr algn="l">
                <a:lnSpc>
                  <a:spcPct val="100000"/>
                </a:lnSpc>
                <a:spcBef>
                  <a:spcPts val="6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006C39"/>
                  </a:solidFill>
                  <a:latin typeface="微软雅黑"/>
                  <a:ea typeface="微软雅黑"/>
                </a:rPr>
                <a:t>帧头 电机ID 长度4 错误0 lo hi  </a:t>
              </a:r>
              <a:r>
                <a:rPr lang="zh-CN" altLang="en-US" sz="1600" dirty="0">
                  <a:solidFill>
                    <a:srgbClr val="006C39"/>
                  </a:solidFill>
                  <a:latin typeface="微软雅黑"/>
                  <a:ea typeface="微软雅黑"/>
                </a:rPr>
                <a:t>校验</a:t>
              </a:r>
              <a:endParaRPr lang="zh-CN" altLang="en-US" sz="1400" dirty="0">
                <a:solidFill>
                  <a:srgbClr val="006C39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039" name="B5039"/>
            <p:cNvSpPr/>
            <p:nvPr/>
          </p:nvSpPr>
          <p:spPr>
            <a:xfrm>
              <a:off x="1879600" y="5219700"/>
              <a:ext cx="1651000" cy="838200"/>
            </a:xfrm>
            <a:prstGeom prst="roundRect">
              <a:avLst>
                <a:gd name="adj" fmla="val 4000"/>
              </a:avLst>
            </a:prstGeom>
            <a:solidFill>
              <a:srgbClr val="F0F7F0"/>
            </a:solidFill>
            <a:ln w="9525">
              <a:solidFill>
                <a:srgbClr val="5AA87A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5C2E"/>
                  </a:solidFill>
                  <a:latin typeface="Consolas"/>
                  <a:ea typeface="微软雅黑"/>
                </a:rPr>
                <a:t>③ getData()×6</a:t>
              </a:r>
            </a:p>
            <a:p>
              <a:pPr>
                <a:spcBef>
                  <a:spcPts val="100"/>
                </a:spcBef>
              </a:pPr>
              <a:endParaRPr lang="zh-CN" sz="300" dirty="0"/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从回包拼出16位位置值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006C39"/>
                  </a:solidFill>
                  <a:latin typeface="微软雅黑"/>
                  <a:ea typeface="微软雅黑"/>
                </a:rPr>
                <a:t>→ {1:2301,…,6:3500}</a:t>
              </a:r>
            </a:p>
          </p:txBody>
        </p:sp>
        <p:cxnSp>
          <p:nvCxnSpPr>
            <p:cNvPr id="5040" name="C5040"/>
            <p:cNvCxnSpPr>
              <a:cxnSpLocks/>
              <a:stCxn id="5019" idx="2"/>
              <a:endCxn id="5039" idx="0"/>
            </p:cNvCxnSpPr>
            <p:nvPr/>
          </p:nvCxnSpPr>
          <p:spPr>
            <a:xfrm>
              <a:off x="2705100" y="4963940"/>
              <a:ext cx="0" cy="25576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41" name="B5041"/>
            <p:cNvSpPr/>
            <p:nvPr/>
          </p:nvSpPr>
          <p:spPr>
            <a:xfrm>
              <a:off x="3683000" y="5219700"/>
              <a:ext cx="1879600" cy="8382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1E1E1E"/>
                  </a:solidFill>
                  <a:latin typeface="Consolas"/>
                  <a:ea typeface="微软雅黑"/>
                </a:rPr>
                <a:t>getData(id,56,2)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低字节+高字节拼16位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SCS_MAKEWORD(lo,hi)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006C39"/>
                  </a:solidFill>
                  <a:latin typeface="微软雅黑"/>
                  <a:ea typeface="微软雅黑"/>
                </a:rPr>
                <a:t>→ 16-bit 位置整数</a:t>
              </a:r>
            </a:p>
          </p:txBody>
        </p:sp>
        <p:cxnSp>
          <p:nvCxnSpPr>
            <p:cNvPr id="5042" name="C5042"/>
            <p:cNvCxnSpPr/>
            <p:nvPr/>
          </p:nvCxnSpPr>
          <p:spPr>
            <a:xfrm>
              <a:off x="3530600" y="5638800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cxnSp>
          <p:nvCxnSpPr>
            <p:cNvPr id="4" name="直线箭头连接符 3">
              <a:extLst>
                <a:ext uri="{FF2B5EF4-FFF2-40B4-BE49-F238E27FC236}">
                  <a16:creationId xmlns:a16="http://schemas.microsoft.com/office/drawing/2014/main" id="{C5246685-818F-DE6A-61A0-1AC65881D1FA}"/>
                </a:ext>
              </a:extLst>
            </p:cNvPr>
            <p:cNvCxnSpPr>
              <a:cxnSpLocks/>
              <a:stCxn id="5017" idx="3"/>
              <a:endCxn id="5037" idx="1"/>
            </p:cNvCxnSpPr>
            <p:nvPr/>
          </p:nvCxnSpPr>
          <p:spPr>
            <a:xfrm flipV="1">
              <a:off x="5562600" y="2173762"/>
              <a:ext cx="321128" cy="3716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箭头连接符 5">
              <a:extLst>
                <a:ext uri="{FF2B5EF4-FFF2-40B4-BE49-F238E27FC236}">
                  <a16:creationId xmlns:a16="http://schemas.microsoft.com/office/drawing/2014/main" id="{C2D5E40B-0F17-A101-52F8-75B24EE6BD2C}"/>
                </a:ext>
              </a:extLst>
            </p:cNvPr>
            <p:cNvCxnSpPr>
              <a:cxnSpLocks/>
              <a:stCxn id="5037" idx="2"/>
              <a:endCxn id="5023" idx="0"/>
            </p:cNvCxnSpPr>
            <p:nvPr/>
          </p:nvCxnSpPr>
          <p:spPr>
            <a:xfrm flipH="1">
              <a:off x="6718300" y="2656362"/>
              <a:ext cx="2003879" cy="2646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A2F8B3C6-CFEC-D9EB-3D35-EA79ABA20A2D}"/>
                </a:ext>
              </a:extLst>
            </p:cNvPr>
            <p:cNvCxnSpPr>
              <a:cxnSpLocks/>
              <a:stCxn id="5031" idx="2"/>
              <a:endCxn id="5038" idx="0"/>
            </p:cNvCxnSpPr>
            <p:nvPr/>
          </p:nvCxnSpPr>
          <p:spPr>
            <a:xfrm>
              <a:off x="6718300" y="4963936"/>
              <a:ext cx="1573893" cy="214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18F4A917-4718-0C87-8292-573F71668C79}"/>
                </a:ext>
              </a:extLst>
            </p:cNvPr>
            <p:cNvCxnSpPr>
              <a:cxnSpLocks/>
              <a:stCxn id="5038" idx="1"/>
              <a:endCxn id="5041" idx="3"/>
            </p:cNvCxnSpPr>
            <p:nvPr/>
          </p:nvCxnSpPr>
          <p:spPr>
            <a:xfrm flipH="1" flipV="1">
              <a:off x="5562600" y="5638800"/>
              <a:ext cx="160564" cy="31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3624931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834A-4198-3A46-2F90-501858160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D5059-F3BA-ABCF-8107-40D6ABE3E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427416"/>
            <a:ext cx="8643848" cy="313932"/>
          </a:xfrm>
        </p:spPr>
        <p:txBody>
          <a:bodyPr/>
          <a:lstStyle/>
          <a:p>
            <a:r>
              <a:rPr lang="zh-CN" altLang="en-US" sz="1600" dirty="0">
                <a:solidFill>
                  <a:srgbClr val="777777"/>
                </a:solidFill>
              </a:rPr>
              <a:t>异步推理</a:t>
            </a:r>
            <a:endParaRPr lang="en-US" altLang="zh-CN" sz="1600" dirty="0">
              <a:solidFill>
                <a:srgbClr val="777777"/>
              </a:solidFill>
            </a:endParaRPr>
          </a:p>
        </p:txBody>
      </p:sp>
      <p:sp>
        <p:nvSpPr>
          <p:cNvPr id="260" name="PageNum">
            <a:extLst>
              <a:ext uri="{FF2B5EF4-FFF2-40B4-BE49-F238E27FC236}">
                <a16:creationId xmlns:a16="http://schemas.microsoft.com/office/drawing/2014/main" id="{5F9C0FFE-5F32-CA19-358D-8609A58DB910}"/>
              </a:ext>
            </a:extLst>
          </p:cNvPr>
          <p:cNvSpPr/>
          <p:nvPr/>
        </p:nvSpPr>
        <p:spPr>
          <a:xfrm>
            <a:off x="355600" y="241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006C39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altLang="zh-CN" sz="3600" b="1" dirty="0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49584965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1B67CED-FA2D-A148-AF07-CC3F451F95E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bae77f4-f74d-48ef-9ed9-02419bfe58c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A9EB2EE-9600-DA4D-BCEC-C4F1E42DBBA1}">
  <we:reference id="69d1cb02-b65b-4ca3-b7df-88ddb1cf8eaa" version="1.0.0.0" store="developer" storeType="Registry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2133</TotalTime>
  <Words>1489</Words>
  <Application>Microsoft Macintosh PowerPoint</Application>
  <PresentationFormat>宽屏</PresentationFormat>
  <Paragraphs>261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微软雅黑</vt:lpstr>
      <vt:lpstr>Arial</vt:lpstr>
      <vt:lpstr>Century Gothic</vt:lpstr>
      <vt:lpstr>Consolas</vt:lpstr>
      <vt:lpstr>内页​​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写链路调用链（序列图）</vt:lpstr>
      <vt:lpstr>读链路调用链  Sync Read Call Chain</vt:lpstr>
      <vt:lpstr>异步推理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Vel</dc:creator>
  <cp:lastModifiedBy>- Vel</cp:lastModifiedBy>
  <cp:revision>6</cp:revision>
  <dcterms:created xsi:type="dcterms:W3CDTF">2026-05-06T07:42:54Z</dcterms:created>
  <dcterms:modified xsi:type="dcterms:W3CDTF">2026-05-10T14:43:48Z</dcterms:modified>
</cp:coreProperties>
</file>