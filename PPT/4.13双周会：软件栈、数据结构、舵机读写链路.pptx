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9"/>
  </p:notesMasterIdLst>
  <p:sldIdLst>
    <p:sldId id="1824" r:id="rId2"/>
    <p:sldId id="2736" r:id="rId3"/>
    <p:sldId id="2725" r:id="rId4"/>
    <p:sldId id="2733" r:id="rId5"/>
    <p:sldId id="2734" r:id="rId6"/>
    <p:sldId id="2735" r:id="rId7"/>
    <p:sldId id="2732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045"/>
    <p:restoredTop sz="81633"/>
  </p:normalViewPr>
  <p:slideViewPr>
    <p:cSldViewPr snapToGrid="0">
      <p:cViewPr>
        <p:scale>
          <a:sx n="74" d="100"/>
          <a:sy n="74" d="100"/>
        </p:scale>
        <p:origin x="512" y="8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7EE76B-0B80-9A46-AEF2-380A11E76953}" type="datetimeFigureOut">
              <a:rPr kumimoji="1" lang="zh-CN" altLang="en-US" smtClean="0"/>
              <a:t>2026/4/29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B382DDE-58C5-7440-A2B8-9FE3667D06C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1132794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  <a:pPr>
                <a:defRPr/>
              </a:pPr>
              <a:t>1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065432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D2F8-64CF-2CB8-D35F-B167F5C77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61FA51F-C239-0A43-0E0E-14E12E96E3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DE338BF-D795-5963-A730-BE6444E449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 从串口</a:t>
            </a:r>
            <a:r>
              <a:rPr lang="en-US" altLang="zh-CN" dirty="0"/>
              <a:t>-》</a:t>
            </a:r>
            <a:r>
              <a:rPr lang="zh-CN" altLang="en-US" dirty="0"/>
              <a:t>库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6A10361-19F7-CBA5-7420-9739B20E9F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73001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465781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AB6536-4E49-E7C9-5412-EC443CC89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BBD783F-9B8A-3C59-E76D-2B571E97E4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0D65A79-F5D9-795A-8A42-914EBDBC40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B0F1F8C-2BA0-C11F-309A-CB23D89890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373521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B3603-5E3B-5F09-B218-5895D7685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CE6E612-5FFA-470A-6901-CF7CEBFF13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DCC75BF-EA00-06C9-CE13-6F0587850F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D4FC0D2-D554-AF8B-52DB-FCBE027FF3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980372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1D2F03-6DA4-FEBE-0BAA-71541F80C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9511E91-C3E0-104C-0D1F-F28C75A308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36F4D7A-F840-9C18-4AE2-271C6EC031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F805653-FDC3-2A1A-E9B5-F6FAE6F921C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971391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531013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1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550089" y="863157"/>
            <a:ext cx="10318623" cy="0"/>
          </a:xfrm>
          <a:prstGeom prst="line">
            <a:avLst/>
          </a:prstGeom>
          <a:ln w="28575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10D966C-9DD4-4144-A316-29077EB905B4}"/>
              </a:ext>
            </a:extLst>
          </p:cNvPr>
          <p:cNvSpPr/>
          <p:nvPr userDrawn="1"/>
        </p:nvSpPr>
        <p:spPr>
          <a:xfrm>
            <a:off x="318632" y="0"/>
            <a:ext cx="1048735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1606550" y="34431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10D966C-9DD4-4144-A316-29077EB905B4}"/>
              </a:ext>
            </a:extLst>
          </p:cNvPr>
          <p:cNvSpPr/>
          <p:nvPr userDrawn="1"/>
        </p:nvSpPr>
        <p:spPr>
          <a:xfrm>
            <a:off x="1378908" y="-1612"/>
            <a:ext cx="167082" cy="874737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37818" y="347339"/>
            <a:ext cx="1969223" cy="432990"/>
          </a:xfrm>
          <a:prstGeom prst="rect">
            <a:avLst/>
          </a:prstGeom>
        </p:spPr>
      </p:pic>
      <p:cxnSp>
        <p:nvCxnSpPr>
          <p:cNvPr id="7" name="直接连接符 6"/>
          <p:cNvCxnSpPr/>
          <p:nvPr userDrawn="1"/>
        </p:nvCxnSpPr>
        <p:spPr>
          <a:xfrm>
            <a:off x="1366474" y="-17822"/>
            <a:ext cx="0" cy="107941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连接符 57"/>
          <p:cNvCxnSpPr/>
          <p:nvPr userDrawn="1"/>
        </p:nvCxnSpPr>
        <p:spPr>
          <a:xfrm>
            <a:off x="11155416" y="6119786"/>
            <a:ext cx="0" cy="76063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组合 83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bg1"/>
          </a:solidFill>
        </p:grpSpPr>
        <p:grpSp>
          <p:nvGrpSpPr>
            <p:cNvPr id="85" name="组合 84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100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1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102" name="组合 101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107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8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3" name="组合 102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104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5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6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86" name="组合 85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87" name="组合 86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98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9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8" name="组合 87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96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7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9" name="组合 88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93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4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5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0" name="组合 89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91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2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500423452"/>
      </p:ext>
    </p:extLst>
  </p:cSld>
  <p:clrMapOvr>
    <a:masterClrMapping/>
  </p:clrMapOvr>
  <p:transition spd="med"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1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58" name="直接连接符 57"/>
          <p:cNvCxnSpPr/>
          <p:nvPr userDrawn="1"/>
        </p:nvCxnSpPr>
        <p:spPr>
          <a:xfrm>
            <a:off x="11155416" y="6119786"/>
            <a:ext cx="0" cy="76063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组合 83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bg1"/>
          </a:solidFill>
        </p:grpSpPr>
        <p:grpSp>
          <p:nvGrpSpPr>
            <p:cNvPr id="85" name="组合 84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100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1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102" name="组合 101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107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8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3" name="组合 102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104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5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6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86" name="组合 85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87" name="组合 86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98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9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8" name="组合 87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96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7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9" name="组合 88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93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4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5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0" name="组合 89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91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2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37" name="标题 11">
            <a:extLst>
              <a:ext uri="{FF2B5EF4-FFF2-40B4-BE49-F238E27FC236}">
                <a16:creationId xmlns:a16="http://schemas.microsoft.com/office/drawing/2014/main" id="{F740B2F3-F46E-47AE-8C0D-F561C0D52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3631937681"/>
      </p:ext>
    </p:extLst>
  </p:cSld>
  <p:clrMapOvr>
    <a:masterClrMapping/>
  </p:clrMapOvr>
  <p:transition spd="med"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1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37818" y="347339"/>
            <a:ext cx="1969223" cy="432990"/>
          </a:xfrm>
          <a:prstGeom prst="rect">
            <a:avLst/>
          </a:prstGeom>
        </p:spPr>
      </p:pic>
      <p:cxnSp>
        <p:nvCxnSpPr>
          <p:cNvPr id="5" name="直接连接符 4"/>
          <p:cNvCxnSpPr/>
          <p:nvPr userDrawn="1"/>
        </p:nvCxnSpPr>
        <p:spPr>
          <a:xfrm>
            <a:off x="11155416" y="6133167"/>
            <a:ext cx="0" cy="756171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6005760"/>
      </p:ext>
    </p:extLst>
  </p:cSld>
  <p:clrMapOvr>
    <a:masterClrMapping/>
  </p:clrMapOvr>
  <p:transition spd="med"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2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577850" y="24906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90193" y="252089"/>
            <a:ext cx="1969223" cy="432990"/>
          </a:xfrm>
          <a:prstGeom prst="rect">
            <a:avLst/>
          </a:prstGeom>
        </p:spPr>
      </p:pic>
      <p:grpSp>
        <p:nvGrpSpPr>
          <p:cNvPr id="2" name="组合 1"/>
          <p:cNvGrpSpPr/>
          <p:nvPr userDrawn="1"/>
        </p:nvGrpSpPr>
        <p:grpSpPr>
          <a:xfrm>
            <a:off x="-9524" y="122428"/>
            <a:ext cx="559928" cy="699303"/>
            <a:chOff x="-9524" y="122428"/>
            <a:chExt cx="559928" cy="699303"/>
          </a:xfrm>
        </p:grpSpPr>
        <p:sp>
          <p:nvSpPr>
            <p:cNvPr id="85" name="任意多边形: 形状 56">
              <a:extLst>
                <a:ext uri="{FF2B5EF4-FFF2-40B4-BE49-F238E27FC236}">
                  <a16:creationId xmlns:a16="http://schemas.microsoft.com/office/drawing/2014/main" id="{77A3E9FF-E8D6-4864-AD9A-BC3E704158E7}"/>
                </a:ext>
              </a:extLst>
            </p:cNvPr>
            <p:cNvSpPr/>
            <p:nvPr userDrawn="1"/>
          </p:nvSpPr>
          <p:spPr>
            <a:xfrm>
              <a:off x="-9524" y="122428"/>
              <a:ext cx="559928" cy="699303"/>
            </a:xfrm>
            <a:custGeom>
              <a:avLst/>
              <a:gdLst>
                <a:gd name="connsiteX0" fmla="*/ 0 w 436410"/>
                <a:gd name="connsiteY0" fmla="*/ 0 h 895350"/>
                <a:gd name="connsiteX1" fmla="*/ 436410 w 436410"/>
                <a:gd name="connsiteY1" fmla="*/ 0 h 895350"/>
                <a:gd name="connsiteX2" fmla="*/ 250915 w 436410"/>
                <a:gd name="connsiteY2" fmla="*/ 895350 h 895350"/>
                <a:gd name="connsiteX3" fmla="*/ 0 w 436410"/>
                <a:gd name="connsiteY3" fmla="*/ 895350 h 895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6410" h="895350">
                  <a:moveTo>
                    <a:pt x="0" y="0"/>
                  </a:moveTo>
                  <a:lnTo>
                    <a:pt x="436410" y="0"/>
                  </a:lnTo>
                  <a:lnTo>
                    <a:pt x="250915" y="895350"/>
                  </a:lnTo>
                  <a:lnTo>
                    <a:pt x="0" y="89535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6" name="任意多边形: 形状 57">
              <a:extLst>
                <a:ext uri="{FF2B5EF4-FFF2-40B4-BE49-F238E27FC236}">
                  <a16:creationId xmlns:a16="http://schemas.microsoft.com/office/drawing/2014/main" id="{0B39D90D-B980-4ADB-95FB-F043B008E76D}"/>
                </a:ext>
              </a:extLst>
            </p:cNvPr>
            <p:cNvSpPr/>
            <p:nvPr userDrawn="1"/>
          </p:nvSpPr>
          <p:spPr>
            <a:xfrm>
              <a:off x="417309" y="379233"/>
              <a:ext cx="96622" cy="221903"/>
            </a:xfrm>
            <a:custGeom>
              <a:avLst/>
              <a:gdLst>
                <a:gd name="connsiteX0" fmla="*/ 144879 w 185359"/>
                <a:gd name="connsiteY0" fmla="*/ 0 h 699303"/>
                <a:gd name="connsiteX1" fmla="*/ 185359 w 185359"/>
                <a:gd name="connsiteY1" fmla="*/ 0 h 699303"/>
                <a:gd name="connsiteX2" fmla="*/ 40480 w 185359"/>
                <a:gd name="connsiteY2" fmla="*/ 699303 h 699303"/>
                <a:gd name="connsiteX3" fmla="*/ 0 w 185359"/>
                <a:gd name="connsiteY3" fmla="*/ 699303 h 699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5359" h="699303">
                  <a:moveTo>
                    <a:pt x="144879" y="0"/>
                  </a:moveTo>
                  <a:lnTo>
                    <a:pt x="185359" y="0"/>
                  </a:lnTo>
                  <a:lnTo>
                    <a:pt x="40480" y="699303"/>
                  </a:lnTo>
                  <a:lnTo>
                    <a:pt x="0" y="699303"/>
                  </a:lnTo>
                  <a:close/>
                </a:path>
              </a:pathLst>
            </a:custGeom>
            <a:solidFill>
              <a:schemeClr val="accent4"/>
            </a:solidFill>
            <a:ln w="38100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1375EC85-F9E6-44D2-9F15-53B5B6F75476}"/>
              </a:ext>
            </a:extLst>
          </p:cNvPr>
          <p:cNvCxnSpPr>
            <a:cxnSpLocks/>
          </p:cNvCxnSpPr>
          <p:nvPr userDrawn="1"/>
        </p:nvCxnSpPr>
        <p:spPr>
          <a:xfrm>
            <a:off x="442913" y="821731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矩形 87">
            <a:extLst>
              <a:ext uri="{FF2B5EF4-FFF2-40B4-BE49-F238E27FC236}">
                <a16:creationId xmlns:a16="http://schemas.microsoft.com/office/drawing/2014/main" id="{CE6666C3-355D-4A5C-A830-6BBD90D5F1FE}"/>
              </a:ext>
            </a:extLst>
          </p:cNvPr>
          <p:cNvSpPr/>
          <p:nvPr userDrawn="1"/>
        </p:nvSpPr>
        <p:spPr>
          <a:xfrm>
            <a:off x="12146281" y="336478"/>
            <a:ext cx="45719" cy="26597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组合 82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84" name="组合 83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104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5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106" name="组合 105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111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12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7" name="组合 106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108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9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10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89" name="组合 88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91" name="组合 90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102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3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2" name="组合 91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100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1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3" name="组合 92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97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8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9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4" name="组合 93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95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6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388817076"/>
      </p:ext>
    </p:extLst>
  </p:cSld>
  <p:clrMapOvr>
    <a:masterClrMapping/>
  </p:clrMapOvr>
  <p:transition spd="med"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2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组合 82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84" name="组合 83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104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5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106" name="组合 105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111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12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7" name="组合 106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108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9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10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89" name="组合 88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91" name="组合 90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102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3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2" name="组合 91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100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1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3" name="组合 92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97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8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9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4" name="组合 93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95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6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36" name="标题 11">
            <a:extLst>
              <a:ext uri="{FF2B5EF4-FFF2-40B4-BE49-F238E27FC236}">
                <a16:creationId xmlns:a16="http://schemas.microsoft.com/office/drawing/2014/main" id="{C75E756C-98CD-4DE4-BB41-9C72D0D63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4184648170"/>
      </p:ext>
    </p:extLst>
  </p:cSld>
  <p:clrMapOvr>
    <a:masterClrMapping/>
  </p:clrMapOvr>
  <p:transition spd="med"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2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CE6666C3-355D-4A5C-A830-6BBD90D5F1FE}"/>
              </a:ext>
            </a:extLst>
          </p:cNvPr>
          <p:cNvSpPr/>
          <p:nvPr userDrawn="1"/>
        </p:nvSpPr>
        <p:spPr>
          <a:xfrm>
            <a:off x="12146281" y="336478"/>
            <a:ext cx="45719" cy="26597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90193" y="252089"/>
            <a:ext cx="1969223" cy="43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682075"/>
      </p:ext>
    </p:extLst>
  </p:cSld>
  <p:clrMapOvr>
    <a:masterClrMapping/>
  </p:clrMapOvr>
  <p:transition spd="med"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3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任意多边形: 形状 77">
            <a:extLst>
              <a:ext uri="{FF2B5EF4-FFF2-40B4-BE49-F238E27FC236}">
                <a16:creationId xmlns:a16="http://schemas.microsoft.com/office/drawing/2014/main" id="{234BC7E1-028A-4463-99ED-1994A3ADEC14}"/>
              </a:ext>
            </a:extLst>
          </p:cNvPr>
          <p:cNvSpPr/>
          <p:nvPr userDrawn="1"/>
        </p:nvSpPr>
        <p:spPr>
          <a:xfrm>
            <a:off x="10114068" y="210207"/>
            <a:ext cx="2789025" cy="573228"/>
          </a:xfrm>
          <a:custGeom>
            <a:avLst/>
            <a:gdLst>
              <a:gd name="connsiteX0" fmla="*/ 83399 w 1678507"/>
              <a:gd name="connsiteY0" fmla="*/ 0 h 573228"/>
              <a:gd name="connsiteX1" fmla="*/ 1678507 w 1678507"/>
              <a:gd name="connsiteY1" fmla="*/ 0 h 573228"/>
              <a:gd name="connsiteX2" fmla="*/ 1678507 w 1678507"/>
              <a:gd name="connsiteY2" fmla="*/ 573228 h 573228"/>
              <a:gd name="connsiteX3" fmla="*/ 0 w 1678507"/>
              <a:gd name="connsiteY3" fmla="*/ 573228 h 5732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8507" h="573228">
                <a:moveTo>
                  <a:pt x="83399" y="0"/>
                </a:moveTo>
                <a:lnTo>
                  <a:pt x="1678507" y="0"/>
                </a:lnTo>
                <a:lnTo>
                  <a:pt x="1678507" y="573228"/>
                </a:lnTo>
                <a:lnTo>
                  <a:pt x="0" y="57322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2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4" name="平行四边形 3">
            <a:extLst>
              <a:ext uri="{FF2B5EF4-FFF2-40B4-BE49-F238E27FC236}">
                <a16:creationId xmlns:a16="http://schemas.microsoft.com/office/drawing/2014/main" id="{91BC6857-420C-4F20-ABBF-78DDE1D9F36B}"/>
              </a:ext>
            </a:extLst>
          </p:cNvPr>
          <p:cNvSpPr/>
          <p:nvPr userDrawn="1"/>
        </p:nvSpPr>
        <p:spPr>
          <a:xfrm>
            <a:off x="198120" y="302341"/>
            <a:ext cx="746398" cy="342128"/>
          </a:xfrm>
          <a:prstGeom prst="parallelogram">
            <a:avLst>
              <a:gd name="adj" fmla="val 25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71" name="文本框 7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标题 11"/>
          <p:cNvSpPr>
            <a:spLocks noGrp="1"/>
          </p:cNvSpPr>
          <p:nvPr>
            <p:ph type="title"/>
          </p:nvPr>
        </p:nvSpPr>
        <p:spPr>
          <a:xfrm>
            <a:off x="949325" y="24906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pic>
        <p:nvPicPr>
          <p:cNvPr id="98" name="图片 9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77475" y="241566"/>
            <a:ext cx="1819275" cy="509219"/>
          </a:xfrm>
          <a:prstGeom prst="rect">
            <a:avLst/>
          </a:prstGeom>
        </p:spPr>
      </p:pic>
      <p:grpSp>
        <p:nvGrpSpPr>
          <p:cNvPr id="33" name="组合 32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34" name="组合 33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49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0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51" name="组合 50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56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7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2" name="组合 51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3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4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5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5" name="组合 34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36" name="组合 35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47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8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7" name="组合 36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8" name="组合 37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42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3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4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9" name="组合 38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0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1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472838587"/>
      </p:ext>
    </p:extLst>
  </p:cSld>
  <p:clrMapOvr>
    <a:masterClrMapping/>
  </p:clrMapOvr>
  <p:transition spd="med"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3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文本框 7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标题 11"/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grpSp>
        <p:nvGrpSpPr>
          <p:cNvPr id="33" name="组合 32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34" name="组合 33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49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0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51" name="组合 50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56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7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2" name="组合 51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3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4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5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5" name="组合 34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36" name="组合 35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47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8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7" name="组合 36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8" name="组合 37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42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3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4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9" name="组合 38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0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1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709290042"/>
      </p:ext>
    </p:extLst>
  </p:cSld>
  <p:clrMapOvr>
    <a:masterClrMapping/>
  </p:clrMapOvr>
  <p:transition spd="med"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４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366474" y="863157"/>
            <a:ext cx="10502238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10D966C-9DD4-4144-A316-29077EB905B4}"/>
              </a:ext>
            </a:extLst>
          </p:cNvPr>
          <p:cNvSpPr/>
          <p:nvPr userDrawn="1"/>
        </p:nvSpPr>
        <p:spPr>
          <a:xfrm>
            <a:off x="318632" y="0"/>
            <a:ext cx="1048735" cy="873125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1368806" y="34431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6632" y="6351003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58" name="直接连接符 57"/>
          <p:cNvCxnSpPr/>
          <p:nvPr userDrawn="1"/>
        </p:nvCxnSpPr>
        <p:spPr>
          <a:xfrm>
            <a:off x="11155416" y="6188075"/>
            <a:ext cx="0" cy="665583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图片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0101715" y="214313"/>
            <a:ext cx="1864408" cy="690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0" name="图片 1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09575" y="6269038"/>
            <a:ext cx="1817688" cy="50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020376486"/>
      </p:ext>
    </p:extLst>
  </p:cSld>
  <p:clrMapOvr>
    <a:masterClrMapping/>
  </p:clrMapOvr>
  <p:transition spd="med"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４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6632" y="6351003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58" name="直接连接符 57"/>
          <p:cNvCxnSpPr/>
          <p:nvPr userDrawn="1"/>
        </p:nvCxnSpPr>
        <p:spPr>
          <a:xfrm>
            <a:off x="11155416" y="6188075"/>
            <a:ext cx="0" cy="665583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0" name="图片 1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09575" y="6269038"/>
            <a:ext cx="1817688" cy="50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标题 11">
            <a:extLst>
              <a:ext uri="{FF2B5EF4-FFF2-40B4-BE49-F238E27FC236}">
                <a16:creationId xmlns:a16="http://schemas.microsoft.com/office/drawing/2014/main" id="{B751A2AD-C679-48C2-AFF3-1AB781A3D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390820287"/>
      </p:ext>
    </p:extLst>
  </p:cSld>
  <p:clrMapOvr>
    <a:masterClrMapping/>
  </p:clrMapOvr>
  <p:transition spd="med"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４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0185149" y="863157"/>
            <a:ext cx="1683563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58" name="直接连接符 57"/>
          <p:cNvCxnSpPr/>
          <p:nvPr userDrawn="1"/>
        </p:nvCxnSpPr>
        <p:spPr>
          <a:xfrm>
            <a:off x="11155416" y="6188075"/>
            <a:ext cx="0" cy="665583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图片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0101715" y="214313"/>
            <a:ext cx="1864408" cy="690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272453490"/>
      </p:ext>
    </p:extLst>
  </p:cSld>
  <p:clrMapOvr>
    <a:masterClrMapping/>
  </p:clrMapOvr>
  <p:transition spd="med"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5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749863" y="24906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333"/>
          <a:stretch/>
        </p:blipFill>
        <p:spPr>
          <a:xfrm>
            <a:off x="11282579" y="252089"/>
            <a:ext cx="432990" cy="432990"/>
          </a:xfrm>
          <a:prstGeom prst="rect">
            <a:avLst/>
          </a:prstGeom>
        </p:spPr>
      </p:pic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1375EC85-F9E6-44D2-9F15-53B5B6F75476}"/>
              </a:ext>
            </a:extLst>
          </p:cNvPr>
          <p:cNvCxnSpPr>
            <a:cxnSpLocks/>
          </p:cNvCxnSpPr>
          <p:nvPr userDrawn="1"/>
        </p:nvCxnSpPr>
        <p:spPr>
          <a:xfrm>
            <a:off x="442913" y="821731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/>
          <p:cNvGrpSpPr/>
          <p:nvPr userDrawn="1"/>
        </p:nvGrpSpPr>
        <p:grpSpPr>
          <a:xfrm>
            <a:off x="-511603" y="253621"/>
            <a:ext cx="1221064" cy="438825"/>
            <a:chOff x="-529708" y="381991"/>
            <a:chExt cx="1221064" cy="438825"/>
          </a:xfrm>
        </p:grpSpPr>
        <p:sp>
          <p:nvSpPr>
            <p:cNvPr id="58" name="梯形 57">
              <a:extLst>
                <a:ext uri="{FF2B5EF4-FFF2-40B4-BE49-F238E27FC236}">
                  <a16:creationId xmlns:a16="http://schemas.microsoft.com/office/drawing/2014/main" id="{5065A524-15E6-4769-B9ED-7868E19ADB1E}"/>
                </a:ext>
              </a:extLst>
            </p:cNvPr>
            <p:cNvSpPr/>
            <p:nvPr userDrawn="1"/>
          </p:nvSpPr>
          <p:spPr>
            <a:xfrm rot="16200000">
              <a:off x="-107121" y="-40596"/>
              <a:ext cx="375890" cy="1221064"/>
            </a:xfrm>
            <a:prstGeom prst="trapezoid">
              <a:avLst>
                <a:gd name="adj" fmla="val 7230"/>
              </a:avLst>
            </a:prstGeom>
            <a:gradFill>
              <a:gsLst>
                <a:gs pos="100000">
                  <a:schemeClr val="accent1"/>
                </a:gs>
                <a:gs pos="0">
                  <a:schemeClr val="accent1">
                    <a:alpha val="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梯形 58">
              <a:extLst>
                <a:ext uri="{FF2B5EF4-FFF2-40B4-BE49-F238E27FC236}">
                  <a16:creationId xmlns:a16="http://schemas.microsoft.com/office/drawing/2014/main" id="{AC403C93-604F-4B72-B919-463ACA49C29B}"/>
                </a:ext>
              </a:extLst>
            </p:cNvPr>
            <p:cNvSpPr/>
            <p:nvPr userDrawn="1"/>
          </p:nvSpPr>
          <p:spPr>
            <a:xfrm rot="16200000">
              <a:off x="-79397" y="146495"/>
              <a:ext cx="267255" cy="1058332"/>
            </a:xfrm>
            <a:prstGeom prst="trapezoid">
              <a:avLst>
                <a:gd name="adj" fmla="val 723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0" name="梯形 59">
              <a:extLst>
                <a:ext uri="{FF2B5EF4-FFF2-40B4-BE49-F238E27FC236}">
                  <a16:creationId xmlns:a16="http://schemas.microsoft.com/office/drawing/2014/main" id="{AC403C93-604F-4B72-B919-463ACA49C29B}"/>
                </a:ext>
              </a:extLst>
            </p:cNvPr>
            <p:cNvSpPr/>
            <p:nvPr userDrawn="1"/>
          </p:nvSpPr>
          <p:spPr>
            <a:xfrm rot="16200000">
              <a:off x="-95133" y="158023"/>
              <a:ext cx="267255" cy="1058332"/>
            </a:xfrm>
            <a:prstGeom prst="trapezoid">
              <a:avLst>
                <a:gd name="adj" fmla="val 7230"/>
              </a:avLst>
            </a:prstGeom>
            <a:gradFill flip="none" rotWithShape="1">
              <a:gsLst>
                <a:gs pos="100000">
                  <a:schemeClr val="accent4"/>
                </a:gs>
                <a:gs pos="0">
                  <a:schemeClr val="accent4">
                    <a:alpha val="0"/>
                  </a:schemeClr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61" name="组合 60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62" name="组合 61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77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78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79" name="组合 78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84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85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0" name="组合 79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81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82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83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63" name="组合 62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64" name="组合 63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75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6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5" name="组合 64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73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4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6" name="组合 65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70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1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2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7" name="组合 66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68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9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337545581"/>
      </p:ext>
    </p:extLst>
  </p:cSld>
  <p:clrMapOvr>
    <a:masterClrMapping/>
  </p:clrMapOvr>
  <p:transition spd="med"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5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1" name="组合 60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62" name="组合 61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77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78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79" name="组合 78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84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85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0" name="组合 79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81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82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83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63" name="组合 62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64" name="组合 63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75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6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5" name="组合 64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73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4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6" name="组合 65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70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1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2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7" name="组合 66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68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9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36" name="标题 11">
            <a:extLst>
              <a:ext uri="{FF2B5EF4-FFF2-40B4-BE49-F238E27FC236}">
                <a16:creationId xmlns:a16="http://schemas.microsoft.com/office/drawing/2014/main" id="{C0F4148E-045B-44EE-8A4E-88B14DCC5E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069761479"/>
      </p:ext>
    </p:extLst>
  </p:cSld>
  <p:clrMapOvr>
    <a:masterClrMapping/>
  </p:clrMapOvr>
  <p:transition spd="med"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5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文本框 6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86" name="图片 85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333"/>
          <a:stretch/>
        </p:blipFill>
        <p:spPr>
          <a:xfrm>
            <a:off x="11282579" y="252089"/>
            <a:ext cx="432990" cy="43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673142"/>
      </p:ext>
    </p:extLst>
  </p:cSld>
  <p:clrMapOvr>
    <a:masterClrMapping/>
  </p:clrMapOvr>
  <p:transition spd="med"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6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矩形 46"/>
          <p:cNvSpPr/>
          <p:nvPr userDrawn="1"/>
        </p:nvSpPr>
        <p:spPr>
          <a:xfrm>
            <a:off x="442912" y="-82551"/>
            <a:ext cx="11306175" cy="90870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/>
          <p:cNvSpPr/>
          <p:nvPr userDrawn="1"/>
        </p:nvSpPr>
        <p:spPr>
          <a:xfrm>
            <a:off x="442913" y="0"/>
            <a:ext cx="11306175" cy="8261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标题 11"/>
          <p:cNvSpPr>
            <a:spLocks noGrp="1"/>
          </p:cNvSpPr>
          <p:nvPr>
            <p:ph type="title"/>
          </p:nvPr>
        </p:nvSpPr>
        <p:spPr>
          <a:xfrm>
            <a:off x="1173494" y="249067"/>
            <a:ext cx="8048203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90168" y="252089"/>
            <a:ext cx="1969223" cy="432990"/>
          </a:xfrm>
          <a:prstGeom prst="rect">
            <a:avLst/>
          </a:prstGeom>
        </p:spPr>
      </p:pic>
      <p:grpSp>
        <p:nvGrpSpPr>
          <p:cNvPr id="46" name="组合 45"/>
          <p:cNvGrpSpPr/>
          <p:nvPr userDrawn="1"/>
        </p:nvGrpSpPr>
        <p:grpSpPr>
          <a:xfrm>
            <a:off x="637534" y="199773"/>
            <a:ext cx="463263" cy="481001"/>
            <a:chOff x="598941" y="128599"/>
            <a:chExt cx="463263" cy="481001"/>
          </a:xfrm>
        </p:grpSpPr>
        <p:sp>
          <p:nvSpPr>
            <p:cNvPr id="45" name="矩形 44"/>
            <p:cNvSpPr/>
            <p:nvPr userDrawn="1"/>
          </p:nvSpPr>
          <p:spPr>
            <a:xfrm>
              <a:off x="701671" y="249067"/>
              <a:ext cx="360533" cy="360533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" name="矩形 43"/>
            <p:cNvSpPr/>
            <p:nvPr userDrawn="1"/>
          </p:nvSpPr>
          <p:spPr>
            <a:xfrm>
              <a:off x="701671" y="247801"/>
              <a:ext cx="275115" cy="25652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" name="矩形 42"/>
            <p:cNvSpPr/>
            <p:nvPr userDrawn="1"/>
          </p:nvSpPr>
          <p:spPr>
            <a:xfrm>
              <a:off x="598941" y="128599"/>
              <a:ext cx="360533" cy="36053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36" name="组合 35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37" name="组合 36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60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61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62" name="组合 61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67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8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64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5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6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9" name="组合 38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40" name="组合 39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58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9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8" name="组合 47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56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7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9" name="组合 48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53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4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5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0" name="组合 49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51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2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731854349"/>
      </p:ext>
    </p:extLst>
  </p:cSld>
  <p:clrMapOvr>
    <a:masterClrMapping/>
  </p:clrMapOvr>
  <p:transition spd="med"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6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组合 35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37" name="组合 36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60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61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62" name="组合 61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67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8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64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5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6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9" name="组合 38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40" name="组合 39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58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9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8" name="组合 47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56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7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9" name="组合 48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53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4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5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0" name="组合 49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51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2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69" name="标题 11">
            <a:extLst>
              <a:ext uri="{FF2B5EF4-FFF2-40B4-BE49-F238E27FC236}">
                <a16:creationId xmlns:a16="http://schemas.microsoft.com/office/drawing/2014/main" id="{0D0682F6-A194-4FB3-8EF2-674B6164F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860076239"/>
      </p:ext>
    </p:extLst>
  </p:cSld>
  <p:clrMapOvr>
    <a:masterClrMapping/>
  </p:clrMapOvr>
  <p:transition spd="med"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6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sp>
        <p:nvSpPr>
          <p:cNvPr id="35" name="矩形 34"/>
          <p:cNvSpPr/>
          <p:nvPr userDrawn="1"/>
        </p:nvSpPr>
        <p:spPr>
          <a:xfrm>
            <a:off x="9402184" y="-82800"/>
            <a:ext cx="2346903" cy="9072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矩形 35"/>
          <p:cNvSpPr/>
          <p:nvPr userDrawn="1"/>
        </p:nvSpPr>
        <p:spPr>
          <a:xfrm>
            <a:off x="9402184" y="0"/>
            <a:ext cx="2346904" cy="8261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9" name="图片 3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90168" y="252089"/>
            <a:ext cx="1969223" cy="43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4504381"/>
      </p:ext>
    </p:extLst>
  </p:cSld>
  <p:clrMapOvr>
    <a:masterClrMapping/>
  </p:clrMapOvr>
  <p:transition spd="med"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7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平行四边形 1"/>
          <p:cNvSpPr/>
          <p:nvPr userDrawn="1"/>
        </p:nvSpPr>
        <p:spPr>
          <a:xfrm>
            <a:off x="658714" y="482300"/>
            <a:ext cx="748201" cy="484094"/>
          </a:xfrm>
          <a:prstGeom prst="parallelogram">
            <a:avLst>
              <a:gd name="adj" fmla="val 7166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/>
          <p:cNvSpPr/>
          <p:nvPr userDrawn="1"/>
        </p:nvSpPr>
        <p:spPr>
          <a:xfrm>
            <a:off x="442912" y="-82800"/>
            <a:ext cx="11306175" cy="846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/>
          <p:cNvSpPr/>
          <p:nvPr userDrawn="1"/>
        </p:nvSpPr>
        <p:spPr>
          <a:xfrm>
            <a:off x="442913" y="0"/>
            <a:ext cx="11306175" cy="7626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标题 11"/>
          <p:cNvSpPr>
            <a:spLocks noGrp="1"/>
          </p:cNvSpPr>
          <p:nvPr>
            <p:ph type="title"/>
          </p:nvPr>
        </p:nvSpPr>
        <p:spPr>
          <a:xfrm>
            <a:off x="1173494" y="185567"/>
            <a:ext cx="8048203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90168" y="188589"/>
            <a:ext cx="1969223" cy="432990"/>
          </a:xfrm>
          <a:prstGeom prst="rect">
            <a:avLst/>
          </a:prstGeom>
        </p:spPr>
      </p:pic>
      <p:sp>
        <p:nvSpPr>
          <p:cNvPr id="43" name="矩形 42"/>
          <p:cNvSpPr/>
          <p:nvPr userDrawn="1"/>
        </p:nvSpPr>
        <p:spPr>
          <a:xfrm>
            <a:off x="648385" y="0"/>
            <a:ext cx="413819" cy="966395"/>
          </a:xfrm>
          <a:prstGeom prst="rect">
            <a:avLst/>
          </a:prstGeom>
          <a:ln>
            <a:noFill/>
          </a:ln>
          <a:effectLst>
            <a:outerShdw blurRad="127000" dist="25400" dir="5400000" sx="102000" sy="102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4" name="组合 33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35" name="组合 34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55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6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62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3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8" name="组合 57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9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0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1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6" name="组合 35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37" name="组合 36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53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4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9" name="组合 38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51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2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0" name="组合 39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48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9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0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4" name="组合 43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5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6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311591624"/>
      </p:ext>
    </p:extLst>
  </p:cSld>
  <p:clrMapOvr>
    <a:masterClrMapping/>
  </p:clrMapOvr>
  <p:transition spd="med"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7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" name="组合 33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35" name="组合 34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55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6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62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3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8" name="组合 57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9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0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1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6" name="组合 35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37" name="组合 36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53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4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9" name="组合 38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51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2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0" name="组合 39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48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9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0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4" name="组合 43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5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6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64" name="标题 11">
            <a:extLst>
              <a:ext uri="{FF2B5EF4-FFF2-40B4-BE49-F238E27FC236}">
                <a16:creationId xmlns:a16="http://schemas.microsoft.com/office/drawing/2014/main" id="{FDDD1B7B-042D-4B1B-81C1-5A7085CDFC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4014418617"/>
      </p:ext>
    </p:extLst>
  </p:cSld>
  <p:clrMapOvr>
    <a:masterClrMapping/>
  </p:clrMapOvr>
  <p:transition spd="med"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7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文本框 33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sp>
        <p:nvSpPr>
          <p:cNvPr id="7" name="矩形 6"/>
          <p:cNvSpPr/>
          <p:nvPr userDrawn="1"/>
        </p:nvSpPr>
        <p:spPr>
          <a:xfrm>
            <a:off x="9385300" y="-82550"/>
            <a:ext cx="2363787" cy="84520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9385300" y="0"/>
            <a:ext cx="2363788" cy="7626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0" name="图片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90168" y="188589"/>
            <a:ext cx="1969223" cy="43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437746"/>
      </p:ext>
    </p:extLst>
  </p:cSld>
  <p:clrMapOvr>
    <a:masterClrMapping/>
  </p:clrMapOvr>
  <p:transition spd="med"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8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318632" y="6188075"/>
            <a:ext cx="11550080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38100" dir="16200000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10D966C-9DD4-4144-A316-29077EB905B4}"/>
              </a:ext>
            </a:extLst>
          </p:cNvPr>
          <p:cNvSpPr/>
          <p:nvPr userDrawn="1"/>
        </p:nvSpPr>
        <p:spPr>
          <a:xfrm>
            <a:off x="318632" y="0"/>
            <a:ext cx="11550080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  <a:effectLst>
            <a:outerShdw blurRad="127000" dist="38100" dir="5400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9" name="标题 11"/>
          <p:cNvSpPr>
            <a:spLocks noGrp="1"/>
          </p:cNvSpPr>
          <p:nvPr>
            <p:ph type="title"/>
          </p:nvPr>
        </p:nvSpPr>
        <p:spPr>
          <a:xfrm>
            <a:off x="541539" y="247495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11" name="文本框 1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64050" y="131404"/>
            <a:ext cx="2243119" cy="627854"/>
          </a:xfrm>
          <a:prstGeom prst="rect">
            <a:avLst/>
          </a:prstGeom>
        </p:spPr>
      </p:pic>
      <p:grpSp>
        <p:nvGrpSpPr>
          <p:cNvPr id="37" name="组合 36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bg1"/>
          </a:solidFill>
        </p:grpSpPr>
        <p:grpSp>
          <p:nvGrpSpPr>
            <p:cNvPr id="38" name="组合 37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54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5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56" name="组合 55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61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2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8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9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0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9" name="组合 38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41" name="组合 40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52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3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2" name="组合 41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50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1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3" name="组合 42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47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8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9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4" name="组合 43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5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6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539368824"/>
      </p:ext>
    </p:extLst>
  </p:cSld>
  <p:clrMapOvr>
    <a:masterClrMapping/>
  </p:clrMapOvr>
  <p:transition spd="med"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8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318632" y="6188075"/>
            <a:ext cx="11550080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38100" dir="16200000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11" name="文本框 1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37" name="组合 36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bg1"/>
          </a:solidFill>
        </p:grpSpPr>
        <p:grpSp>
          <p:nvGrpSpPr>
            <p:cNvPr id="38" name="组合 37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54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5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56" name="组合 55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61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2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8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9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0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9" name="组合 38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41" name="组合 40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52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3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2" name="组合 41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50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1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3" name="组合 42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47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8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9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4" name="组合 43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5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6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32" name="标题 11">
            <a:extLst>
              <a:ext uri="{FF2B5EF4-FFF2-40B4-BE49-F238E27FC236}">
                <a16:creationId xmlns:a16="http://schemas.microsoft.com/office/drawing/2014/main" id="{A87381B5-231A-44CC-994D-B480CB6C31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3849904062"/>
      </p:ext>
    </p:extLst>
  </p:cSld>
  <p:clrMapOvr>
    <a:masterClrMapping/>
  </p:clrMapOvr>
  <p:transition spd="med"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8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44922" y="6188075"/>
            <a:ext cx="723790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38100" dir="16200000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10D966C-9DD4-4144-A316-29077EB905B4}"/>
              </a:ext>
            </a:extLst>
          </p:cNvPr>
          <p:cNvSpPr/>
          <p:nvPr userDrawn="1"/>
        </p:nvSpPr>
        <p:spPr>
          <a:xfrm>
            <a:off x="9488246" y="0"/>
            <a:ext cx="2380466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  <a:effectLst>
            <a:outerShdw blurRad="127000" dist="38100" dir="5400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11" name="文本框 1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64050" y="131404"/>
            <a:ext cx="2243119" cy="627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7690075"/>
      </p:ext>
    </p:extLst>
  </p:cSld>
  <p:clrMapOvr>
    <a:masterClrMapping/>
  </p:clrMapOvr>
  <p:transition spd="med"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1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25963"/>
          <a:stretch/>
        </p:blipFill>
        <p:spPr>
          <a:xfrm>
            <a:off x="7191376" y="133072"/>
            <a:ext cx="5028334" cy="6535793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902F5BB1-3479-4B75-8121-C76027E92312}"/>
              </a:ext>
            </a:extLst>
          </p:cNvPr>
          <p:cNvSpPr/>
          <p:nvPr userDrawn="1"/>
        </p:nvSpPr>
        <p:spPr>
          <a:xfrm>
            <a:off x="0" y="1484313"/>
            <a:ext cx="2930035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5" name="文本占位符 12">
            <a:extLst>
              <a:ext uri="{FF2B5EF4-FFF2-40B4-BE49-F238E27FC236}">
                <a16:creationId xmlns:a16="http://schemas.microsoft.com/office/drawing/2014/main" id="{F63B7C85-1073-4365-852C-DE0C04E61BE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97615" y="4908366"/>
            <a:ext cx="7059690" cy="410335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2FF2961-8E0B-4CFB-9897-39262A918722}"/>
              </a:ext>
            </a:extLst>
          </p:cNvPr>
          <p:cNvSpPr/>
          <p:nvPr userDrawn="1"/>
        </p:nvSpPr>
        <p:spPr>
          <a:xfrm>
            <a:off x="11525250" y="1484311"/>
            <a:ext cx="666749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02F5BB1-3479-4B75-8121-C76027E92312}"/>
              </a:ext>
            </a:extLst>
          </p:cNvPr>
          <p:cNvSpPr/>
          <p:nvPr userDrawn="1"/>
        </p:nvSpPr>
        <p:spPr>
          <a:xfrm>
            <a:off x="2927998" y="1484310"/>
            <a:ext cx="377842" cy="43644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02F5BB1-3479-4B75-8121-C76027E92312}"/>
              </a:ext>
            </a:extLst>
          </p:cNvPr>
          <p:cNvSpPr/>
          <p:nvPr userDrawn="1"/>
        </p:nvSpPr>
        <p:spPr>
          <a:xfrm>
            <a:off x="11121340" y="1484310"/>
            <a:ext cx="403257" cy="43644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F269877-3713-4708-B674-1A813AB36FFC}"/>
              </a:ext>
            </a:extLst>
          </p:cNvPr>
          <p:cNvSpPr txBox="1"/>
          <p:nvPr userDrawn="1"/>
        </p:nvSpPr>
        <p:spPr>
          <a:xfrm rot="16200000">
            <a:off x="10462781" y="3524086"/>
            <a:ext cx="3170099" cy="2616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defPPr>
              <a:defRPr lang="zh-CN"/>
            </a:defPPr>
            <a:lvl1pPr algn="dist">
              <a:defRPr sz="1100" b="1">
                <a:solidFill>
                  <a:schemeClr val="bg1">
                    <a:alpha val="22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di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BEIJING INSTITUTE OF TECHNOLOGY</a:t>
            </a:r>
          </a:p>
        </p:txBody>
      </p:sp>
      <p:pic>
        <p:nvPicPr>
          <p:cNvPr id="41" name="图片 4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4738" y="515429"/>
            <a:ext cx="2295327" cy="504694"/>
          </a:xfrm>
          <a:prstGeom prst="rect">
            <a:avLst/>
          </a:prstGeom>
        </p:spPr>
      </p:pic>
      <p:cxnSp>
        <p:nvCxnSpPr>
          <p:cNvPr id="42" name="直接连接符 41"/>
          <p:cNvCxnSpPr/>
          <p:nvPr userDrawn="1"/>
        </p:nvCxnSpPr>
        <p:spPr>
          <a:xfrm>
            <a:off x="2927998" y="1355988"/>
            <a:ext cx="0" cy="458984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 userDrawn="1"/>
        </p:nvCxnSpPr>
        <p:spPr>
          <a:xfrm>
            <a:off x="11522544" y="1400593"/>
            <a:ext cx="0" cy="4545237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9" name="组合 68"/>
          <p:cNvGrpSpPr/>
          <p:nvPr userDrawn="1"/>
        </p:nvGrpSpPr>
        <p:grpSpPr>
          <a:xfrm>
            <a:off x="566553" y="2031917"/>
            <a:ext cx="1778298" cy="3243219"/>
            <a:chOff x="611818" y="2031917"/>
            <a:chExt cx="1709547" cy="3117834"/>
          </a:xfrm>
        </p:grpSpPr>
        <p:grpSp>
          <p:nvGrpSpPr>
            <p:cNvPr id="70" name="组合 69"/>
            <p:cNvGrpSpPr/>
            <p:nvPr/>
          </p:nvGrpSpPr>
          <p:grpSpPr>
            <a:xfrm>
              <a:off x="611818" y="2051403"/>
              <a:ext cx="567014" cy="3098348"/>
              <a:chOff x="11305242" y="2003776"/>
              <a:chExt cx="354194" cy="1935432"/>
            </a:xfrm>
            <a:solidFill>
              <a:schemeClr val="bg1">
                <a:alpha val="5000"/>
              </a:schemeClr>
            </a:solidFill>
          </p:grpSpPr>
          <p:sp>
            <p:nvSpPr>
              <p:cNvPr id="85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07751" y="3052538"/>
                <a:ext cx="345981" cy="390126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6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82341" y="3639427"/>
                <a:ext cx="199170" cy="299781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grpSp>
            <p:nvGrpSpPr>
              <p:cNvPr id="87" name="组合 86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11305242" y="2003776"/>
                <a:ext cx="354194" cy="439406"/>
                <a:chOff x="5548313" y="2084388"/>
                <a:chExt cx="547688" cy="679451"/>
              </a:xfrm>
              <a:grpFill/>
            </p:grpSpPr>
            <p:sp>
              <p:nvSpPr>
                <p:cNvPr id="92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93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88" name="组合 87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11380191" y="2640087"/>
                <a:ext cx="214274" cy="229664"/>
                <a:chOff x="3792874" y="3156423"/>
                <a:chExt cx="331330" cy="355128"/>
              </a:xfrm>
              <a:grpFill/>
            </p:grpSpPr>
            <p:sp>
              <p:nvSpPr>
                <p:cNvPr id="89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90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91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  <p:grpSp>
          <p:nvGrpSpPr>
            <p:cNvPr id="71" name="组合 70"/>
            <p:cNvGrpSpPr/>
            <p:nvPr userDrawn="1"/>
          </p:nvGrpSpPr>
          <p:grpSpPr>
            <a:xfrm>
              <a:off x="1752713" y="2031917"/>
              <a:ext cx="568652" cy="3091276"/>
              <a:chOff x="1752714" y="2031919"/>
              <a:chExt cx="568653" cy="3091274"/>
            </a:xfrm>
          </p:grpSpPr>
          <p:grpSp>
            <p:nvGrpSpPr>
              <p:cNvPr id="72" name="组合 71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1769227" y="3776579"/>
                <a:ext cx="501270" cy="527572"/>
                <a:chOff x="6113463" y="3541713"/>
                <a:chExt cx="484188" cy="509588"/>
              </a:xfrm>
              <a:solidFill>
                <a:schemeClr val="bg1">
                  <a:alpha val="5000"/>
                </a:schemeClr>
              </a:solidFill>
            </p:grpSpPr>
            <p:sp>
              <p:nvSpPr>
                <p:cNvPr id="83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4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3" name="组合 72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1752714" y="2031919"/>
                <a:ext cx="568653" cy="718220"/>
                <a:chOff x="6108700" y="2066926"/>
                <a:chExt cx="549275" cy="693738"/>
              </a:xfrm>
              <a:solidFill>
                <a:schemeClr val="bg1">
                  <a:alpha val="5000"/>
                </a:schemeClr>
              </a:solidFill>
            </p:grpSpPr>
            <p:sp>
              <p:nvSpPr>
                <p:cNvPr id="81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2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4" name="组合 73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1855433" y="3075554"/>
                <a:ext cx="381292" cy="328704"/>
                <a:chOff x="6186488" y="2930526"/>
                <a:chExt cx="368300" cy="317500"/>
              </a:xfrm>
              <a:solidFill>
                <a:schemeClr val="bg1">
                  <a:alpha val="5000"/>
                </a:schemeClr>
              </a:solidFill>
            </p:grpSpPr>
            <p:sp>
              <p:nvSpPr>
                <p:cNvPr id="78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9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0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5" name="组合 74"/>
              <p:cNvGrpSpPr/>
              <p:nvPr/>
            </p:nvGrpSpPr>
            <p:grpSpPr>
              <a:xfrm>
                <a:off x="1804180" y="4681015"/>
                <a:ext cx="442058" cy="442178"/>
                <a:chOff x="11893476" y="1994536"/>
                <a:chExt cx="277932" cy="278006"/>
              </a:xfrm>
              <a:solidFill>
                <a:schemeClr val="bg1">
                  <a:alpha val="5000"/>
                </a:schemeClr>
              </a:solidFill>
            </p:grpSpPr>
            <p:sp>
              <p:nvSpPr>
                <p:cNvPr id="76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5308" cy="27343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7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76" y="2009127"/>
                  <a:ext cx="105167" cy="263415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</p:grpSp>
      <p:sp>
        <p:nvSpPr>
          <p:cNvPr id="44" name="文本占位符 12">
            <a:extLst>
              <a:ext uri="{FF2B5EF4-FFF2-40B4-BE49-F238E27FC236}">
                <a16:creationId xmlns:a16="http://schemas.microsoft.com/office/drawing/2014/main" id="{562B6659-3604-4A5D-84A6-6A47FE1698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97616" y="1658264"/>
            <a:ext cx="7059689" cy="2267551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5600" b="1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  <a:endParaRPr lang="en-US" altLang="zh-CN" dirty="0"/>
          </a:p>
          <a:p>
            <a:pPr lvl="0"/>
            <a:r>
              <a:rPr lang="zh-CN" altLang="en-US" dirty="0"/>
              <a:t>输入标题</a:t>
            </a:r>
          </a:p>
        </p:txBody>
      </p:sp>
    </p:spTree>
    <p:extLst>
      <p:ext uri="{BB962C8B-B14F-4D97-AF65-F5344CB8AC3E}">
        <p14:creationId xmlns:p14="http://schemas.microsoft.com/office/powerpoint/2010/main" val="35442776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307D9317-7C4B-477D-9FCD-CD5482370328}" type="datetimeFigureOut">
              <a:rPr lang="zh-CN" altLang="en-US"/>
              <a:pPr>
                <a:defRPr/>
              </a:pPr>
              <a:t>2026/4/29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EC0B3BC9-7090-482A-AB63-1945A9C9F1E4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374857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</p:sldLayoutIdLst>
  <p:transition spd="med">
    <p:fade/>
  </p:transition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文本占位符 4">
            <a:extLst>
              <a:ext uri="{FF2B5EF4-FFF2-40B4-BE49-F238E27FC236}">
                <a16:creationId xmlns:a16="http://schemas.microsoft.com/office/drawing/2014/main" id="{ADC8450B-B7A8-4345-A581-E9097A6557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49208" y="4270263"/>
            <a:ext cx="7287114" cy="1578523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</a:pPr>
            <a:r>
              <a:rPr lang="zh-CN" altLang="en-US" dirty="0"/>
              <a:t>答辩人：俞乐楠</a:t>
            </a:r>
            <a:endParaRPr lang="en-US" altLang="zh-CN" dirty="0"/>
          </a:p>
          <a:p>
            <a:pPr>
              <a:lnSpc>
                <a:spcPct val="150000"/>
              </a:lnSpc>
            </a:pPr>
            <a:r>
              <a:rPr lang="zh-CN" altLang="en-US" dirty="0"/>
              <a:t>导　师：宋林海</a:t>
            </a:r>
            <a:endParaRPr lang="en-US" altLang="zh-CN" dirty="0"/>
          </a:p>
          <a:p>
            <a:pPr>
              <a:lnSpc>
                <a:spcPct val="150000"/>
              </a:lnSpc>
            </a:pPr>
            <a:r>
              <a:rPr lang="zh-CN" altLang="en-US" dirty="0"/>
              <a:t>时　间：</a:t>
            </a:r>
            <a:fld id="{557380AF-A950-485A-9126-2F7168CD3CCC}" type="datetime1">
              <a:rPr lang="zh-CN" altLang="en-US" smtClean="0"/>
              <a:pPr>
                <a:lnSpc>
                  <a:spcPct val="150000"/>
                </a:lnSpc>
              </a:pPr>
              <a:t>2026/4/29</a:t>
            </a:fld>
            <a:endParaRPr lang="zh-CN" altLang="en-US" dirty="0"/>
          </a:p>
        </p:txBody>
      </p:sp>
      <p:sp>
        <p:nvSpPr>
          <p:cNvPr id="20" name="文本占位符 27">
            <a:extLst>
              <a:ext uri="{FF2B5EF4-FFF2-40B4-BE49-F238E27FC236}">
                <a16:creationId xmlns:a16="http://schemas.microsoft.com/office/drawing/2014/main" id="{CCDACD4C-1CA6-4E65-8D95-3D708C7F59C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549208" y="1484311"/>
            <a:ext cx="7287114" cy="2386807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</a:pPr>
            <a:r>
              <a:rPr lang="en-US" altLang="zh-CN" sz="6000" b="1" dirty="0" err="1">
                <a:latin typeface="+mn-ea"/>
                <a:ea typeface="+mn-ea"/>
              </a:rPr>
              <a:t>Lerobot</a:t>
            </a:r>
            <a:r>
              <a:rPr lang="zh-CN" altLang="en-US" sz="6000" b="1" dirty="0">
                <a:latin typeface="+mn-ea"/>
                <a:ea typeface="+mn-ea"/>
              </a:rPr>
              <a:t>系统级别性能剖析</a:t>
            </a:r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F02FAD8C-9DE1-4C82-A97E-3FC46FEADB6D}"/>
              </a:ext>
            </a:extLst>
          </p:cNvPr>
          <p:cNvCxnSpPr/>
          <p:nvPr/>
        </p:nvCxnSpPr>
        <p:spPr>
          <a:xfrm>
            <a:off x="3549208" y="4010868"/>
            <a:ext cx="7287114" cy="0"/>
          </a:xfrm>
          <a:prstGeom prst="line">
            <a:avLst/>
          </a:prstGeom>
          <a:ln w="28575" cmpd="sng">
            <a:solidFill>
              <a:schemeClr val="accent3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7327235"/>
      </p:ext>
    </p:extLst>
  </p:cSld>
  <p:clrMapOvr>
    <a:masterClrMapping/>
  </p:clrMapOvr>
  <p:transition spd="med">
    <p:pull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60990-E94F-1ABC-E3E9-A7F76A76A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F96C0FAF-6059-32B8-55CA-F80EB41BE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6550" y="344317"/>
            <a:ext cx="8643848" cy="480131"/>
          </a:xfrm>
        </p:spPr>
        <p:txBody>
          <a:bodyPr/>
          <a:lstStyle/>
          <a:p>
            <a:r>
              <a:rPr lang="zh-CN" altLang="en-US" dirty="0"/>
              <a:t>软件栈</a:t>
            </a:r>
            <a:endParaRPr lang="en-US" altLang="zh-CN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B404642-ADF6-433F-139F-7A7C3D2BB2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7352" y="235111"/>
            <a:ext cx="969798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2286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marL="228600" marR="0" lvl="0" indent="-2286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1</a:t>
            </a:r>
            <a:endParaRPr kumimoji="0" lang="zh-CN" altLang="en-US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D1F5FDE0-BC4C-3585-33DA-F7235F3A680F}"/>
              </a:ext>
            </a:extLst>
          </p:cNvPr>
          <p:cNvGrpSpPr/>
          <p:nvPr/>
        </p:nvGrpSpPr>
        <p:grpSpPr>
          <a:xfrm>
            <a:off x="140673" y="963106"/>
            <a:ext cx="5514376" cy="4049733"/>
            <a:chOff x="414098" y="1404133"/>
            <a:chExt cx="5514376" cy="4049733"/>
          </a:xfrm>
        </p:grpSpPr>
        <p:grpSp>
          <p:nvGrpSpPr>
            <p:cNvPr id="18" name="组合 17">
              <a:extLst>
                <a:ext uri="{FF2B5EF4-FFF2-40B4-BE49-F238E27FC236}">
                  <a16:creationId xmlns:a16="http://schemas.microsoft.com/office/drawing/2014/main" id="{342FA3E3-30AF-3B1B-B9AB-13C7A2D4AFB5}"/>
                </a:ext>
              </a:extLst>
            </p:cNvPr>
            <p:cNvGrpSpPr/>
            <p:nvPr/>
          </p:nvGrpSpPr>
          <p:grpSpPr>
            <a:xfrm>
              <a:off x="414098" y="1404133"/>
              <a:ext cx="5511134" cy="1076325"/>
              <a:chOff x="1923060" y="976312"/>
              <a:chExt cx="5511134" cy="1076325"/>
            </a:xfrm>
          </p:grpSpPr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37FFF415-5C71-EB1A-5045-ED5441F8601C}"/>
                  </a:ext>
                </a:extLst>
              </p:cNvPr>
              <p:cNvSpPr/>
              <p:nvPr/>
            </p:nvSpPr>
            <p:spPr>
              <a:xfrm>
                <a:off x="1923060" y="976312"/>
                <a:ext cx="5511134" cy="1076325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Lerobot</a:t>
                </a:r>
                <a:endParaRPr kumimoji="1" lang="en-US" altLang="zh-CN" dirty="0"/>
              </a:p>
              <a:p>
                <a:pPr algn="ctr"/>
                <a:endParaRPr kumimoji="1" lang="en-US" altLang="zh-CN" dirty="0"/>
              </a:p>
              <a:p>
                <a:pPr algn="ctr"/>
                <a:endParaRPr kumimoji="1" lang="zh-CN" altLang="en-US" dirty="0"/>
              </a:p>
            </p:txBody>
          </p:sp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2A0F63DA-0B7F-0DC7-FF0C-43B3FDF6761F}"/>
                  </a:ext>
                </a:extLst>
              </p:cNvPr>
              <p:cNvSpPr/>
              <p:nvPr/>
            </p:nvSpPr>
            <p:spPr>
              <a:xfrm>
                <a:off x="4155504" y="1344600"/>
                <a:ext cx="781050" cy="371475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观测</a:t>
                </a:r>
              </a:p>
            </p:txBody>
          </p:sp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2AFEFDEA-8185-4D66-6F27-DC7B162D1BFB}"/>
                  </a:ext>
                </a:extLst>
              </p:cNvPr>
              <p:cNvSpPr/>
              <p:nvPr/>
            </p:nvSpPr>
            <p:spPr>
              <a:xfrm>
                <a:off x="6344592" y="1344600"/>
                <a:ext cx="781050" cy="371475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推理</a:t>
                </a:r>
              </a:p>
            </p:txBody>
          </p:sp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BF3B0FA3-7D25-710C-FDA8-C270043D49A2}"/>
                  </a:ext>
                </a:extLst>
              </p:cNvPr>
              <p:cNvSpPr/>
              <p:nvPr/>
            </p:nvSpPr>
            <p:spPr>
              <a:xfrm>
                <a:off x="2747467" y="1344600"/>
                <a:ext cx="781050" cy="371475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执行</a:t>
                </a:r>
              </a:p>
            </p:txBody>
          </p:sp>
        </p:grp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5841C685-3C4D-EA73-AE22-65F1D6103B65}"/>
                </a:ext>
              </a:extLst>
            </p:cNvPr>
            <p:cNvSpPr/>
            <p:nvPr/>
          </p:nvSpPr>
          <p:spPr>
            <a:xfrm>
              <a:off x="4530321" y="2632321"/>
              <a:ext cx="1398153" cy="428625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 err="1"/>
                <a:t>pytorch</a:t>
              </a:r>
              <a:endParaRPr kumimoji="1" lang="zh-CN" altLang="en-US" dirty="0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22FC40DB-2E97-5AB4-AD37-81852EE7CE60}"/>
                </a:ext>
              </a:extLst>
            </p:cNvPr>
            <p:cNvSpPr/>
            <p:nvPr/>
          </p:nvSpPr>
          <p:spPr>
            <a:xfrm>
              <a:off x="2983663" y="2632322"/>
              <a:ext cx="1406958" cy="1589607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OpenCV</a:t>
              </a:r>
            </a:p>
            <a:p>
              <a:pPr algn="ctr"/>
              <a:r>
                <a:rPr kumimoji="1" lang="zh-CN" altLang="en-US" dirty="0"/>
                <a:t>相机库</a:t>
              </a: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025D60D7-E536-1EDE-77AA-DFDEEE30AE83}"/>
                </a:ext>
              </a:extLst>
            </p:cNvPr>
            <p:cNvSpPr txBox="1"/>
            <p:nvPr/>
          </p:nvSpPr>
          <p:spPr>
            <a:xfrm>
              <a:off x="414098" y="2632323"/>
              <a:ext cx="2429865" cy="428626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CN"/>
              </a:defPPr>
              <a:lvl1pPr algn="ctr">
                <a:defRPr kumimoji="1"/>
              </a:lvl1pPr>
              <a:lvl2pPr>
                <a:defRPr>
                  <a:solidFill>
                    <a:schemeClr val="dk1"/>
                  </a:solidFill>
                </a:defRPr>
              </a:lvl2pPr>
              <a:lvl3pPr>
                <a:defRPr>
                  <a:solidFill>
                    <a:schemeClr val="dk1"/>
                  </a:solidFill>
                </a:defRPr>
              </a:lvl3pPr>
              <a:lvl4pPr>
                <a:defRPr>
                  <a:solidFill>
                    <a:schemeClr val="dk1"/>
                  </a:solidFill>
                </a:defRPr>
              </a:lvl4pPr>
              <a:lvl5pPr>
                <a:defRPr>
                  <a:solidFill>
                    <a:schemeClr val="dk1"/>
                  </a:solidFill>
                </a:defRPr>
              </a:lvl5pPr>
              <a:lvl6pPr>
                <a:defRPr>
                  <a:solidFill>
                    <a:schemeClr val="dk1"/>
                  </a:solidFill>
                </a:defRPr>
              </a:lvl6pPr>
              <a:lvl7pPr>
                <a:defRPr>
                  <a:solidFill>
                    <a:schemeClr val="dk1"/>
                  </a:solidFill>
                </a:defRPr>
              </a:lvl7pPr>
              <a:lvl8pPr>
                <a:defRPr>
                  <a:solidFill>
                    <a:schemeClr val="dk1"/>
                  </a:solidFill>
                </a:defRPr>
              </a:lvl8pPr>
              <a:lvl9pPr>
                <a:defRPr>
                  <a:solidFill>
                    <a:schemeClr val="dk1"/>
                  </a:solidFill>
                </a:defRPr>
              </a:lvl9pPr>
            </a:lstStyle>
            <a:p>
              <a:r>
                <a:rPr lang="zh-CN" altLang="en-US" dirty="0"/>
                <a:t>scservo_sdk舵机驱动</a:t>
              </a:r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D7B79C68-C8C4-EDE0-15B9-5E8438FEAE18}"/>
                </a:ext>
              </a:extLst>
            </p:cNvPr>
            <p:cNvSpPr txBox="1"/>
            <p:nvPr/>
          </p:nvSpPr>
          <p:spPr>
            <a:xfrm>
              <a:off x="414098" y="3212814"/>
              <a:ext cx="2429865" cy="428626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CN"/>
              </a:defPPr>
              <a:lvl1pPr algn="ctr">
                <a:defRPr kumimoji="1">
                  <a:solidFill>
                    <a:schemeClr val="dk1"/>
                  </a:solidFill>
                </a:defRPr>
              </a:lvl1pPr>
              <a:lvl2pPr>
                <a:defRPr>
                  <a:solidFill>
                    <a:schemeClr val="dk1"/>
                  </a:solidFill>
                </a:defRPr>
              </a:lvl2pPr>
              <a:lvl3pPr>
                <a:defRPr>
                  <a:solidFill>
                    <a:schemeClr val="dk1"/>
                  </a:solidFill>
                </a:defRPr>
              </a:lvl3pPr>
              <a:lvl4pPr>
                <a:defRPr>
                  <a:solidFill>
                    <a:schemeClr val="dk1"/>
                  </a:solidFill>
                </a:defRPr>
              </a:lvl4pPr>
              <a:lvl5pPr>
                <a:defRPr>
                  <a:solidFill>
                    <a:schemeClr val="dk1"/>
                  </a:solidFill>
                </a:defRPr>
              </a:lvl5pPr>
              <a:lvl6pPr>
                <a:defRPr>
                  <a:solidFill>
                    <a:schemeClr val="dk1"/>
                  </a:solidFill>
                </a:defRPr>
              </a:lvl6pPr>
              <a:lvl7pPr>
                <a:defRPr>
                  <a:solidFill>
                    <a:schemeClr val="dk1"/>
                  </a:solidFill>
                </a:defRPr>
              </a:lvl7pPr>
              <a:lvl8pPr>
                <a:defRPr>
                  <a:solidFill>
                    <a:schemeClr val="dk1"/>
                  </a:solidFill>
                </a:defRPr>
              </a:lvl8pPr>
              <a:lvl9pPr>
                <a:defRPr>
                  <a:solidFill>
                    <a:schemeClr val="dk1"/>
                  </a:solidFill>
                </a:defRPr>
              </a:lvl9pPr>
            </a:lstStyle>
            <a:p>
              <a:r>
                <a:rPr lang="en-US" altLang="zh-CN" dirty="0" err="1"/>
                <a:t>pyserial</a:t>
              </a:r>
              <a:r>
                <a:rPr lang="zh-CN" altLang="en-US" dirty="0"/>
                <a:t>串口驱动</a:t>
              </a:r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AE51A41D-1B17-A38F-DB5D-2DAC9173E48B}"/>
                </a:ext>
              </a:extLst>
            </p:cNvPr>
            <p:cNvSpPr txBox="1"/>
            <p:nvPr/>
          </p:nvSpPr>
          <p:spPr>
            <a:xfrm>
              <a:off x="414098" y="3793305"/>
              <a:ext cx="2429864" cy="428625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CN"/>
              </a:defPPr>
              <a:lvl1pPr algn="ctr">
                <a:defRPr kumimoji="1">
                  <a:solidFill>
                    <a:schemeClr val="dk1"/>
                  </a:solidFill>
                </a:defRPr>
              </a:lvl1pPr>
              <a:lvl2pPr>
                <a:defRPr>
                  <a:solidFill>
                    <a:schemeClr val="dk1"/>
                  </a:solidFill>
                </a:defRPr>
              </a:lvl2pPr>
              <a:lvl3pPr>
                <a:defRPr>
                  <a:solidFill>
                    <a:schemeClr val="dk1"/>
                  </a:solidFill>
                </a:defRPr>
              </a:lvl3pPr>
              <a:lvl4pPr>
                <a:defRPr>
                  <a:solidFill>
                    <a:schemeClr val="dk1"/>
                  </a:solidFill>
                </a:defRPr>
              </a:lvl4pPr>
              <a:lvl5pPr>
                <a:defRPr>
                  <a:solidFill>
                    <a:schemeClr val="dk1"/>
                  </a:solidFill>
                </a:defRPr>
              </a:lvl5pPr>
              <a:lvl6pPr>
                <a:defRPr>
                  <a:solidFill>
                    <a:schemeClr val="dk1"/>
                  </a:solidFill>
                </a:defRPr>
              </a:lvl6pPr>
              <a:lvl7pPr>
                <a:defRPr>
                  <a:solidFill>
                    <a:schemeClr val="dk1"/>
                  </a:solidFill>
                </a:defRPr>
              </a:lvl7pPr>
              <a:lvl8pPr>
                <a:defRPr>
                  <a:solidFill>
                    <a:schemeClr val="dk1"/>
                  </a:solidFill>
                </a:defRPr>
              </a:lvl8pPr>
              <a:lvl9pPr>
                <a:defRPr>
                  <a:solidFill>
                    <a:schemeClr val="dk1"/>
                  </a:solidFill>
                </a:defRPr>
              </a:lvl9pPr>
            </a:lstStyle>
            <a:p>
              <a:r>
                <a:rPr lang="en-US" altLang="zh-CN" dirty="0" err="1"/>
                <a:t>cpython</a:t>
              </a:r>
              <a:r>
                <a:rPr lang="zh-CN" altLang="en-US" dirty="0"/>
                <a:t>的</a:t>
              </a:r>
              <a:r>
                <a:rPr lang="en-US" altLang="zh-CN" dirty="0" err="1"/>
                <a:t>os</a:t>
              </a:r>
              <a:r>
                <a:rPr lang="zh-CN" altLang="en-US" dirty="0"/>
                <a:t>库封装</a:t>
              </a: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D1936B63-B161-558E-3533-55F4311D11AC}"/>
                </a:ext>
              </a:extLst>
            </p:cNvPr>
            <p:cNvSpPr txBox="1"/>
            <p:nvPr/>
          </p:nvSpPr>
          <p:spPr>
            <a:xfrm>
              <a:off x="4527078" y="3212808"/>
              <a:ext cx="1398153" cy="1009121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CN"/>
              </a:defPPr>
              <a:lvl1pPr algn="ctr">
                <a:defRPr kumimoji="1">
                  <a:solidFill>
                    <a:schemeClr val="dk1"/>
                  </a:solidFill>
                </a:defRPr>
              </a:lvl1pPr>
              <a:lvl2pPr>
                <a:defRPr>
                  <a:solidFill>
                    <a:schemeClr val="dk1"/>
                  </a:solidFill>
                </a:defRPr>
              </a:lvl2pPr>
              <a:lvl3pPr>
                <a:defRPr>
                  <a:solidFill>
                    <a:schemeClr val="dk1"/>
                  </a:solidFill>
                </a:defRPr>
              </a:lvl3pPr>
              <a:lvl4pPr>
                <a:defRPr>
                  <a:solidFill>
                    <a:schemeClr val="dk1"/>
                  </a:solidFill>
                </a:defRPr>
              </a:lvl4pPr>
              <a:lvl5pPr>
                <a:defRPr>
                  <a:solidFill>
                    <a:schemeClr val="dk1"/>
                  </a:solidFill>
                </a:defRPr>
              </a:lvl5pPr>
              <a:lvl6pPr>
                <a:defRPr>
                  <a:solidFill>
                    <a:schemeClr val="dk1"/>
                  </a:solidFill>
                </a:defRPr>
              </a:lvl6pPr>
              <a:lvl7pPr>
                <a:defRPr>
                  <a:solidFill>
                    <a:schemeClr val="dk1"/>
                  </a:solidFill>
                </a:defRPr>
              </a:lvl7pPr>
              <a:lvl8pPr>
                <a:defRPr>
                  <a:solidFill>
                    <a:schemeClr val="dk1"/>
                  </a:solidFill>
                </a:defRPr>
              </a:lvl8pPr>
              <a:lvl9pPr>
                <a:defRPr>
                  <a:solidFill>
                    <a:schemeClr val="dk1"/>
                  </a:solidFill>
                </a:defRPr>
              </a:lvl9pPr>
            </a:lstStyle>
            <a:p>
              <a:r>
                <a:rPr lang="en-US" altLang="zh-CN" dirty="0"/>
                <a:t>GCC</a:t>
              </a:r>
              <a:r>
                <a:rPr lang="zh-CN" altLang="en-US" dirty="0"/>
                <a:t>的</a:t>
              </a:r>
              <a:r>
                <a:rPr lang="en-US" altLang="zh-CN" dirty="0" err="1"/>
                <a:t>libstdc</a:t>
              </a:r>
              <a:r>
                <a:rPr lang="en-US" altLang="zh-CN" dirty="0"/>
                <a:t>++</a:t>
              </a:r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C63C21A6-DA98-1389-E96E-62F7D832FCFA}"/>
                </a:ext>
              </a:extLst>
            </p:cNvPr>
            <p:cNvSpPr/>
            <p:nvPr/>
          </p:nvSpPr>
          <p:spPr>
            <a:xfrm>
              <a:off x="414098" y="4409272"/>
              <a:ext cx="5511134" cy="428626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 err="1"/>
                <a:t>glibc</a:t>
              </a:r>
              <a:endParaRPr kumimoji="1" lang="zh-CN" altLang="en-US" dirty="0"/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F22FD65A-D512-AF75-B6A4-3C92EAD5F9CA}"/>
                </a:ext>
              </a:extLst>
            </p:cNvPr>
            <p:cNvSpPr/>
            <p:nvPr/>
          </p:nvSpPr>
          <p:spPr>
            <a:xfrm>
              <a:off x="414098" y="5025240"/>
              <a:ext cx="5511134" cy="428626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Linux</a:t>
              </a:r>
              <a:r>
                <a:rPr kumimoji="1" lang="zh-CN" altLang="en-US" dirty="0"/>
                <a:t> </a:t>
              </a:r>
              <a:r>
                <a:rPr kumimoji="1" lang="en-US" altLang="zh-CN" dirty="0"/>
                <a:t>kernel</a:t>
              </a:r>
              <a:endParaRPr kumimoji="1" lang="zh-CN" altLang="en-US" dirty="0"/>
            </a:p>
          </p:txBody>
        </p:sp>
        <p:cxnSp>
          <p:nvCxnSpPr>
            <p:cNvPr id="11" name="直线箭头连接符 10">
              <a:extLst>
                <a:ext uri="{FF2B5EF4-FFF2-40B4-BE49-F238E27FC236}">
                  <a16:creationId xmlns:a16="http://schemas.microsoft.com/office/drawing/2014/main" id="{E24190DF-E02C-DF8F-F5A7-58A825721AE3}"/>
                </a:ext>
              </a:extLst>
            </p:cNvPr>
            <p:cNvCxnSpPr>
              <a:stCxn id="5" idx="2"/>
              <a:endCxn id="12" idx="0"/>
            </p:cNvCxnSpPr>
            <p:nvPr/>
          </p:nvCxnSpPr>
          <p:spPr>
            <a:xfrm>
              <a:off x="1629030" y="2143896"/>
              <a:ext cx="1" cy="48842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直线箭头连接符 21">
              <a:extLst>
                <a:ext uri="{FF2B5EF4-FFF2-40B4-BE49-F238E27FC236}">
                  <a16:creationId xmlns:a16="http://schemas.microsoft.com/office/drawing/2014/main" id="{3339AF52-9D1E-69E9-E1AB-98A601AEC3A1}"/>
                </a:ext>
              </a:extLst>
            </p:cNvPr>
            <p:cNvCxnSpPr>
              <a:cxnSpLocks/>
              <a:stCxn id="3" idx="2"/>
              <a:endCxn id="10" idx="0"/>
            </p:cNvCxnSpPr>
            <p:nvPr/>
          </p:nvCxnSpPr>
          <p:spPr>
            <a:xfrm>
              <a:off x="3037067" y="2143896"/>
              <a:ext cx="650075" cy="48842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直线箭头连接符 23">
              <a:extLst>
                <a:ext uri="{FF2B5EF4-FFF2-40B4-BE49-F238E27FC236}">
                  <a16:creationId xmlns:a16="http://schemas.microsoft.com/office/drawing/2014/main" id="{8142DF4F-EA92-6ECA-9D08-7E2940C8DA2A}"/>
                </a:ext>
              </a:extLst>
            </p:cNvPr>
            <p:cNvCxnSpPr>
              <a:stCxn id="3" idx="2"/>
              <a:endCxn id="12" idx="0"/>
            </p:cNvCxnSpPr>
            <p:nvPr/>
          </p:nvCxnSpPr>
          <p:spPr>
            <a:xfrm flipH="1">
              <a:off x="1629031" y="2143896"/>
              <a:ext cx="1408036" cy="48842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直线箭头连接符 25">
              <a:extLst>
                <a:ext uri="{FF2B5EF4-FFF2-40B4-BE49-F238E27FC236}">
                  <a16:creationId xmlns:a16="http://schemas.microsoft.com/office/drawing/2014/main" id="{2E3C6FFA-93AC-5A6C-32A6-FC8EFB501473}"/>
                </a:ext>
              </a:extLst>
            </p:cNvPr>
            <p:cNvCxnSpPr>
              <a:stCxn id="4" idx="2"/>
              <a:endCxn id="8" idx="0"/>
            </p:cNvCxnSpPr>
            <p:nvPr/>
          </p:nvCxnSpPr>
          <p:spPr>
            <a:xfrm>
              <a:off x="5226155" y="2143896"/>
              <a:ext cx="3243" cy="48842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" name="FrameExplain">
            <a:extLst>
              <a:ext uri="{FF2B5EF4-FFF2-40B4-BE49-F238E27FC236}">
                <a16:creationId xmlns:a16="http://schemas.microsoft.com/office/drawing/2014/main" id="{EFC4B6B8-BE3F-52AF-B86B-EB4E64A73171}"/>
              </a:ext>
            </a:extLst>
          </p:cNvPr>
          <p:cNvSpPr/>
          <p:nvPr/>
        </p:nvSpPr>
        <p:spPr>
          <a:xfrm>
            <a:off x="6262253" y="940458"/>
            <a:ext cx="5334000" cy="21335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spcAft>
                <a:spcPts val="200"/>
              </a:spcAft>
              <a:buNone/>
            </a:pPr>
            <a:r>
              <a:rPr lang="en-US" altLang="zh-CN" sz="1600" b="1" dirty="0">
                <a:solidFill>
                  <a:srgbClr val="006C39"/>
                </a:solidFill>
                <a:latin typeface="Century Gothic"/>
              </a:rPr>
              <a:t>1 Episode = </a:t>
            </a:r>
            <a:r>
              <a:rPr lang="zh-CN" altLang="en-US" sz="1600" b="1" dirty="0">
                <a:solidFill>
                  <a:srgbClr val="006C39"/>
                </a:solidFill>
                <a:latin typeface="Century Gothic"/>
              </a:rPr>
              <a:t>一段完整任务录制</a:t>
            </a:r>
          </a:p>
          <a:p>
            <a:pPr>
              <a:lnSpc>
                <a:spcPts val="1500"/>
              </a:lnSpc>
              <a:buNone/>
            </a:pPr>
            <a:r>
              <a:rPr lang="zh-CN" altLang="en-US" sz="1100" dirty="0">
                <a:solidFill>
                  <a:srgbClr val="333333"/>
                </a:solidFill>
              </a:rPr>
              <a:t>从机器人开始执行任务到完成（或超时），所有 Frame 的集合。</a:t>
            </a:r>
          </a:p>
          <a:p>
            <a:pPr>
              <a:lnSpc>
                <a:spcPts val="1500"/>
              </a:lnSpc>
              <a:buNone/>
            </a:pPr>
            <a:r>
              <a:rPr lang="zh-CN" altLang="en-US" sz="1100" dirty="0">
                <a:solidFill>
                  <a:srgbClr val="333333"/>
                </a:solidFill>
              </a:rPr>
              <a:t>例如"</a:t>
            </a:r>
            <a:r>
              <a:rPr lang="zh-CN" altLang="en-US" sz="1100" dirty="0">
                <a:solidFill>
                  <a:srgbClr val="333333"/>
                </a:solidFill>
                <a:highlight>
                  <a:srgbClr val="FFFF00"/>
                </a:highlight>
              </a:rPr>
              <a:t>抓取方块</a:t>
            </a:r>
            <a:r>
              <a:rPr lang="zh-CN" altLang="en-US" sz="1100" dirty="0">
                <a:solidFill>
                  <a:srgbClr val="333333"/>
                </a:solidFill>
              </a:rPr>
              <a:t>"= 1 个 Episode，录制结束后调用 </a:t>
            </a:r>
            <a:r>
              <a:rPr lang="en-US" altLang="zh-CN" sz="1100" dirty="0">
                <a:solidFill>
                  <a:srgbClr val="A56416"/>
                </a:solidFill>
                <a:latin typeface="Menlo"/>
              </a:rPr>
              <a:t>dataset.save_episode()</a:t>
            </a:r>
          </a:p>
          <a:p>
            <a:pPr>
              <a:spcBef>
                <a:spcPts val="200"/>
              </a:spcBef>
              <a:spcAft>
                <a:spcPts val="200"/>
              </a:spcAft>
              <a:buNone/>
            </a:pPr>
            <a:r>
              <a:rPr lang="en-US" altLang="zh-CN" sz="1600" b="1" dirty="0">
                <a:solidFill>
                  <a:srgbClr val="006C39"/>
                </a:solidFill>
                <a:latin typeface="Century Gothic"/>
              </a:rPr>
              <a:t>1 Frame = </a:t>
            </a:r>
            <a:r>
              <a:rPr lang="zh-CN" altLang="en-US" sz="1600" b="1" dirty="0">
                <a:solidFill>
                  <a:srgbClr val="006C39"/>
                </a:solidFill>
                <a:latin typeface="Century Gothic"/>
              </a:rPr>
              <a:t>一次控制循环迭代</a:t>
            </a:r>
          </a:p>
          <a:p>
            <a:pPr>
              <a:lnSpc>
                <a:spcPts val="1500"/>
              </a:lnSpc>
              <a:buNone/>
            </a:pPr>
            <a:r>
              <a:rPr lang="zh-CN" altLang="en-US" sz="1100" dirty="0">
                <a:solidFill>
                  <a:srgbClr val="333333"/>
                </a:solidFill>
              </a:rPr>
              <a:t>每个 Frame 执行：</a:t>
            </a:r>
            <a:r>
              <a:rPr lang="zh-CN" altLang="en-US" sz="1100" b="1" dirty="0">
                <a:solidFill>
                  <a:srgbClr val="006C39"/>
                </a:solidFill>
                <a:highlight>
                  <a:srgbClr val="FFFF00"/>
                </a:highlight>
              </a:rPr>
              <a:t>观测</a:t>
            </a:r>
            <a:r>
              <a:rPr lang="zh-CN" altLang="en-US" sz="1100" dirty="0">
                <a:solidFill>
                  <a:srgbClr val="969696"/>
                </a:solidFill>
                <a:highlight>
                  <a:srgbClr val="FFFF00"/>
                </a:highlight>
              </a:rPr>
              <a:t> → </a:t>
            </a:r>
            <a:r>
              <a:rPr lang="zh-CN" altLang="en-US" sz="1100" b="1" dirty="0">
                <a:solidFill>
                  <a:srgbClr val="006C39"/>
                </a:solidFill>
                <a:highlight>
                  <a:srgbClr val="FFFF00"/>
                </a:highlight>
              </a:rPr>
              <a:t>推理</a:t>
            </a:r>
            <a:r>
              <a:rPr lang="zh-CN" altLang="en-US" sz="1100" dirty="0">
                <a:solidFill>
                  <a:srgbClr val="969696"/>
                </a:solidFill>
                <a:highlight>
                  <a:srgbClr val="FFFF00"/>
                </a:highlight>
              </a:rPr>
              <a:t> → </a:t>
            </a:r>
            <a:r>
              <a:rPr lang="zh-CN" altLang="en-US" sz="1100" b="1" dirty="0">
                <a:solidFill>
                  <a:srgbClr val="006C39"/>
                </a:solidFill>
                <a:highlight>
                  <a:srgbClr val="FFFF00"/>
                </a:highlight>
              </a:rPr>
              <a:t>执行</a:t>
            </a:r>
            <a:r>
              <a:rPr lang="zh-CN" altLang="en-US" sz="1100" dirty="0">
                <a:solidFill>
                  <a:srgbClr val="333333"/>
                </a:solidFill>
                <a:highlight>
                  <a:srgbClr val="FFFF00"/>
                </a:highlight>
              </a:rPr>
              <a:t>（帧率 </a:t>
            </a:r>
            <a:r>
              <a:rPr lang="en-US" altLang="zh-CN" sz="1100" dirty="0">
                <a:solidFill>
                  <a:srgbClr val="A56416"/>
                </a:solidFill>
                <a:highlight>
                  <a:srgbClr val="FFFF00"/>
                </a:highlight>
                <a:latin typeface="Menlo"/>
              </a:rPr>
              <a:t>fps=30</a:t>
            </a:r>
            <a:r>
              <a:rPr lang="zh-CN" altLang="en-US" sz="1100" dirty="0">
                <a:solidFill>
                  <a:srgbClr val="333333"/>
                </a:solidFill>
                <a:highlight>
                  <a:srgbClr val="FFFF00"/>
                </a:highlight>
              </a:rPr>
              <a:t>，每帧≈33ms</a:t>
            </a:r>
            <a:r>
              <a:rPr lang="zh-CN" altLang="en-US" sz="1100" dirty="0">
                <a:solidFill>
                  <a:srgbClr val="333333"/>
                </a:solidFill>
              </a:rPr>
              <a:t>）</a:t>
            </a:r>
          </a:p>
          <a:p>
            <a:pPr>
              <a:spcBef>
                <a:spcPts val="150"/>
              </a:spcBef>
              <a:buNone/>
            </a:pPr>
            <a:r>
              <a:rPr lang="zh-CN" altLang="en-US" sz="1600" b="1" dirty="0">
                <a:solidFill>
                  <a:srgbClr val="A13F0B"/>
                </a:solidFill>
                <a:highlight>
                  <a:srgbClr val="FFFF00"/>
                </a:highlight>
              </a:rPr>
              <a:t>Chunk</a:t>
            </a:r>
            <a:r>
              <a:rPr lang="zh-CN" altLang="en-US" sz="1600" b="1" dirty="0">
                <a:solidFill>
                  <a:srgbClr val="A13F0B"/>
                </a:solidFill>
              </a:rPr>
              <a:t> 推理优化（</a:t>
            </a:r>
            <a:r>
              <a:rPr lang="en-US" altLang="zh-CN" sz="1600" b="1" dirty="0">
                <a:solidFill>
                  <a:srgbClr val="A56416"/>
                </a:solidFill>
                <a:latin typeface="Menlo"/>
              </a:rPr>
              <a:t>chunk_size=100</a:t>
            </a:r>
            <a:r>
              <a:rPr lang="zh-CN" altLang="en-US" sz="1600" b="1" dirty="0">
                <a:solidFill>
                  <a:srgbClr val="A13F0B"/>
                </a:solidFill>
              </a:rPr>
              <a:t>）：</a:t>
            </a:r>
          </a:p>
          <a:p>
            <a:pPr>
              <a:lnSpc>
                <a:spcPts val="1500"/>
              </a:lnSpc>
              <a:buFont typeface="Arial"/>
              <a:buChar char="•"/>
            </a:pPr>
            <a:r>
              <a:rPr lang="zh-CN" altLang="en-US" sz="1100" dirty="0">
                <a:solidFill>
                  <a:srgbClr val="333333"/>
                </a:solidFill>
              </a:rPr>
              <a:t>第 1 帧：完整执行观测 → 策略推理 → 输出 </a:t>
            </a:r>
            <a:r>
              <a:rPr lang="en-US" altLang="zh-CN" sz="1100" b="1" dirty="0">
                <a:solidFill>
                  <a:srgbClr val="3778B7"/>
                </a:solidFill>
                <a:latin typeface="Menlo"/>
              </a:rPr>
              <a:t>100</a:t>
            </a:r>
            <a:r>
              <a:rPr lang="zh-CN" altLang="en-US" sz="1100" dirty="0">
                <a:solidFill>
                  <a:srgbClr val="333333"/>
                </a:solidFill>
              </a:rPr>
              <a:t> 帧动作序列入队列</a:t>
            </a:r>
          </a:p>
          <a:p>
            <a:pPr>
              <a:lnSpc>
                <a:spcPts val="1500"/>
              </a:lnSpc>
              <a:buFont typeface="Arial"/>
              <a:buChar char="•"/>
            </a:pPr>
            <a:r>
              <a:rPr lang="zh-CN" altLang="en-US" sz="1100" dirty="0">
                <a:solidFill>
                  <a:srgbClr val="333333"/>
                </a:solidFill>
              </a:rPr>
              <a:t>第 2–100 帧：观测正常执行，</a:t>
            </a:r>
            <a:r>
              <a:rPr lang="zh-CN" altLang="en-US" sz="1100" b="1" dirty="0">
                <a:solidFill>
                  <a:srgbClr val="006C39"/>
                </a:solidFill>
              </a:rPr>
              <a:t>推理</a:t>
            </a:r>
            <a:r>
              <a:rPr lang="zh-CN" altLang="en-US" sz="1100" dirty="0">
                <a:solidFill>
                  <a:srgbClr val="333333"/>
                </a:solidFill>
              </a:rPr>
              <a:t>直接从队列取动作，无需重新运行模型</a:t>
            </a:r>
          </a:p>
          <a:p>
            <a:pPr>
              <a:lnSpc>
                <a:spcPts val="1500"/>
              </a:lnSpc>
              <a:buNone/>
            </a:pPr>
            <a:endParaRPr lang="zh-CN" altLang="en-US" sz="1100" dirty="0">
              <a:solidFill>
                <a:srgbClr val="333333"/>
              </a:solidFill>
            </a:endParaRPr>
          </a:p>
        </p:txBody>
      </p:sp>
      <p:sp>
        <p:nvSpPr>
          <p:cNvPr id="20" name="ConfigBox">
            <a:extLst>
              <a:ext uri="{FF2B5EF4-FFF2-40B4-BE49-F238E27FC236}">
                <a16:creationId xmlns:a16="http://schemas.microsoft.com/office/drawing/2014/main" id="{70B0F5AE-01C4-D560-9F4A-3D9A8EB188BD}"/>
              </a:ext>
            </a:extLst>
          </p:cNvPr>
          <p:cNvSpPr/>
          <p:nvPr/>
        </p:nvSpPr>
        <p:spPr>
          <a:xfrm>
            <a:off x="233855" y="5002871"/>
            <a:ext cx="5511134" cy="1206500"/>
          </a:xfrm>
          <a:prstGeom prst="roundRect">
            <a:avLst>
              <a:gd name="adj" fmla="val 5000"/>
            </a:avLst>
          </a:prstGeom>
          <a:solidFill>
            <a:srgbClr val="006C39">
              <a:alpha val="8000"/>
            </a:srgbClr>
          </a:solidFill>
          <a:ln w="12700">
            <a:solidFill>
              <a:srgbClr val="006C39"/>
            </a:solidFill>
          </a:ln>
        </p:spPr>
        <p:txBody>
          <a:bodyPr wrap="square" lIns="91440" tIns="45720" rIns="91440" bIns="45720" anchor="t"/>
          <a:lstStyle/>
          <a:p>
            <a:pPr>
              <a:spcAft>
                <a:spcPts val="400"/>
              </a:spcAft>
              <a:buNone/>
            </a:pPr>
            <a:r>
              <a:rPr lang="zh-CN" altLang="en-US" sz="1400" b="1" dirty="0">
                <a:solidFill>
                  <a:srgbClr val="006C39"/>
                </a:solidFill>
                <a:latin typeface="Century Gothic"/>
                <a:ea typeface="微软雅黑"/>
              </a:rPr>
              <a:t>当前配置（可修改）</a:t>
            </a:r>
            <a:r>
              <a:rPr lang="en-US" altLang="zh-CN" sz="1200" dirty="0">
                <a:solidFill>
                  <a:srgbClr val="969696"/>
                </a:solidFill>
                <a:latin typeface="Menlo"/>
              </a:rPr>
              <a:t> DatasetRecordConfig</a:t>
            </a:r>
          </a:p>
          <a:p>
            <a:pPr>
              <a:lnSpc>
                <a:spcPts val="1700"/>
              </a:lnSpc>
              <a:buNone/>
            </a:pPr>
            <a:r>
              <a:rPr lang="en-US" altLang="zh-CN" sz="1200" dirty="0">
                <a:solidFill>
                  <a:srgbClr val="A56416"/>
                </a:solidFill>
                <a:latin typeface="Menlo"/>
              </a:rPr>
              <a:t>fps</a:t>
            </a:r>
            <a:r>
              <a:rPr lang="en-US" altLang="zh-CN" sz="1200" dirty="0">
                <a:solidFill>
                  <a:srgbClr val="333333"/>
                </a:solidFill>
              </a:rPr>
              <a:t> = </a:t>
            </a:r>
            <a:r>
              <a:rPr lang="en-US" altLang="zh-CN" sz="1200" b="1" dirty="0">
                <a:solidFill>
                  <a:srgbClr val="3778B7"/>
                </a:solidFill>
                <a:latin typeface="Menlo"/>
              </a:rPr>
              <a:t>30</a:t>
            </a:r>
            <a:r>
              <a:rPr lang="zh-CN" altLang="en-US" sz="1200" dirty="0">
                <a:solidFill>
                  <a:srgbClr val="969696"/>
                </a:solidFill>
                <a:ea typeface="微软雅黑"/>
              </a:rPr>
              <a:t>　　　　　→ 每秒 30 帧</a:t>
            </a:r>
          </a:p>
          <a:p>
            <a:pPr>
              <a:lnSpc>
                <a:spcPts val="1700"/>
              </a:lnSpc>
              <a:buNone/>
            </a:pPr>
            <a:r>
              <a:rPr lang="en-US" altLang="zh-CN" sz="1200" dirty="0">
                <a:solidFill>
                  <a:srgbClr val="A56416"/>
                </a:solidFill>
                <a:latin typeface="Menlo"/>
              </a:rPr>
              <a:t>episode_time_s</a:t>
            </a:r>
            <a:r>
              <a:rPr lang="en-US" altLang="zh-CN" sz="1200" dirty="0">
                <a:solidFill>
                  <a:srgbClr val="333333"/>
                </a:solidFill>
              </a:rPr>
              <a:t> = </a:t>
            </a:r>
            <a:r>
              <a:rPr lang="en-US" altLang="zh-CN" sz="1200" b="1" dirty="0">
                <a:solidFill>
                  <a:srgbClr val="3778B7"/>
                </a:solidFill>
                <a:latin typeface="Menlo"/>
              </a:rPr>
              <a:t>60</a:t>
            </a:r>
            <a:r>
              <a:rPr lang="zh-CN" altLang="en-US" sz="1200" dirty="0">
                <a:solidFill>
                  <a:srgbClr val="969696"/>
                </a:solidFill>
                <a:ea typeface="微软雅黑"/>
              </a:rPr>
              <a:t>　→ 每 Episode 最长 60s</a:t>
            </a:r>
          </a:p>
          <a:p>
            <a:pPr>
              <a:lnSpc>
                <a:spcPts val="1700"/>
              </a:lnSpc>
              <a:buNone/>
            </a:pPr>
            <a:r>
              <a:rPr lang="en-US" altLang="zh-CN" sz="1200" dirty="0" err="1">
                <a:solidFill>
                  <a:srgbClr val="A56416"/>
                </a:solidFill>
                <a:latin typeface="Menlo"/>
              </a:rPr>
              <a:t>num_episodes</a:t>
            </a:r>
            <a:r>
              <a:rPr lang="en-US" altLang="zh-CN" sz="1200" dirty="0">
                <a:solidFill>
                  <a:srgbClr val="333333"/>
                </a:solidFill>
              </a:rPr>
              <a:t> = </a:t>
            </a:r>
            <a:r>
              <a:rPr lang="en-US" altLang="zh-CN" sz="1200" b="1" dirty="0">
                <a:solidFill>
                  <a:srgbClr val="3778B7"/>
                </a:solidFill>
                <a:latin typeface="Menlo"/>
              </a:rPr>
              <a:t>50</a:t>
            </a:r>
            <a:r>
              <a:rPr lang="zh-CN" altLang="en-US" sz="1200" dirty="0">
                <a:solidFill>
                  <a:srgbClr val="969696"/>
                </a:solidFill>
                <a:ea typeface="微软雅黑"/>
              </a:rPr>
              <a:t>　　→ 总共录 50 个 Episode</a:t>
            </a:r>
            <a:r>
              <a:rPr lang="en-US" altLang="zh-CN" sz="1200" dirty="0">
                <a:solidFill>
                  <a:srgbClr val="969696"/>
                </a:solidFill>
                <a:ea typeface="微软雅黑"/>
              </a:rPr>
              <a:t>/</a:t>
            </a:r>
            <a:r>
              <a:rPr lang="zh-CN" altLang="en-US" sz="1200" dirty="0">
                <a:solidFill>
                  <a:srgbClr val="969696"/>
                </a:solidFill>
                <a:ea typeface="微软雅黑"/>
              </a:rPr>
              <a:t>五十个完整动作序列</a:t>
            </a:r>
            <a:endParaRPr lang="en-US" altLang="zh-CN" sz="1200" dirty="0">
              <a:solidFill>
                <a:srgbClr val="969696"/>
              </a:solidFill>
              <a:ea typeface="微软雅黑"/>
            </a:endParaRPr>
          </a:p>
          <a:p>
            <a:pPr>
              <a:lnSpc>
                <a:spcPts val="1700"/>
              </a:lnSpc>
            </a:pPr>
            <a:r>
              <a:rPr lang="en-US" altLang="zh-CN" sz="1200" dirty="0" err="1"/>
              <a:t>chunk_size</a:t>
            </a:r>
            <a:r>
              <a:rPr lang="en-US" altLang="zh-CN" sz="1200" dirty="0"/>
              <a:t>: int = 100</a:t>
            </a:r>
            <a:r>
              <a:rPr lang="zh-CN" altLang="en-US" sz="1200" dirty="0">
                <a:solidFill>
                  <a:srgbClr val="969696"/>
                </a:solidFill>
                <a:ea typeface="微软雅黑"/>
              </a:rPr>
              <a:t> </a:t>
            </a:r>
            <a:r>
              <a:rPr lang="zh-CN" altLang="en-US" sz="1200" dirty="0">
                <a:solidFill>
                  <a:srgbClr val="969696"/>
                </a:solidFill>
              </a:rPr>
              <a:t>→ 每次推理</a:t>
            </a:r>
            <a:r>
              <a:rPr lang="en-US" altLang="zh-CN" sz="1200" dirty="0">
                <a:solidFill>
                  <a:srgbClr val="969696"/>
                </a:solidFill>
              </a:rPr>
              <a:t>100</a:t>
            </a:r>
            <a:r>
              <a:rPr lang="zh-CN" altLang="en-US" sz="1200" dirty="0">
                <a:solidFill>
                  <a:srgbClr val="969696"/>
                </a:solidFill>
              </a:rPr>
              <a:t>个</a:t>
            </a:r>
            <a:r>
              <a:rPr lang="en-US" altLang="zh-CN" sz="1200" dirty="0">
                <a:solidFill>
                  <a:srgbClr val="969696"/>
                </a:solidFill>
              </a:rPr>
              <a:t>frame</a:t>
            </a:r>
            <a:r>
              <a:rPr lang="zh-CN" altLang="en-US" sz="1200" dirty="0">
                <a:solidFill>
                  <a:srgbClr val="969696"/>
                </a:solidFill>
              </a:rPr>
              <a:t>（受制于硬件</a:t>
            </a:r>
            <a:r>
              <a:rPr lang="zh-CN" altLang="en-US" sz="1200" dirty="0">
                <a:solidFill>
                  <a:srgbClr val="969696"/>
                </a:solidFill>
                <a:highlight>
                  <a:srgbClr val="000080"/>
                </a:highlight>
              </a:rPr>
              <a:t>性能限制</a:t>
            </a:r>
            <a:r>
              <a:rPr lang="zh-CN" altLang="en-US" sz="1200" dirty="0">
                <a:solidFill>
                  <a:srgbClr val="969696"/>
                </a:solidFill>
              </a:rPr>
              <a:t>）</a:t>
            </a:r>
            <a:endParaRPr lang="en-US" altLang="zh-CN" sz="1200" dirty="0"/>
          </a:p>
        </p:txBody>
      </p:sp>
      <p:sp>
        <p:nvSpPr>
          <p:cNvPr id="200" name="Row1BG">
            <a:extLst>
              <a:ext uri="{FF2B5EF4-FFF2-40B4-BE49-F238E27FC236}">
                <a16:creationId xmlns:a16="http://schemas.microsoft.com/office/drawing/2014/main" id="{6E2372D0-B03E-FE5E-9727-554A497562D3}"/>
              </a:ext>
            </a:extLst>
          </p:cNvPr>
          <p:cNvSpPr>
            <a:spLocks noGrp="1"/>
          </p:cNvSpPr>
          <p:nvPr/>
        </p:nvSpPr>
        <p:spPr>
          <a:xfrm>
            <a:off x="6725745" y="2954336"/>
            <a:ext cx="5232400" cy="1155700"/>
          </a:xfrm>
          <a:prstGeom prst="rect">
            <a:avLst/>
          </a:prstGeom>
          <a:solidFill>
            <a:srgbClr val="E8F5EE"/>
          </a:solidFill>
          <a:ln w="6350">
            <a:solidFill>
              <a:srgbClr val="006C39"/>
            </a:solidFill>
          </a:ln>
        </p:spPr>
        <p:txBody>
          <a:bodyPr wrap="square" anchor="ctr">
            <a:norm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01" name="Row2BG">
            <a:extLst>
              <a:ext uri="{FF2B5EF4-FFF2-40B4-BE49-F238E27FC236}">
                <a16:creationId xmlns:a16="http://schemas.microsoft.com/office/drawing/2014/main" id="{0CF0949E-8C9D-D1D6-D48F-0889967202C1}"/>
              </a:ext>
            </a:extLst>
          </p:cNvPr>
          <p:cNvSpPr>
            <a:spLocks noGrp="1"/>
          </p:cNvSpPr>
          <p:nvPr/>
        </p:nvSpPr>
        <p:spPr>
          <a:xfrm>
            <a:off x="6725745" y="4249736"/>
            <a:ext cx="5232400" cy="1016000"/>
          </a:xfrm>
          <a:prstGeom prst="rect">
            <a:avLst/>
          </a:prstGeom>
          <a:solidFill>
            <a:srgbClr val="EAF4FB"/>
          </a:solidFill>
          <a:ln w="6350">
            <a:solidFill>
              <a:srgbClr val="2D7AB0"/>
            </a:solidFill>
          </a:ln>
        </p:spPr>
        <p:txBody>
          <a:bodyPr wrap="square" anchor="ctr">
            <a:normAutofit/>
          </a:bodyPr>
          <a:lstStyle/>
          <a:p>
            <a:pPr algn="ctr">
              <a:buNone/>
            </a:pPr>
            <a:endParaRPr dirty="0"/>
          </a:p>
        </p:txBody>
      </p:sp>
      <p:sp>
        <p:nvSpPr>
          <p:cNvPr id="202" name="Frame1Label">
            <a:extLst>
              <a:ext uri="{FF2B5EF4-FFF2-40B4-BE49-F238E27FC236}">
                <a16:creationId xmlns:a16="http://schemas.microsoft.com/office/drawing/2014/main" id="{01AE2D05-524A-4470-91D2-FAB656857F13}"/>
              </a:ext>
            </a:extLst>
          </p:cNvPr>
          <p:cNvSpPr txBox="1">
            <a:spLocks noGrp="1"/>
          </p:cNvSpPr>
          <p:nvPr/>
        </p:nvSpPr>
        <p:spPr>
          <a:xfrm>
            <a:off x="6776545" y="2979736"/>
            <a:ext cx="762000" cy="203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 lnSpcReduction="10000"/>
          </a:bodyPr>
          <a:lstStyle/>
          <a:p>
            <a:pPr algn="l">
              <a:buNone/>
            </a:pPr>
            <a:r>
              <a:rPr lang="zh-CN" altLang="en-US" sz="800" b="1" dirty="0">
                <a:solidFill>
                  <a:srgbClr val="006C39"/>
                </a:solidFill>
              </a:rPr>
              <a:t>Frame 1</a:t>
            </a:r>
          </a:p>
        </p:txBody>
      </p:sp>
      <p:sp>
        <p:nvSpPr>
          <p:cNvPr id="203" name="Frame2Label">
            <a:extLst>
              <a:ext uri="{FF2B5EF4-FFF2-40B4-BE49-F238E27FC236}">
                <a16:creationId xmlns:a16="http://schemas.microsoft.com/office/drawing/2014/main" id="{D9E9012F-B7E3-D0FF-F2BF-857019F67F3F}"/>
              </a:ext>
            </a:extLst>
          </p:cNvPr>
          <p:cNvSpPr txBox="1">
            <a:spLocks noGrp="1"/>
          </p:cNvSpPr>
          <p:nvPr/>
        </p:nvSpPr>
        <p:spPr>
          <a:xfrm>
            <a:off x="6725745" y="432007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 lnSpcReduction="10000"/>
          </a:bodyPr>
          <a:lstStyle/>
          <a:p>
            <a:pPr algn="l">
              <a:buNone/>
            </a:pPr>
            <a:r>
              <a:rPr lang="zh-CN" altLang="en-US" sz="800" b="1" dirty="0">
                <a:solidFill>
                  <a:srgbClr val="2D7AB0"/>
                </a:solidFill>
              </a:rPr>
              <a:t>Frame 2~100</a:t>
            </a:r>
          </a:p>
        </p:txBody>
      </p:sp>
      <p:sp>
        <p:nvSpPr>
          <p:cNvPr id="204" name="R1_Obs">
            <a:extLst>
              <a:ext uri="{FF2B5EF4-FFF2-40B4-BE49-F238E27FC236}">
                <a16:creationId xmlns:a16="http://schemas.microsoft.com/office/drawing/2014/main" id="{A41893C7-9ACC-0D01-66AE-01CC2AC49E78}"/>
              </a:ext>
            </a:extLst>
          </p:cNvPr>
          <p:cNvSpPr>
            <a:spLocks noGrp="1"/>
          </p:cNvSpPr>
          <p:nvPr/>
        </p:nvSpPr>
        <p:spPr>
          <a:xfrm>
            <a:off x="6764829" y="3132136"/>
            <a:ext cx="1557866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06C39"/>
            </a:solidFill>
          </a:ln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zh-CN" altLang="en-US" sz="900" b="1" dirty="0">
                <a:solidFill>
                  <a:srgbClr val="006C39"/>
                </a:solidFill>
              </a:rPr>
              <a:t>观测</a:t>
            </a:r>
          </a:p>
        </p:txBody>
      </p:sp>
      <p:sp>
        <p:nvSpPr>
          <p:cNvPr id="205" name="R1_Arr1">
            <a:extLst>
              <a:ext uri="{FF2B5EF4-FFF2-40B4-BE49-F238E27FC236}">
                <a16:creationId xmlns:a16="http://schemas.microsoft.com/office/drawing/2014/main" id="{28A3A138-15F2-417F-165D-D356D5846CB6}"/>
              </a:ext>
            </a:extLst>
          </p:cNvPr>
          <p:cNvSpPr>
            <a:spLocks noGrp="1"/>
          </p:cNvSpPr>
          <p:nvPr/>
        </p:nvSpPr>
        <p:spPr>
          <a:xfrm>
            <a:off x="8322695" y="3271836"/>
            <a:ext cx="203200" cy="1778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6C3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6" name="R1_Infer">
            <a:extLst>
              <a:ext uri="{FF2B5EF4-FFF2-40B4-BE49-F238E27FC236}">
                <a16:creationId xmlns:a16="http://schemas.microsoft.com/office/drawing/2014/main" id="{13DD8514-B79B-E1A2-1874-38AFB3BB919A}"/>
              </a:ext>
            </a:extLst>
          </p:cNvPr>
          <p:cNvSpPr>
            <a:spLocks noGrp="1"/>
          </p:cNvSpPr>
          <p:nvPr/>
        </p:nvSpPr>
        <p:spPr>
          <a:xfrm>
            <a:off x="8525895" y="3132136"/>
            <a:ext cx="1557866" cy="457200"/>
          </a:xfrm>
          <a:prstGeom prst="roundRect">
            <a:avLst>
              <a:gd name="adj" fmla="val 10000"/>
            </a:avLst>
          </a:prstGeom>
          <a:solidFill>
            <a:srgbClr val="006C39"/>
          </a:solidFill>
          <a:ln w="12700">
            <a:solidFill>
              <a:srgbClr val="006C39"/>
            </a:solidFill>
          </a:ln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zh-CN" altLang="en-US" sz="900" b="1" dirty="0">
                <a:solidFill>
                  <a:srgbClr val="FFFFFF"/>
                </a:solidFill>
              </a:rPr>
              <a:t>推理 ★</a:t>
            </a:r>
          </a:p>
        </p:txBody>
      </p:sp>
      <p:sp>
        <p:nvSpPr>
          <p:cNvPr id="207" name="R1_Arr2">
            <a:extLst>
              <a:ext uri="{FF2B5EF4-FFF2-40B4-BE49-F238E27FC236}">
                <a16:creationId xmlns:a16="http://schemas.microsoft.com/office/drawing/2014/main" id="{0BC770EA-DFCB-CAF3-D731-2FDA17D5E0A2}"/>
              </a:ext>
            </a:extLst>
          </p:cNvPr>
          <p:cNvSpPr>
            <a:spLocks noGrp="1"/>
          </p:cNvSpPr>
          <p:nvPr/>
        </p:nvSpPr>
        <p:spPr>
          <a:xfrm>
            <a:off x="10083760" y="3271836"/>
            <a:ext cx="203200" cy="1778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6C3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8" name="R1_Exec">
            <a:extLst>
              <a:ext uri="{FF2B5EF4-FFF2-40B4-BE49-F238E27FC236}">
                <a16:creationId xmlns:a16="http://schemas.microsoft.com/office/drawing/2014/main" id="{09FD1362-4DA5-1AAA-2FFC-FFCDBF2E8160}"/>
              </a:ext>
            </a:extLst>
          </p:cNvPr>
          <p:cNvSpPr>
            <a:spLocks noGrp="1"/>
          </p:cNvSpPr>
          <p:nvPr/>
        </p:nvSpPr>
        <p:spPr>
          <a:xfrm>
            <a:off x="10286960" y="3132136"/>
            <a:ext cx="1557866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06C39"/>
            </a:solidFill>
          </a:ln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zh-CN" altLang="en-US" sz="900" b="1" dirty="0">
                <a:solidFill>
                  <a:srgbClr val="006C39"/>
                </a:solidFill>
              </a:rPr>
              <a:t>执行</a:t>
            </a:r>
          </a:p>
        </p:txBody>
      </p:sp>
      <p:sp>
        <p:nvSpPr>
          <p:cNvPr id="209" name="DownArr">
            <a:extLst>
              <a:ext uri="{FF2B5EF4-FFF2-40B4-BE49-F238E27FC236}">
                <a16:creationId xmlns:a16="http://schemas.microsoft.com/office/drawing/2014/main" id="{6CB2A2B2-5179-3C59-CDA4-3195CAFD9FBD}"/>
              </a:ext>
            </a:extLst>
          </p:cNvPr>
          <p:cNvSpPr>
            <a:spLocks noGrp="1"/>
          </p:cNvSpPr>
          <p:nvPr/>
        </p:nvSpPr>
        <p:spPr>
          <a:xfrm>
            <a:off x="9215927" y="3589336"/>
            <a:ext cx="177800" cy="1016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C17B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0" name="Queue">
            <a:extLst>
              <a:ext uri="{FF2B5EF4-FFF2-40B4-BE49-F238E27FC236}">
                <a16:creationId xmlns:a16="http://schemas.microsoft.com/office/drawing/2014/main" id="{E3962AB9-2BFD-8162-CACE-FA24017E6EF1}"/>
              </a:ext>
            </a:extLst>
          </p:cNvPr>
          <p:cNvSpPr>
            <a:spLocks noGrp="1"/>
          </p:cNvSpPr>
          <p:nvPr/>
        </p:nvSpPr>
        <p:spPr>
          <a:xfrm>
            <a:off x="8398895" y="3690936"/>
            <a:ext cx="1811866" cy="355600"/>
          </a:xfrm>
          <a:prstGeom prst="rect">
            <a:avLst/>
          </a:prstGeom>
          <a:solidFill>
            <a:srgbClr val="FFF8E7"/>
          </a:solidFill>
          <a:ln w="12700">
            <a:solidFill>
              <a:srgbClr val="C17B00"/>
            </a:solidFill>
          </a:ln>
        </p:spPr>
        <p:txBody>
          <a:bodyPr wrap="square" anchor="ctr">
            <a:normAutofit lnSpcReduction="10000"/>
          </a:bodyPr>
          <a:lstStyle/>
          <a:p>
            <a:pPr algn="ctr">
              <a:buNone/>
            </a:pPr>
            <a:endParaRPr/>
          </a:p>
        </p:txBody>
      </p:sp>
      <p:sp>
        <p:nvSpPr>
          <p:cNvPr id="211" name="QueueLabel">
            <a:extLst>
              <a:ext uri="{FF2B5EF4-FFF2-40B4-BE49-F238E27FC236}">
                <a16:creationId xmlns:a16="http://schemas.microsoft.com/office/drawing/2014/main" id="{A3033B77-3280-FB97-2F6D-245F4DA0EFF7}"/>
              </a:ext>
            </a:extLst>
          </p:cNvPr>
          <p:cNvSpPr txBox="1">
            <a:spLocks noGrp="1"/>
          </p:cNvSpPr>
          <p:nvPr/>
        </p:nvSpPr>
        <p:spPr>
          <a:xfrm>
            <a:off x="8398895" y="3690936"/>
            <a:ext cx="1811866" cy="3556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zh-CN" altLang="en-US" sz="750" b="1" dirty="0">
                <a:solidFill>
                  <a:srgbClr val="C17B00"/>
                </a:solidFill>
              </a:rPr>
              <a:t>动作序列队列</a:t>
            </a:r>
            <a:r>
              <a:rPr lang="en-US" altLang="zh-CN" sz="750" dirty="0">
                <a:solidFill>
                  <a:srgbClr val="C17B00"/>
                </a:solidFill>
                <a:latin typeface="Menlo"/>
              </a:rPr>
              <a:t>  (×100帧)</a:t>
            </a:r>
          </a:p>
        </p:txBody>
      </p:sp>
      <p:sp>
        <p:nvSpPr>
          <p:cNvPr id="212" name="UpArr">
            <a:extLst>
              <a:ext uri="{FF2B5EF4-FFF2-40B4-BE49-F238E27FC236}">
                <a16:creationId xmlns:a16="http://schemas.microsoft.com/office/drawing/2014/main" id="{57A58321-4B29-2911-10E5-1569E904ADD8}"/>
              </a:ext>
            </a:extLst>
          </p:cNvPr>
          <p:cNvSpPr>
            <a:spLocks noGrp="1"/>
          </p:cNvSpPr>
          <p:nvPr/>
        </p:nvSpPr>
        <p:spPr>
          <a:xfrm flipV="1">
            <a:off x="9215927" y="4123665"/>
            <a:ext cx="177800" cy="3810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2D7AB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3" name="R2_Obs">
            <a:extLst>
              <a:ext uri="{FF2B5EF4-FFF2-40B4-BE49-F238E27FC236}">
                <a16:creationId xmlns:a16="http://schemas.microsoft.com/office/drawing/2014/main" id="{E37D8402-4C44-496F-BAB2-205028570C52}"/>
              </a:ext>
            </a:extLst>
          </p:cNvPr>
          <p:cNvSpPr>
            <a:spLocks noGrp="1"/>
          </p:cNvSpPr>
          <p:nvPr/>
        </p:nvSpPr>
        <p:spPr>
          <a:xfrm>
            <a:off x="6764829" y="4504665"/>
            <a:ext cx="1557866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D7AB0"/>
            </a:solidFill>
          </a:ln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zh-CN" altLang="en-US" sz="900" b="1" dirty="0">
                <a:solidFill>
                  <a:srgbClr val="2D7AB0"/>
                </a:solidFill>
              </a:rPr>
              <a:t>观测</a:t>
            </a:r>
          </a:p>
        </p:txBody>
      </p:sp>
      <p:sp>
        <p:nvSpPr>
          <p:cNvPr id="214" name="R2_Arr1">
            <a:extLst>
              <a:ext uri="{FF2B5EF4-FFF2-40B4-BE49-F238E27FC236}">
                <a16:creationId xmlns:a16="http://schemas.microsoft.com/office/drawing/2014/main" id="{8DF547C5-5DD7-0714-755B-9E3CF237B270}"/>
              </a:ext>
            </a:extLst>
          </p:cNvPr>
          <p:cNvSpPr>
            <a:spLocks noGrp="1"/>
          </p:cNvSpPr>
          <p:nvPr/>
        </p:nvSpPr>
        <p:spPr>
          <a:xfrm>
            <a:off x="8322695" y="4644365"/>
            <a:ext cx="203200" cy="1778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2D7AB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5" name="R2_Infer">
            <a:extLst>
              <a:ext uri="{FF2B5EF4-FFF2-40B4-BE49-F238E27FC236}">
                <a16:creationId xmlns:a16="http://schemas.microsoft.com/office/drawing/2014/main" id="{8466BDE9-9F24-9DDE-286A-38E0CDC15781}"/>
              </a:ext>
            </a:extLst>
          </p:cNvPr>
          <p:cNvSpPr>
            <a:spLocks noGrp="1"/>
          </p:cNvSpPr>
          <p:nvPr/>
        </p:nvSpPr>
        <p:spPr>
          <a:xfrm>
            <a:off x="8525895" y="4504665"/>
            <a:ext cx="1557866" cy="457200"/>
          </a:xfrm>
          <a:prstGeom prst="roundRect">
            <a:avLst>
              <a:gd name="adj" fmla="val 10000"/>
            </a:avLst>
          </a:prstGeom>
          <a:solidFill>
            <a:srgbClr val="2D7AB0"/>
          </a:solidFill>
          <a:ln w="12700">
            <a:solidFill>
              <a:srgbClr val="2D7AB0"/>
            </a:solidFill>
          </a:ln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zh-CN" altLang="en-US" sz="900" b="1" dirty="0">
                <a:solidFill>
                  <a:srgbClr val="FFFFFF"/>
                </a:solidFill>
              </a:rPr>
              <a:t>推理（取队列）</a:t>
            </a:r>
          </a:p>
        </p:txBody>
      </p:sp>
      <p:sp>
        <p:nvSpPr>
          <p:cNvPr id="216" name="R2_Arr2">
            <a:extLst>
              <a:ext uri="{FF2B5EF4-FFF2-40B4-BE49-F238E27FC236}">
                <a16:creationId xmlns:a16="http://schemas.microsoft.com/office/drawing/2014/main" id="{1746E846-FCE0-70A4-5478-BAE8D5D66271}"/>
              </a:ext>
            </a:extLst>
          </p:cNvPr>
          <p:cNvSpPr>
            <a:spLocks noGrp="1"/>
          </p:cNvSpPr>
          <p:nvPr/>
        </p:nvSpPr>
        <p:spPr>
          <a:xfrm>
            <a:off x="10083760" y="4644365"/>
            <a:ext cx="203200" cy="1778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2D7AB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7" name="R2_Exec">
            <a:extLst>
              <a:ext uri="{FF2B5EF4-FFF2-40B4-BE49-F238E27FC236}">
                <a16:creationId xmlns:a16="http://schemas.microsoft.com/office/drawing/2014/main" id="{F5C8BE0E-8BF4-2D17-C9B8-B8F26ED53874}"/>
              </a:ext>
            </a:extLst>
          </p:cNvPr>
          <p:cNvSpPr>
            <a:spLocks noGrp="1"/>
          </p:cNvSpPr>
          <p:nvPr/>
        </p:nvSpPr>
        <p:spPr>
          <a:xfrm>
            <a:off x="10286960" y="4504665"/>
            <a:ext cx="1557866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D7AB0"/>
            </a:solidFill>
          </a:ln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zh-CN" altLang="en-US" sz="900" b="1" dirty="0">
                <a:solidFill>
                  <a:srgbClr val="2D7AB0"/>
                </a:solidFill>
              </a:rPr>
              <a:t>执行</a:t>
            </a:r>
          </a:p>
        </p:txBody>
      </p:sp>
      <p:sp>
        <p:nvSpPr>
          <p:cNvPr id="218" name="R1InferSub">
            <a:extLst>
              <a:ext uri="{FF2B5EF4-FFF2-40B4-BE49-F238E27FC236}">
                <a16:creationId xmlns:a16="http://schemas.microsoft.com/office/drawing/2014/main" id="{2177759C-FD23-0FC2-DBF1-B6B0BE08F2FA}"/>
              </a:ext>
            </a:extLst>
          </p:cNvPr>
          <p:cNvSpPr txBox="1">
            <a:spLocks noGrp="1"/>
          </p:cNvSpPr>
          <p:nvPr/>
        </p:nvSpPr>
        <p:spPr>
          <a:xfrm>
            <a:off x="8525895" y="3411536"/>
            <a:ext cx="1557866" cy="1778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 fontScale="92500" lnSpcReduction="10000"/>
          </a:bodyPr>
          <a:lstStyle/>
          <a:p>
            <a:pPr algn="ctr">
              <a:buNone/>
            </a:pPr>
            <a:r>
              <a:rPr lang="zh-CN" altLang="en-US" sz="700" b="0" dirty="0">
                <a:solidFill>
                  <a:srgbClr val="CCFFCC"/>
                </a:solidFill>
              </a:rPr>
              <a:t>策略模型推理</a:t>
            </a:r>
          </a:p>
        </p:txBody>
      </p:sp>
      <p:sp>
        <p:nvSpPr>
          <p:cNvPr id="219" name="R2InferSub">
            <a:extLst>
              <a:ext uri="{FF2B5EF4-FFF2-40B4-BE49-F238E27FC236}">
                <a16:creationId xmlns:a16="http://schemas.microsoft.com/office/drawing/2014/main" id="{B7278B9C-D4F8-3CA2-346E-0EFFF25A87F5}"/>
              </a:ext>
            </a:extLst>
          </p:cNvPr>
          <p:cNvSpPr txBox="1">
            <a:spLocks noGrp="1"/>
          </p:cNvSpPr>
          <p:nvPr/>
        </p:nvSpPr>
        <p:spPr>
          <a:xfrm>
            <a:off x="8525895" y="4784065"/>
            <a:ext cx="1557866" cy="1778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 fontScale="92500" lnSpcReduction="10000"/>
          </a:bodyPr>
          <a:lstStyle/>
          <a:p>
            <a:pPr algn="ctr">
              <a:buNone/>
            </a:pPr>
            <a:r>
              <a:rPr lang="zh-CN" altLang="en-US" sz="700" b="0" dirty="0">
                <a:solidFill>
                  <a:srgbClr val="BDD9F0"/>
                </a:solidFill>
              </a:rPr>
              <a:t>无需重新推理</a:t>
            </a: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378A88B4-36AA-1FAB-2434-ECAEB015431F}"/>
              </a:ext>
            </a:extLst>
          </p:cNvPr>
          <p:cNvSpPr txBox="1"/>
          <p:nvPr/>
        </p:nvSpPr>
        <p:spPr>
          <a:xfrm>
            <a:off x="5798219" y="4806472"/>
            <a:ext cx="29546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1</a:t>
            </a:r>
            <a:r>
              <a:rPr kumimoji="1" lang="zh-CN" altLang="en-US" dirty="0"/>
              <a:t> </a:t>
            </a:r>
            <a:r>
              <a:rPr kumimoji="1" lang="en-US" altLang="zh-CN" dirty="0"/>
              <a:t>Episode</a:t>
            </a:r>
          </a:p>
          <a:p>
            <a:r>
              <a:rPr kumimoji="1" lang="zh-CN" altLang="en-US" dirty="0"/>
              <a:t>如果</a:t>
            </a:r>
            <a:r>
              <a:rPr kumimoji="1" lang="en-US" altLang="zh-CN" dirty="0"/>
              <a:t>60s</a:t>
            </a:r>
          </a:p>
          <a:p>
            <a:r>
              <a:rPr kumimoji="1" lang="zh-CN" altLang="en-US" dirty="0"/>
              <a:t>那这俩就三秒多</a:t>
            </a:r>
            <a:endParaRPr kumimoji="1" lang="en-US" altLang="zh-CN" dirty="0"/>
          </a:p>
          <a:p>
            <a:r>
              <a:rPr kumimoji="1" lang="zh-CN" altLang="en-US" dirty="0"/>
              <a:t>后面就一直重复这个三秒多</a:t>
            </a:r>
          </a:p>
        </p:txBody>
      </p:sp>
      <p:cxnSp>
        <p:nvCxnSpPr>
          <p:cNvPr id="31" name="曲线连接符 30">
            <a:extLst>
              <a:ext uri="{FF2B5EF4-FFF2-40B4-BE49-F238E27FC236}">
                <a16:creationId xmlns:a16="http://schemas.microsoft.com/office/drawing/2014/main" id="{DA3437F1-C44C-3735-CA9B-41BA92A3667F}"/>
              </a:ext>
            </a:extLst>
          </p:cNvPr>
          <p:cNvCxnSpPr>
            <a:cxnSpLocks/>
            <a:stCxn id="208" idx="3"/>
            <a:endCxn id="213" idx="0"/>
          </p:cNvCxnSpPr>
          <p:nvPr/>
        </p:nvCxnSpPr>
        <p:spPr>
          <a:xfrm flipH="1">
            <a:off x="7543762" y="3360736"/>
            <a:ext cx="4301064" cy="1143929"/>
          </a:xfrm>
          <a:prstGeom prst="curvedConnector4">
            <a:avLst>
              <a:gd name="adj1" fmla="val -5315"/>
              <a:gd name="adj2" fmla="val 59992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曲线连接符 32">
            <a:extLst>
              <a:ext uri="{FF2B5EF4-FFF2-40B4-BE49-F238E27FC236}">
                <a16:creationId xmlns:a16="http://schemas.microsoft.com/office/drawing/2014/main" id="{56586751-5A1B-D250-0A50-22E5E30E58BC}"/>
              </a:ext>
            </a:extLst>
          </p:cNvPr>
          <p:cNvCxnSpPr>
            <a:cxnSpLocks/>
            <a:stCxn id="217" idx="2"/>
            <a:endCxn id="204" idx="1"/>
          </p:cNvCxnSpPr>
          <p:nvPr/>
        </p:nvCxnSpPr>
        <p:spPr>
          <a:xfrm rot="5400000" flipH="1">
            <a:off x="8114796" y="2010769"/>
            <a:ext cx="1601129" cy="4301064"/>
          </a:xfrm>
          <a:prstGeom prst="curvedConnector4">
            <a:avLst>
              <a:gd name="adj1" fmla="val -40236"/>
              <a:gd name="adj2" fmla="val 105315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1863425"/>
      </p:ext>
    </p:extLst>
  </p:cSld>
  <p:clrMapOvr>
    <a:masterClrMapping/>
  </p:clrMapOvr>
  <p:transition spd="med">
    <p:pull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/>
          <p:cNvSpPr>
            <a:spLocks noGrp="1"/>
          </p:cNvSpPr>
          <p:nvPr>
            <p:ph type="title"/>
          </p:nvPr>
        </p:nvSpPr>
        <p:spPr>
          <a:xfrm>
            <a:off x="1606550" y="344317"/>
            <a:ext cx="8643848" cy="480131"/>
          </a:xfrm>
        </p:spPr>
        <p:txBody>
          <a:bodyPr/>
          <a:lstStyle/>
          <a:p>
            <a:r>
              <a:rPr lang="zh-CN" altLang="en-US" dirty="0"/>
              <a:t>一个</a:t>
            </a:r>
            <a:r>
              <a:rPr lang="en-US" altLang="zh-CN" dirty="0"/>
              <a:t>frame</a:t>
            </a:r>
            <a:r>
              <a:rPr lang="zh-CN" altLang="en-US" dirty="0"/>
              <a:t>涉及到的数据</a:t>
            </a:r>
            <a:endParaRPr lang="en-US" altLang="zh-CN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037CFF9-A525-4EAF-B3FE-037F2439DF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7352" y="235111"/>
            <a:ext cx="969798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2286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marL="228600" marR="0" lvl="0" indent="-2286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3600" b="1" dirty="0">
                <a:solidFill>
                  <a:prstClr val="white"/>
                </a:solidFill>
              </a:rPr>
              <a:t>2</a:t>
            </a:r>
            <a:endParaRPr kumimoji="0" lang="zh-CN" altLang="en-US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ED458B9-D0E1-5BA6-CD1B-B84EF60119B9}"/>
              </a:ext>
            </a:extLst>
          </p:cNvPr>
          <p:cNvSpPr/>
          <p:nvPr/>
        </p:nvSpPr>
        <p:spPr>
          <a:xfrm>
            <a:off x="2313033" y="930831"/>
            <a:ext cx="781050" cy="37147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观测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2B42C66-FAB9-0B4F-580B-1E4B22434AFC}"/>
              </a:ext>
            </a:extLst>
          </p:cNvPr>
          <p:cNvSpPr/>
          <p:nvPr/>
        </p:nvSpPr>
        <p:spPr>
          <a:xfrm>
            <a:off x="4363039" y="930831"/>
            <a:ext cx="781050" cy="37147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推理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BE75683-DC2D-6D19-7F4A-977EE4734C35}"/>
              </a:ext>
            </a:extLst>
          </p:cNvPr>
          <p:cNvSpPr/>
          <p:nvPr/>
        </p:nvSpPr>
        <p:spPr>
          <a:xfrm>
            <a:off x="8717279" y="935345"/>
            <a:ext cx="781050" cy="37147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执行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D84D2BC-435B-CBDC-21AE-240C00F12AEE}"/>
              </a:ext>
            </a:extLst>
          </p:cNvPr>
          <p:cNvSpPr txBox="1"/>
          <p:nvPr/>
        </p:nvSpPr>
        <p:spPr>
          <a:xfrm>
            <a:off x="82549" y="1316358"/>
            <a:ext cx="3705679" cy="3284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  <a:buNone/>
            </a:pPr>
            <a:r>
              <a:rPr lang="en-US" altLang="zh-CN" sz="10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obs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: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 err="1">
                <a:solidFill>
                  <a:srgbClr val="428226"/>
                </a:solidFill>
                <a:effectLst/>
                <a:highlight>
                  <a:srgbClr val="C0C0C0"/>
                </a:highlight>
                <a:latin typeface="Menlo" panose="020B0609030804020204" pitchFamily="49" charset="0"/>
              </a:rPr>
              <a:t>RobotObservation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robot.</a:t>
            </a:r>
            <a:r>
              <a:rPr lang="en-US" altLang="zh-CN" sz="1000" b="0" dirty="0" err="1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get_observation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()</a:t>
            </a:r>
            <a:endParaRPr lang="en-US" altLang="zh-CN" sz="1000" b="0" dirty="0">
              <a:solidFill>
                <a:srgbClr val="428226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RobotObservation:</a:t>
            </a:r>
            <a:r>
              <a:rPr lang="en-US" altLang="zh-CN" sz="1000" b="0" dirty="0" err="1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dict</a:t>
            </a:r>
            <a:r>
              <a:rPr lang="en-US" altLang="zh-CN" sz="100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[str, Any]</a:t>
            </a:r>
            <a:endParaRPr lang="en-US" altLang="zh-CN" sz="1000" b="0" dirty="0">
              <a:solidFill>
                <a:srgbClr val="428226"/>
              </a:solidFill>
              <a:effectLst/>
              <a:latin typeface="Menlo" panose="020B0609030804020204" pitchFamily="49" charset="0"/>
            </a:endParaRPr>
          </a:p>
          <a:p>
            <a:r>
              <a:rPr lang="en-US" altLang="zh-CN" sz="1000" dirty="0" err="1"/>
              <a:t>obs</a:t>
            </a:r>
            <a:r>
              <a:rPr lang="en-US" altLang="zh-CN" sz="1000" dirty="0"/>
              <a:t> = {</a:t>
            </a:r>
          </a:p>
          <a:p>
            <a:r>
              <a:rPr lang="en-US" altLang="zh-CN" sz="1000" dirty="0"/>
              <a:t># === </a:t>
            </a:r>
            <a:r>
              <a:rPr lang="zh-CN" altLang="en-US" sz="1000" dirty="0"/>
              <a:t>关节状态 </a:t>
            </a:r>
            <a:r>
              <a:rPr lang="en-US" altLang="zh-CN" sz="1000" dirty="0"/>
              <a:t>(6</a:t>
            </a:r>
            <a:r>
              <a:rPr lang="zh-CN" altLang="en-US" sz="1000" dirty="0"/>
              <a:t>个关节</a:t>
            </a:r>
            <a:r>
              <a:rPr lang="en-US" altLang="zh-CN" sz="1000" dirty="0"/>
              <a:t>) ===</a:t>
            </a:r>
            <a:endParaRPr lang="zh-CN" altLang="en-US" sz="1000" dirty="0"/>
          </a:p>
          <a:p>
            <a:r>
              <a:rPr lang="en-US" altLang="zh-CN" sz="1000" dirty="0"/>
              <a:t>"</a:t>
            </a:r>
            <a:r>
              <a:rPr lang="en-US" altLang="zh-CN" sz="1000" dirty="0" err="1"/>
              <a:t>shoulder_pan.pos</a:t>
            </a:r>
            <a:r>
              <a:rPr lang="en-US" altLang="zh-CN" sz="1000" dirty="0"/>
              <a:t>": </a:t>
            </a:r>
            <a:r>
              <a:rPr lang="en-US" altLang="zh-CN" sz="1000" dirty="0">
                <a:solidFill>
                  <a:srgbClr val="3778B7"/>
                </a:solidFill>
                <a:latin typeface="Menlo" panose="020B0609030804020204" pitchFamily="49" charset="0"/>
              </a:rPr>
              <a:t>15.5</a:t>
            </a:r>
            <a:endParaRPr lang="en-US" altLang="zh-CN" sz="1000" dirty="0"/>
          </a:p>
          <a:p>
            <a:r>
              <a:rPr lang="en-US" altLang="zh-CN" sz="1000" dirty="0"/>
              <a:t>"</a:t>
            </a:r>
            <a:r>
              <a:rPr lang="en-US" altLang="zh-CN" sz="1000" dirty="0" err="1"/>
              <a:t>shoulder_lift.pos</a:t>
            </a:r>
            <a:r>
              <a:rPr lang="en-US" altLang="zh-CN" sz="1000" dirty="0"/>
              <a:t>": </a:t>
            </a:r>
            <a:r>
              <a:rPr lang="en-US" altLang="zh-CN" sz="1000" dirty="0">
                <a:solidFill>
                  <a:srgbClr val="A56416"/>
                </a:solidFill>
                <a:latin typeface="Menlo" panose="020B0609030804020204" pitchFamily="49" charset="0"/>
              </a:rPr>
              <a:t>-</a:t>
            </a:r>
            <a:r>
              <a:rPr lang="en-US" altLang="zh-CN" sz="1000" dirty="0">
                <a:solidFill>
                  <a:srgbClr val="3778B7"/>
                </a:solidFill>
                <a:latin typeface="Menlo" panose="020B0609030804020204" pitchFamily="49" charset="0"/>
              </a:rPr>
              <a:t>30.2</a:t>
            </a:r>
            <a:endParaRPr lang="zh-CN" altLang="en-US" sz="1000" dirty="0"/>
          </a:p>
          <a:p>
            <a:r>
              <a:rPr lang="en-US" altLang="zh-CN" sz="1000" dirty="0"/>
              <a:t>"</a:t>
            </a:r>
            <a:r>
              <a:rPr lang="en-US" altLang="zh-CN" sz="1000" dirty="0" err="1"/>
              <a:t>elbow_flex.pos</a:t>
            </a:r>
            <a:r>
              <a:rPr lang="en-US" altLang="zh-CN" sz="1000" dirty="0"/>
              <a:t>": </a:t>
            </a:r>
            <a:r>
              <a:rPr lang="en-US" altLang="zh-CN" sz="1000" dirty="0">
                <a:solidFill>
                  <a:srgbClr val="3778B7"/>
                </a:solidFill>
                <a:latin typeface="Menlo" panose="020B0609030804020204" pitchFamily="49" charset="0"/>
              </a:rPr>
              <a:t>45.0</a:t>
            </a:r>
            <a:r>
              <a:rPr lang="en-US" altLang="zh-CN" sz="1000" dirty="0"/>
              <a:t> </a:t>
            </a:r>
            <a:endParaRPr lang="zh-CN" altLang="en-US" sz="1000" dirty="0"/>
          </a:p>
          <a:p>
            <a:r>
              <a:rPr lang="en-US" altLang="zh-CN" sz="1000" dirty="0"/>
              <a:t>"</a:t>
            </a:r>
            <a:r>
              <a:rPr lang="en-US" altLang="zh-CN" sz="1000" dirty="0" err="1"/>
              <a:t>wrist_flex.pos</a:t>
            </a:r>
            <a:r>
              <a:rPr lang="en-US" altLang="zh-CN" sz="1000" dirty="0"/>
              <a:t>": </a:t>
            </a:r>
            <a:r>
              <a:rPr lang="en-US" altLang="zh-CN" sz="1000" dirty="0">
                <a:solidFill>
                  <a:srgbClr val="A56416"/>
                </a:solidFill>
                <a:latin typeface="Menlo" panose="020B0609030804020204" pitchFamily="49" charset="0"/>
              </a:rPr>
              <a:t>-</a:t>
            </a:r>
            <a:r>
              <a:rPr lang="en-US" altLang="zh-CN" sz="1000" dirty="0">
                <a:solidFill>
                  <a:srgbClr val="3778B7"/>
                </a:solidFill>
                <a:latin typeface="Menlo" panose="020B0609030804020204" pitchFamily="49" charset="0"/>
              </a:rPr>
              <a:t>20.0</a:t>
            </a:r>
            <a:endParaRPr lang="zh-CN" altLang="en-US" sz="1000" dirty="0"/>
          </a:p>
          <a:p>
            <a:r>
              <a:rPr lang="en-US" altLang="zh-CN" sz="1000" dirty="0"/>
              <a:t>"</a:t>
            </a:r>
            <a:r>
              <a:rPr lang="en-US" altLang="zh-CN" sz="1000" dirty="0" err="1"/>
              <a:t>wrist_roll.pos</a:t>
            </a:r>
            <a:r>
              <a:rPr lang="en-US" altLang="zh-CN" sz="1000" dirty="0"/>
              <a:t>": </a:t>
            </a:r>
            <a:r>
              <a:rPr lang="en-US" altLang="zh-CN" sz="1000" dirty="0">
                <a:solidFill>
                  <a:srgbClr val="3778B7"/>
                </a:solidFill>
                <a:latin typeface="Menlo" panose="020B0609030804020204" pitchFamily="49" charset="0"/>
              </a:rPr>
              <a:t>10.0</a:t>
            </a:r>
            <a:endParaRPr lang="zh-CN" altLang="en-US" sz="1000" dirty="0"/>
          </a:p>
          <a:p>
            <a:r>
              <a:rPr lang="en-US" altLang="zh-CN" sz="1000" dirty="0"/>
              <a:t>"</a:t>
            </a:r>
            <a:r>
              <a:rPr lang="en-US" altLang="zh-CN" sz="1000" dirty="0" err="1"/>
              <a:t>gripper.pos</a:t>
            </a:r>
            <a:r>
              <a:rPr lang="en-US" altLang="zh-CN" sz="1000" dirty="0"/>
              <a:t>": </a:t>
            </a:r>
            <a:r>
              <a:rPr lang="en-US" altLang="zh-CN" sz="1000" dirty="0">
                <a:solidFill>
                  <a:srgbClr val="3778B7"/>
                </a:solidFill>
                <a:latin typeface="Menlo" panose="020B0609030804020204" pitchFamily="49" charset="0"/>
              </a:rPr>
              <a:t>80.0</a:t>
            </a:r>
            <a:r>
              <a:rPr lang="en-US" altLang="zh-CN" sz="1000" dirty="0"/>
              <a:t> </a:t>
            </a:r>
          </a:p>
          <a:p>
            <a:r>
              <a:rPr lang="en-US" altLang="zh-CN" sz="1000" dirty="0"/>
              <a:t># === </a:t>
            </a:r>
            <a:r>
              <a:rPr lang="zh-CN" altLang="en-US" sz="1000" dirty="0"/>
              <a:t>相机图像 </a:t>
            </a:r>
            <a:r>
              <a:rPr lang="en-US" altLang="zh-CN" sz="1000" dirty="0"/>
              <a:t>(2</a:t>
            </a:r>
            <a:r>
              <a:rPr lang="zh-CN" altLang="en-US" sz="1000" dirty="0"/>
              <a:t>个相机</a:t>
            </a:r>
            <a:r>
              <a:rPr lang="en-US" altLang="zh-CN" sz="1000" dirty="0"/>
              <a:t>) ===</a:t>
            </a:r>
            <a:endParaRPr lang="zh-CN" altLang="en-US" sz="1000" dirty="0"/>
          </a:p>
          <a:p>
            <a:r>
              <a:rPr lang="en-US" altLang="zh-CN" sz="1000" dirty="0"/>
              <a:t>"</a:t>
            </a:r>
            <a:r>
              <a:rPr lang="en-US" altLang="zh-CN" sz="1000" dirty="0" err="1"/>
              <a:t>handeye</a:t>
            </a:r>
            <a:r>
              <a:rPr lang="en-US" altLang="zh-CN" sz="1000" dirty="0"/>
              <a:t>": </a:t>
            </a:r>
            <a:r>
              <a:rPr lang="en-US" altLang="zh-CN" sz="1000" dirty="0" err="1"/>
              <a:t>np.ndarray</a:t>
            </a:r>
            <a:r>
              <a:rPr lang="en-US" altLang="zh-CN" sz="1000" dirty="0"/>
              <a:t>(shape=(360, 640, 3), </a:t>
            </a:r>
            <a:r>
              <a:rPr lang="en-US" altLang="zh-CN" sz="1000" dirty="0" err="1"/>
              <a:t>dtype</a:t>
            </a:r>
            <a:r>
              <a:rPr lang="en-US" altLang="zh-CN" sz="1000" dirty="0"/>
              <a:t>=uint8), # </a:t>
            </a:r>
            <a:r>
              <a:rPr lang="zh-CN" altLang="en-US" sz="1000" dirty="0"/>
              <a:t>手眼相机</a:t>
            </a:r>
          </a:p>
          <a:p>
            <a:r>
              <a:rPr lang="en-US" altLang="zh-CN" sz="1000" dirty="0"/>
              <a:t>"fixed": </a:t>
            </a:r>
            <a:r>
              <a:rPr lang="en-US" altLang="zh-CN" sz="1000" dirty="0" err="1"/>
              <a:t>np.</a:t>
            </a:r>
            <a:r>
              <a:rPr lang="en-US" altLang="zh-CN" sz="1000" dirty="0" err="1">
                <a:highlight>
                  <a:srgbClr val="FFFF00"/>
                </a:highlight>
              </a:rPr>
              <a:t>ndarray</a:t>
            </a:r>
            <a:r>
              <a:rPr lang="en-US" altLang="zh-CN" sz="1000" dirty="0"/>
              <a:t>(shape=(360, 640, 3), </a:t>
            </a:r>
            <a:r>
              <a:rPr lang="en-US" altLang="zh-CN" sz="1000" dirty="0" err="1"/>
              <a:t>dtype</a:t>
            </a:r>
            <a:r>
              <a:rPr lang="en-US" altLang="zh-CN" sz="1000" dirty="0"/>
              <a:t>=uint8), # </a:t>
            </a:r>
            <a:r>
              <a:rPr lang="zh-CN" altLang="en-US" sz="1000" dirty="0"/>
              <a:t>固定相机</a:t>
            </a:r>
          </a:p>
          <a:p>
            <a:r>
              <a:rPr lang="en-US" altLang="zh-CN" sz="1000" dirty="0"/>
              <a:t>}</a:t>
            </a:r>
          </a:p>
          <a:p>
            <a:endParaRPr lang="en-US" altLang="zh-CN" sz="1000" dirty="0"/>
          </a:p>
          <a:p>
            <a:pPr>
              <a:lnSpc>
                <a:spcPts val="1350"/>
              </a:lnSpc>
              <a:buNone/>
            </a:pPr>
            <a:r>
              <a:rPr lang="en-US" altLang="zh-CN" sz="10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observation_frame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: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dict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str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np.ndarray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]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 err="1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build_dataset_frame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00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obs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>
              <a:lnSpc>
                <a:spcPts val="1350"/>
              </a:lnSpc>
              <a:buNone/>
            </a:pPr>
            <a:r>
              <a:rPr lang="en-US" altLang="zh-CN" sz="10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endParaRPr lang="zh-CN" altLang="en-US" sz="1000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FC383E3-A2F6-B9AE-0FE3-B9B1D7EC6E49}"/>
              </a:ext>
            </a:extLst>
          </p:cNvPr>
          <p:cNvSpPr txBox="1"/>
          <p:nvPr/>
        </p:nvSpPr>
        <p:spPr>
          <a:xfrm>
            <a:off x="96611" y="5412102"/>
            <a:ext cx="8246205" cy="6171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  <a:buNone/>
            </a:pPr>
            <a:r>
              <a:rPr lang="zh-CN" altLang="en-US" sz="100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从</a:t>
            </a:r>
            <a:r>
              <a:rPr lang="en-US" altLang="zh-CN" sz="1000" b="0" dirty="0" err="1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dict</a:t>
            </a:r>
            <a:r>
              <a:rPr lang="en-US" altLang="zh-CN" sz="100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[str, Any]-&gt;</a:t>
            </a:r>
            <a:r>
              <a:rPr lang="zh-CN" altLang="en-US" sz="100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转换为 </a:t>
            </a:r>
            <a:r>
              <a:rPr lang="en-US" altLang="zh-CN" sz="1000" b="0" dirty="0" err="1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dict</a:t>
            </a:r>
            <a:r>
              <a:rPr lang="en-US" altLang="zh-CN" sz="100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[str, </a:t>
            </a:r>
            <a:r>
              <a:rPr lang="en-US" altLang="zh-CN" sz="1000" b="0" dirty="0" err="1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np.ndarray</a:t>
            </a:r>
            <a:r>
              <a:rPr lang="en-US" altLang="zh-CN" sz="100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pPr>
              <a:lnSpc>
                <a:spcPts val="1350"/>
              </a:lnSpc>
              <a:buNone/>
            </a:pPr>
            <a:r>
              <a:rPr lang="en-US" altLang="zh-CN" sz="10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observation_frame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: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dict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str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np.ndarray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]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 err="1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build_dataset_frame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000" dirty="0" err="1">
                <a:solidFill>
                  <a:srgbClr val="333333"/>
                </a:solidFill>
                <a:latin typeface="Menlo" panose="020B0609030804020204" pitchFamily="49" charset="0"/>
              </a:rPr>
              <a:t>obs</a:t>
            </a:r>
            <a:r>
              <a:rPr lang="en-US" altLang="zh-CN" sz="1000" dirty="0">
                <a:solidFill>
                  <a:srgbClr val="333333"/>
                </a:solidFill>
                <a:latin typeface="Menlo" panose="020B0609030804020204" pitchFamily="49" charset="0"/>
              </a:rPr>
              <a:t>)</a:t>
            </a:r>
          </a:p>
          <a:p>
            <a:pPr>
              <a:lnSpc>
                <a:spcPts val="1350"/>
              </a:lnSpc>
            </a:pPr>
            <a:r>
              <a:rPr lang="en-US" altLang="zh-CN" sz="1000" dirty="0" err="1">
                <a:solidFill>
                  <a:srgbClr val="A56416"/>
                </a:solidFill>
                <a:highlight>
                  <a:srgbClr val="C0C0C0"/>
                </a:highlight>
                <a:latin typeface="Menlo" panose="020B0609030804020204" pitchFamily="49" charset="0"/>
              </a:rPr>
              <a:t>np.ndarray</a:t>
            </a:r>
            <a:r>
              <a:rPr lang="en-US" altLang="zh-CN" sz="1000" dirty="0">
                <a:solidFill>
                  <a:srgbClr val="A56416"/>
                </a:solidFill>
                <a:highlight>
                  <a:srgbClr val="C0C0C0"/>
                </a:highlight>
                <a:latin typeface="Menlo" panose="020B0609030804020204" pitchFamily="49" charset="0"/>
              </a:rPr>
              <a:t> (NumPy </a:t>
            </a:r>
            <a:r>
              <a:rPr lang="zh-CN" altLang="en-US" sz="1000" dirty="0">
                <a:solidFill>
                  <a:srgbClr val="A56416"/>
                </a:solidFill>
                <a:highlight>
                  <a:srgbClr val="C0C0C0"/>
                </a:highlight>
                <a:latin typeface="Menlo" panose="020B0609030804020204" pitchFamily="49" charset="0"/>
              </a:rPr>
              <a:t>数组</a:t>
            </a:r>
            <a:r>
              <a:rPr lang="en-US" altLang="zh-CN" sz="1000" dirty="0">
                <a:solidFill>
                  <a:srgbClr val="A56416"/>
                </a:solidFill>
                <a:highlight>
                  <a:srgbClr val="C0C0C0"/>
                </a:highlight>
                <a:latin typeface="Menlo" panose="020B0609030804020204" pitchFamily="49" charset="0"/>
              </a:rPr>
              <a:t>)</a:t>
            </a:r>
            <a:r>
              <a:rPr lang="en-US" altLang="zh-CN" sz="1000" dirty="0">
                <a:highlight>
                  <a:srgbClr val="C0C0C0"/>
                </a:highlight>
              </a:rPr>
              <a:t> </a:t>
            </a:r>
            <a:r>
              <a:rPr lang="en-US" altLang="zh-CN" sz="1000" dirty="0" err="1"/>
              <a:t>np.ndarray</a:t>
            </a:r>
            <a:r>
              <a:rPr lang="en-US" altLang="zh-CN" sz="1000" dirty="0"/>
              <a:t>(shape=(H, W, C), </a:t>
            </a:r>
            <a:r>
              <a:rPr lang="en-US" altLang="zh-CN" sz="1000" dirty="0" err="1"/>
              <a:t>dtype</a:t>
            </a:r>
            <a:r>
              <a:rPr lang="en-US" altLang="zh-CN" sz="1000" dirty="0"/>
              <a:t>=uint8)</a:t>
            </a:r>
            <a:endParaRPr lang="en-US" altLang="zh-CN" sz="10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0462EF7D-B325-C3E5-77EB-0E181C197DFF}"/>
              </a:ext>
            </a:extLst>
          </p:cNvPr>
          <p:cNvSpPr txBox="1"/>
          <p:nvPr/>
        </p:nvSpPr>
        <p:spPr>
          <a:xfrm>
            <a:off x="3788228" y="1328600"/>
            <a:ext cx="4929051" cy="29649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  <a:buNone/>
            </a:pPr>
            <a:r>
              <a:rPr lang="en-US" altLang="zh-CN" sz="1000" b="0" dirty="0">
                <a:effectLst/>
                <a:latin typeface="Menlo" panose="020B0609030804020204" pitchFamily="49" charset="0"/>
              </a:rPr>
              <a:t># </a:t>
            </a:r>
            <a:r>
              <a:rPr lang="zh-CN" altLang="en-US" sz="1000" b="0" dirty="0">
                <a:effectLst/>
                <a:latin typeface="Menlo" panose="020B0609030804020204" pitchFamily="49" charset="0"/>
              </a:rPr>
              <a:t>推理得到输出</a:t>
            </a:r>
            <a:endParaRPr lang="en-US" altLang="zh-CN" sz="1000" b="0" dirty="0"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action_values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: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np.ndarray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 err="1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predict_action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000" dirty="0" err="1">
                <a:solidFill>
                  <a:srgbClr val="428226"/>
                </a:solidFill>
                <a:latin typeface="Menlo" panose="020B0609030804020204" pitchFamily="49" charset="0"/>
              </a:rPr>
              <a:t>observation_frame</a:t>
            </a:r>
            <a:r>
              <a:rPr lang="en-US" altLang="zh-CN" sz="1000" dirty="0">
                <a:solidFill>
                  <a:srgbClr val="428226"/>
                </a:solidFill>
                <a:latin typeface="Menlo" panose="020B0609030804020204" pitchFamily="49" charset="0"/>
              </a:rPr>
              <a:t>)</a:t>
            </a:r>
            <a:endParaRPr lang="en-US" altLang="zh-CN" sz="1000" b="0" dirty="0">
              <a:solidFill>
                <a:srgbClr val="428226"/>
              </a:solidFill>
              <a:effectLst/>
              <a:latin typeface="Menlo" panose="020B0609030804020204" pitchFamily="49" charset="0"/>
            </a:endParaRPr>
          </a:p>
          <a:p>
            <a:r>
              <a:rPr lang="en-US" altLang="zh-CN" sz="1000" dirty="0" err="1"/>
              <a:t>action_values</a:t>
            </a:r>
            <a:r>
              <a:rPr lang="en-US" altLang="zh-CN" sz="1000" dirty="0"/>
              <a:t> </a:t>
            </a:r>
            <a:r>
              <a:rPr lang="en-US" altLang="zh-CN" sz="1000" dirty="0">
                <a:highlight>
                  <a:srgbClr val="FFFF00"/>
                </a:highlight>
              </a:rPr>
              <a:t>= </a:t>
            </a:r>
            <a:r>
              <a:rPr lang="en-US" altLang="zh-CN" sz="1000" dirty="0" err="1">
                <a:highlight>
                  <a:srgbClr val="FFFF00"/>
                </a:highlight>
              </a:rPr>
              <a:t>np.array</a:t>
            </a:r>
            <a:r>
              <a:rPr lang="en-US" altLang="zh-CN" sz="1000" dirty="0">
                <a:highlight>
                  <a:srgbClr val="FFFF00"/>
                </a:highlight>
              </a:rPr>
              <a:t>([15.5, -30.2, 45.0, -20.0, 10.0, 80.0], </a:t>
            </a:r>
            <a:r>
              <a:rPr lang="en-US" altLang="zh-CN" sz="1000" dirty="0" err="1">
                <a:highlight>
                  <a:srgbClr val="FFFF00"/>
                </a:highlight>
              </a:rPr>
              <a:t>dtype</a:t>
            </a:r>
            <a:r>
              <a:rPr lang="en-US" altLang="zh-CN" sz="1000" dirty="0">
                <a:highlight>
                  <a:srgbClr val="FFFF00"/>
                </a:highlight>
              </a:rPr>
              <a:t>=np.float32)</a:t>
            </a:r>
          </a:p>
          <a:p>
            <a:endParaRPr kumimoji="1" lang="en-US" altLang="zh-CN" sz="1000" dirty="0">
              <a:solidFill>
                <a:srgbClr val="333333"/>
              </a:solidFill>
              <a:highlight>
                <a:srgbClr val="FFFF00"/>
              </a:highlight>
              <a:latin typeface="Menlo" panose="020B0609030804020204" pitchFamily="49" charset="0"/>
            </a:endParaRPr>
          </a:p>
          <a:p>
            <a:r>
              <a:rPr lang="en-US" altLang="zh-CN" sz="1000" dirty="0"/>
              <a:t># </a:t>
            </a:r>
            <a:r>
              <a:rPr lang="zh-CN" altLang="en-US" sz="1000" dirty="0"/>
              <a:t>将 </a:t>
            </a:r>
            <a:r>
              <a:rPr lang="en-US" altLang="zh-CN" sz="1000" dirty="0" err="1"/>
              <a:t>numpy</a:t>
            </a:r>
            <a:r>
              <a:rPr lang="en-US" altLang="zh-CN" sz="1000" dirty="0"/>
              <a:t> </a:t>
            </a:r>
            <a:r>
              <a:rPr lang="zh-CN" altLang="en-US" sz="1000" dirty="0"/>
              <a:t>动作数组转换为 </a:t>
            </a:r>
            <a:r>
              <a:rPr lang="en-US" altLang="zh-CN" sz="1000" dirty="0" err="1"/>
              <a:t>RobotAction</a:t>
            </a:r>
            <a:r>
              <a:rPr lang="en-US" altLang="zh-CN" sz="1000" dirty="0"/>
              <a:t> </a:t>
            </a:r>
            <a:r>
              <a:rPr lang="zh-CN" altLang="en-US" sz="1000" dirty="0">
                <a:highlight>
                  <a:srgbClr val="FFFF00"/>
                </a:highlight>
              </a:rPr>
              <a:t>字典格式</a:t>
            </a:r>
            <a:endParaRPr lang="en-US" altLang="zh-CN" sz="1000" dirty="0">
              <a:highlight>
                <a:srgbClr val="FFFF00"/>
              </a:highlight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act_processed_policy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: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RobotAction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{</a:t>
            </a:r>
            <a:r>
              <a:rPr lang="en-US" altLang="zh-CN" sz="10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"{name}"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: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float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00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action_values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US" altLang="zh-CN" sz="100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])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for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name </a:t>
            </a:r>
            <a:r>
              <a:rPr lang="en-US" altLang="zh-CN" sz="10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in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enumerate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00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action_names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)}</a:t>
            </a:r>
            <a:endParaRPr lang="en-US" altLang="zh-CN" sz="10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endParaRPr lang="en-US" altLang="zh-CN" sz="1000" dirty="0"/>
          </a:p>
          <a:p>
            <a:r>
              <a:rPr lang="en-US" altLang="zh-CN" sz="1000" dirty="0" err="1">
                <a:solidFill>
                  <a:srgbClr val="428226"/>
                </a:solidFill>
                <a:latin typeface="Menlo" panose="020B0609030804020204" pitchFamily="49" charset="0"/>
              </a:rPr>
              <a:t>act_processed_policy</a:t>
            </a:r>
            <a:r>
              <a:rPr lang="en-US" altLang="zh-CN" sz="1000" dirty="0"/>
              <a:t>= {</a:t>
            </a:r>
          </a:p>
          <a:p>
            <a:r>
              <a:rPr lang="en-US" altLang="zh-CN" sz="1000" dirty="0"/>
              <a:t>"</a:t>
            </a:r>
            <a:r>
              <a:rPr lang="en-US" altLang="zh-CN" sz="1000" dirty="0" err="1"/>
              <a:t>shoulder_pan.pos</a:t>
            </a:r>
            <a:r>
              <a:rPr lang="en-US" altLang="zh-CN" sz="1000" dirty="0"/>
              <a:t>": 15.5, # </a:t>
            </a:r>
            <a:r>
              <a:rPr lang="zh-CN" altLang="en-US" sz="1000" dirty="0"/>
              <a:t>目标角度 </a:t>
            </a:r>
            <a:r>
              <a:rPr lang="en-US" altLang="zh-CN" sz="1000" dirty="0"/>
              <a:t>(degrees)</a:t>
            </a:r>
          </a:p>
          <a:p>
            <a:r>
              <a:rPr lang="en-US" altLang="zh-CN" sz="1000" dirty="0"/>
              <a:t>"</a:t>
            </a:r>
            <a:r>
              <a:rPr lang="en-US" altLang="zh-CN" sz="1000" dirty="0" err="1"/>
              <a:t>shoulder_lift.pos</a:t>
            </a:r>
            <a:r>
              <a:rPr lang="en-US" altLang="zh-CN" sz="1000" dirty="0"/>
              <a:t>": -30.2,</a:t>
            </a:r>
          </a:p>
          <a:p>
            <a:r>
              <a:rPr lang="en-US" altLang="zh-CN" sz="1000" dirty="0"/>
              <a:t>"</a:t>
            </a:r>
            <a:r>
              <a:rPr lang="en-US" altLang="zh-CN" sz="1000" dirty="0" err="1"/>
              <a:t>elbow_flex.pos</a:t>
            </a:r>
            <a:r>
              <a:rPr lang="en-US" altLang="zh-CN" sz="1000" dirty="0"/>
              <a:t>": 45.0,</a:t>
            </a:r>
          </a:p>
          <a:p>
            <a:r>
              <a:rPr lang="en-US" altLang="zh-CN" sz="1000" dirty="0"/>
              <a:t>"</a:t>
            </a:r>
            <a:r>
              <a:rPr lang="en-US" altLang="zh-CN" sz="1000" dirty="0" err="1"/>
              <a:t>wrist_flex.pos</a:t>
            </a:r>
            <a:r>
              <a:rPr lang="en-US" altLang="zh-CN" sz="1000" dirty="0"/>
              <a:t>": -20.0,</a:t>
            </a:r>
          </a:p>
          <a:p>
            <a:r>
              <a:rPr lang="en-US" altLang="zh-CN" sz="1000" dirty="0"/>
              <a:t>"</a:t>
            </a:r>
            <a:r>
              <a:rPr lang="en-US" altLang="zh-CN" sz="1000" dirty="0" err="1"/>
              <a:t>wrist_roll.pos</a:t>
            </a:r>
            <a:r>
              <a:rPr lang="en-US" altLang="zh-CN" sz="1000" dirty="0"/>
              <a:t>": 10.0,</a:t>
            </a:r>
          </a:p>
          <a:p>
            <a:r>
              <a:rPr lang="en-US" altLang="zh-CN" sz="1000" dirty="0"/>
              <a:t>"</a:t>
            </a:r>
            <a:r>
              <a:rPr lang="en-US" altLang="zh-CN" sz="1000" dirty="0" err="1"/>
              <a:t>gripper.pos</a:t>
            </a:r>
            <a:r>
              <a:rPr lang="en-US" altLang="zh-CN" sz="1000" dirty="0"/>
              <a:t>": 80.0, # </a:t>
            </a:r>
            <a:r>
              <a:rPr lang="zh-CN" altLang="en-US" sz="1000" dirty="0"/>
              <a:t>夹爪目标位置</a:t>
            </a:r>
          </a:p>
          <a:p>
            <a:r>
              <a:rPr lang="en-US" altLang="zh-CN" sz="1000" dirty="0"/>
              <a:t>}</a:t>
            </a:r>
            <a:endParaRPr lang="zh-CN" altLang="en-US" sz="1000" dirty="0"/>
          </a:p>
          <a:p>
            <a:endParaRPr lang="zh-CN" altLang="en-US" sz="1000" dirty="0"/>
          </a:p>
          <a:p>
            <a:endParaRPr kumimoji="1" lang="zh-CN" altLang="en-US" sz="1000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CF978888-8D29-DADC-9333-5095321D8779}"/>
              </a:ext>
            </a:extLst>
          </p:cNvPr>
          <p:cNvSpPr txBox="1"/>
          <p:nvPr/>
        </p:nvSpPr>
        <p:spPr>
          <a:xfrm>
            <a:off x="8717279" y="1521786"/>
            <a:ext cx="28651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 err="1"/>
              <a:t>robot_action_to_send</a:t>
            </a:r>
            <a:r>
              <a:rPr lang="en-US" altLang="zh-CN" sz="1000" dirty="0"/>
              <a:t>: </a:t>
            </a:r>
            <a:r>
              <a:rPr lang="en-US" altLang="zh-CN" sz="1000" dirty="0" err="1"/>
              <a:t>RobotAction</a:t>
            </a:r>
            <a:r>
              <a:rPr lang="en-US" altLang="zh-CN" sz="1000" dirty="0"/>
              <a:t> = </a:t>
            </a:r>
            <a:r>
              <a:rPr lang="en-US" altLang="zh-CN" sz="1000" dirty="0" err="1"/>
              <a:t>robot_action_processor</a:t>
            </a:r>
            <a:r>
              <a:rPr lang="en-US" altLang="zh-CN" sz="1000" dirty="0"/>
              <a:t>((</a:t>
            </a:r>
            <a:r>
              <a:rPr lang="en-US" altLang="zh-CN" sz="1000" dirty="0" err="1"/>
              <a:t>act_processed_policy</a:t>
            </a:r>
            <a:r>
              <a:rPr lang="en-US" altLang="zh-CN" sz="1000" dirty="0"/>
              <a:t>, </a:t>
            </a:r>
            <a:r>
              <a:rPr lang="en-US" altLang="zh-CN" sz="1000" dirty="0" err="1"/>
              <a:t>obs</a:t>
            </a:r>
            <a:r>
              <a:rPr lang="en-US" altLang="zh-CN" sz="1000" dirty="0"/>
              <a:t>))</a:t>
            </a:r>
          </a:p>
          <a:p>
            <a:endParaRPr lang="en-US" altLang="zh-CN" sz="1000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C67AABCE-0A6C-1DB0-2471-4C5161696A89}"/>
              </a:ext>
            </a:extLst>
          </p:cNvPr>
          <p:cNvSpPr txBox="1"/>
          <p:nvPr/>
        </p:nvSpPr>
        <p:spPr>
          <a:xfrm>
            <a:off x="604335" y="4432059"/>
            <a:ext cx="7720331" cy="9762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  <a:buNone/>
            </a:pPr>
            <a:r>
              <a:rPr lang="en-US" altLang="zh-CN" sz="10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observation_frame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{</a:t>
            </a:r>
          </a:p>
          <a:p>
            <a:pPr>
              <a:lnSpc>
                <a:spcPts val="1350"/>
              </a:lnSpc>
              <a:buNone/>
            </a:pP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-US" altLang="zh-CN" sz="10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observation.state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: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np.</a:t>
            </a:r>
            <a:r>
              <a:rPr lang="en-US" altLang="zh-CN" sz="1000" b="0" dirty="0" err="1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array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([</a:t>
            </a:r>
            <a:r>
              <a:rPr lang="en-US" altLang="zh-CN" sz="10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15.5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0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US" altLang="zh-CN" sz="10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30.2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0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45.0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0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US" altLang="zh-CN" sz="10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20.0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0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10.0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0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80.0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],</a:t>
            </a:r>
            <a:r>
              <a:rPr lang="en-US" altLang="zh-CN" sz="10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dtype</a:t>
            </a:r>
            <a:r>
              <a:rPr lang="en-US" altLang="zh-CN" sz="100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altLang="zh-CN" sz="10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np.float32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),</a:t>
            </a:r>
            <a:endParaRPr lang="en-US" altLang="zh-CN" sz="10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-US" altLang="zh-CN" sz="10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observation.images.handeye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: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np.</a:t>
            </a:r>
            <a:r>
              <a:rPr lang="en-US" altLang="zh-CN" sz="1000" b="0" dirty="0" err="1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ndarray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0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shape</a:t>
            </a:r>
            <a:r>
              <a:rPr lang="en-US" altLang="zh-CN" sz="100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0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360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0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640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0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3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),</a:t>
            </a:r>
            <a:r>
              <a:rPr lang="en-US" altLang="zh-CN" sz="10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dtype</a:t>
            </a:r>
            <a:r>
              <a:rPr lang="en-US" altLang="zh-CN" sz="100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altLang="zh-CN" sz="10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uint8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),</a:t>
            </a:r>
            <a:endParaRPr lang="en-US" altLang="zh-CN" sz="10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-US" altLang="zh-CN" sz="10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observation.images.fixed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: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np.</a:t>
            </a:r>
            <a:r>
              <a:rPr lang="en-US" altLang="zh-CN" sz="1000" b="0" dirty="0" err="1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ndarray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0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shape</a:t>
            </a:r>
            <a:r>
              <a:rPr lang="en-US" altLang="zh-CN" sz="100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0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360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0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640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0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3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),</a:t>
            </a:r>
            <a:r>
              <a:rPr lang="en-US" altLang="zh-CN" sz="10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dtype</a:t>
            </a:r>
            <a:r>
              <a:rPr lang="en-US" altLang="zh-CN" sz="100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altLang="zh-CN" sz="10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uint8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),</a:t>
            </a:r>
            <a:endParaRPr lang="en-US" altLang="zh-CN" sz="10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}</a:t>
            </a:r>
            <a:endParaRPr lang="en-US" altLang="zh-CN" sz="10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31F7B49F-A5A5-7418-B5D2-05FE5DA0E0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8231948" y="2623781"/>
            <a:ext cx="4345696" cy="3259272"/>
          </a:xfrm>
          <a:prstGeom prst="rect">
            <a:avLst/>
          </a:prstGeom>
        </p:spPr>
      </p:pic>
      <p:sp>
        <p:nvSpPr>
          <p:cNvPr id="10" name="椭圆 9">
            <a:extLst>
              <a:ext uri="{FF2B5EF4-FFF2-40B4-BE49-F238E27FC236}">
                <a16:creationId xmlns:a16="http://schemas.microsoft.com/office/drawing/2014/main" id="{174E9D41-4E78-5FDA-DDE2-0C07CB7C1B47}"/>
              </a:ext>
            </a:extLst>
          </p:cNvPr>
          <p:cNvSpPr/>
          <p:nvPr/>
        </p:nvSpPr>
        <p:spPr>
          <a:xfrm>
            <a:off x="9767454" y="6004243"/>
            <a:ext cx="277091" cy="2770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1</a:t>
            </a: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44229077-2153-3438-C251-32B4C4009DF6}"/>
              </a:ext>
            </a:extLst>
          </p:cNvPr>
          <p:cNvSpPr/>
          <p:nvPr/>
        </p:nvSpPr>
        <p:spPr>
          <a:xfrm>
            <a:off x="10404796" y="5229710"/>
            <a:ext cx="277091" cy="2770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2</a:t>
            </a:r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2541C376-260C-522A-DCCC-2705EC6B74C2}"/>
              </a:ext>
            </a:extLst>
          </p:cNvPr>
          <p:cNvSpPr/>
          <p:nvPr/>
        </p:nvSpPr>
        <p:spPr>
          <a:xfrm>
            <a:off x="8803036" y="4718003"/>
            <a:ext cx="277091" cy="2770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3</a:t>
            </a:r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BDCD0373-6B8D-4CD7-93C1-84B7C0AFEC56}"/>
              </a:ext>
            </a:extLst>
          </p:cNvPr>
          <p:cNvSpPr/>
          <p:nvPr/>
        </p:nvSpPr>
        <p:spPr>
          <a:xfrm>
            <a:off x="9359783" y="3452599"/>
            <a:ext cx="277091" cy="2770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4</a:t>
            </a: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64B703A1-0776-8907-D05D-B14B73426F19}"/>
              </a:ext>
            </a:extLst>
          </p:cNvPr>
          <p:cNvSpPr/>
          <p:nvPr/>
        </p:nvSpPr>
        <p:spPr>
          <a:xfrm>
            <a:off x="10127705" y="3912332"/>
            <a:ext cx="277091" cy="2770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5</a:t>
            </a:r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D62B5A04-B0DA-6F78-6C06-3CBD4E2B9592}"/>
              </a:ext>
            </a:extLst>
          </p:cNvPr>
          <p:cNvSpPr/>
          <p:nvPr/>
        </p:nvSpPr>
        <p:spPr>
          <a:xfrm>
            <a:off x="10859168" y="4154968"/>
            <a:ext cx="277091" cy="2770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6</a:t>
            </a: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B78BEFCB-42A2-B9C8-8D63-9599ABCC379C}"/>
              </a:ext>
            </a:extLst>
          </p:cNvPr>
          <p:cNvSpPr/>
          <p:nvPr/>
        </p:nvSpPr>
        <p:spPr>
          <a:xfrm>
            <a:off x="9717301" y="2915228"/>
            <a:ext cx="277091" cy="277091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1</a:t>
            </a:r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B0435F23-C785-4356-1D3D-AE4BB1E35E18}"/>
              </a:ext>
            </a:extLst>
          </p:cNvPr>
          <p:cNvSpPr/>
          <p:nvPr/>
        </p:nvSpPr>
        <p:spPr>
          <a:xfrm>
            <a:off x="10850578" y="2229672"/>
            <a:ext cx="277091" cy="277091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70043850"/>
      </p:ext>
    </p:extLst>
  </p:cSld>
  <p:clrMapOvr>
    <a:masterClrMapping/>
  </p:clrMapOvr>
  <p:transition spd="med">
    <p:pull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F1D5B-5F24-474D-14F7-7B8FE84D4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2FCAE66E-491E-92F8-8FC6-ED659E5F95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6550" y="344317"/>
            <a:ext cx="8643848" cy="480131"/>
          </a:xfrm>
        </p:spPr>
        <p:txBody>
          <a:bodyPr/>
          <a:lstStyle/>
          <a:p>
            <a:r>
              <a:rPr lang="zh-CN" altLang="en-US" dirty="0"/>
              <a:t>舵机执行逻辑</a:t>
            </a:r>
            <a:endParaRPr lang="en-US" altLang="zh-CN" dirty="0"/>
          </a:p>
        </p:txBody>
      </p:sp>
      <p:sp>
        <p:nvSpPr>
          <p:cNvPr id="101" name="box_101"/>
          <p:cNvSpPr>
            <a:spLocks noGrp="1"/>
          </p:cNvSpPr>
          <p:nvPr/>
        </p:nvSpPr>
        <p:spPr>
          <a:xfrm>
            <a:off x="680358" y="1159060"/>
            <a:ext cx="4368160" cy="533400"/>
          </a:xfrm>
          <a:prstGeom prst="roundRect">
            <a:avLst>
              <a:gd name="adj" fmla="val 12000"/>
            </a:avLst>
          </a:prstGeom>
          <a:solidFill>
            <a:srgbClr val="006C39"/>
          </a:solidFill>
          <a:ln w="12700">
            <a:solidFill>
              <a:srgbClr val="FFFFFF"/>
            </a:solidFill>
          </a:ln>
        </p:spPr>
        <p:txBody>
          <a:bodyPr vert="horz" wrap="square" lIns="152400" tIns="45720" rIns="91440" bIns="45720" anchor="ctr" anchorCtr="1"/>
          <a:lstStyle/>
          <a:p>
            <a:pPr algn="l"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Consolas"/>
              </a:rPr>
              <a:t>record.py    </a:t>
            </a:r>
            <a:endParaRPr lang="en-US" altLang="zh-CN" sz="1400" b="1" dirty="0">
              <a:solidFill>
                <a:srgbClr val="FFFFFF"/>
              </a:solidFill>
              <a:latin typeface="Consolas"/>
            </a:endParaRPr>
          </a:p>
          <a:p>
            <a:pPr algn="l">
              <a:buNone/>
            </a:pPr>
            <a:r>
              <a:rPr lang="zh-CN" altLang="en-US" sz="1050" b="0" dirty="0">
                <a:solidFill>
                  <a:srgbClr val="CCEECC"/>
                </a:solidFill>
              </a:rPr>
              <a:t>推理逻辑：观测推理执行的循环 record_loop()</a:t>
            </a:r>
          </a:p>
        </p:txBody>
      </p:sp>
      <p:sp>
        <p:nvSpPr>
          <p:cNvPr id="200" name="arrow_200"/>
          <p:cNvSpPr txBox="1"/>
          <p:nvPr/>
        </p:nvSpPr>
        <p:spPr>
          <a:xfrm>
            <a:off x="680358" y="1692460"/>
            <a:ext cx="4368160" cy="25400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indent="152400" algn="l">
              <a:buNone/>
            </a:pPr>
            <a:r>
              <a:rPr lang="zh-CN" altLang="en-US" sz="1050" b="0" dirty="0">
                <a:solidFill>
                  <a:srgbClr val="555555"/>
                </a:solidFill>
                <a:latin typeface="Consolas"/>
              </a:rPr>
              <a:t>↓</a:t>
            </a:r>
          </a:p>
        </p:txBody>
      </p:sp>
      <p:sp>
        <p:nvSpPr>
          <p:cNvPr id="102" name="box_102"/>
          <p:cNvSpPr>
            <a:spLocks noGrp="1"/>
          </p:cNvSpPr>
          <p:nvPr/>
        </p:nvSpPr>
        <p:spPr>
          <a:xfrm>
            <a:off x="680358" y="1946460"/>
            <a:ext cx="4368160" cy="533400"/>
          </a:xfrm>
          <a:prstGeom prst="roundRect">
            <a:avLst>
              <a:gd name="adj" fmla="val 12000"/>
            </a:avLst>
          </a:prstGeom>
          <a:solidFill>
            <a:srgbClr val="006C39"/>
          </a:solidFill>
          <a:ln w="12700">
            <a:solidFill>
              <a:srgbClr val="FFFFFF"/>
            </a:solidFill>
          </a:ln>
        </p:spPr>
        <p:txBody>
          <a:bodyPr vert="horz" wrap="square" lIns="152400" tIns="45720" rIns="91440" bIns="45720" anchor="ctr" anchorCtr="1"/>
          <a:lstStyle/>
          <a:p>
            <a:pPr algn="l"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Consolas"/>
              </a:rPr>
              <a:t>so101_follower.py    </a:t>
            </a:r>
            <a:endParaRPr lang="en-US" altLang="zh-CN" sz="1400" b="1" dirty="0">
              <a:solidFill>
                <a:srgbClr val="FFFFFF"/>
              </a:solidFill>
              <a:latin typeface="Consolas"/>
            </a:endParaRPr>
          </a:p>
          <a:p>
            <a:pPr algn="l">
              <a:buNone/>
            </a:pPr>
            <a:r>
              <a:rPr lang="zh-CN" altLang="en-US" sz="1050" b="0" dirty="0">
                <a:solidFill>
                  <a:srgbClr val="CCEECC"/>
                </a:solidFill>
              </a:rPr>
              <a:t>机器人层：机器人业务逻辑（观测/</a:t>
            </a:r>
            <a:r>
              <a:rPr lang="zh-CN" altLang="en-US" sz="1050" dirty="0">
                <a:solidFill>
                  <a:srgbClr val="CCEECC"/>
                </a:solidFill>
              </a:rPr>
              <a:t>执行</a:t>
            </a:r>
            <a:r>
              <a:rPr lang="zh-CN" altLang="en-US" sz="1050" b="0" dirty="0">
                <a:solidFill>
                  <a:srgbClr val="CCEECC"/>
                </a:solidFill>
              </a:rPr>
              <a:t>）</a:t>
            </a:r>
          </a:p>
        </p:txBody>
      </p:sp>
      <p:sp>
        <p:nvSpPr>
          <p:cNvPr id="201" name="arrow_201"/>
          <p:cNvSpPr txBox="1"/>
          <p:nvPr/>
        </p:nvSpPr>
        <p:spPr>
          <a:xfrm>
            <a:off x="680358" y="2479860"/>
            <a:ext cx="4368160" cy="25400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indent="152400" algn="l">
              <a:buNone/>
            </a:pPr>
            <a:r>
              <a:rPr lang="zh-CN" altLang="en-US" sz="1050" b="0" dirty="0">
                <a:solidFill>
                  <a:srgbClr val="555555"/>
                </a:solidFill>
                <a:latin typeface="Consolas"/>
              </a:rPr>
              <a:t>↓  </a:t>
            </a:r>
            <a:r>
              <a:rPr lang="zh-CN" altLang="en-US" sz="1600" b="0" dirty="0">
                <a:solidFill>
                  <a:srgbClr val="555555"/>
                </a:solidFill>
                <a:latin typeface="Consolas"/>
              </a:rPr>
              <a:t>self.bus</a:t>
            </a:r>
            <a:endParaRPr lang="zh-CN" altLang="en-US" sz="1050" b="0" dirty="0">
              <a:solidFill>
                <a:srgbClr val="555555"/>
              </a:solidFill>
              <a:latin typeface="Consolas"/>
            </a:endParaRPr>
          </a:p>
        </p:txBody>
      </p:sp>
      <p:sp>
        <p:nvSpPr>
          <p:cNvPr id="103" name="box_103"/>
          <p:cNvSpPr>
            <a:spLocks noGrp="1"/>
          </p:cNvSpPr>
          <p:nvPr/>
        </p:nvSpPr>
        <p:spPr>
          <a:xfrm>
            <a:off x="680358" y="2733860"/>
            <a:ext cx="4368160" cy="533400"/>
          </a:xfrm>
          <a:prstGeom prst="roundRect">
            <a:avLst>
              <a:gd name="adj" fmla="val 12000"/>
            </a:avLst>
          </a:prstGeom>
          <a:solidFill>
            <a:srgbClr val="007A42"/>
          </a:solidFill>
          <a:ln w="12700">
            <a:solidFill>
              <a:srgbClr val="FFFFFF"/>
            </a:solidFill>
          </a:ln>
        </p:spPr>
        <p:txBody>
          <a:bodyPr vert="horz" wrap="square" lIns="152400" tIns="45720" rIns="91440" bIns="45720" anchor="ctr" anchorCtr="1"/>
          <a:lstStyle/>
          <a:p>
            <a:pPr algn="l"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Consolas"/>
              </a:rPr>
              <a:t>motors_bus.py    </a:t>
            </a:r>
            <a:endParaRPr lang="en-US" altLang="zh-CN" sz="1400" b="1" dirty="0">
              <a:solidFill>
                <a:srgbClr val="FFFFFF"/>
              </a:solidFill>
              <a:latin typeface="Consolas"/>
            </a:endParaRPr>
          </a:p>
          <a:p>
            <a:pPr algn="l">
              <a:buNone/>
            </a:pPr>
            <a:r>
              <a:rPr lang="zh-CN" altLang="en-US" sz="1050" b="0" dirty="0">
                <a:solidFill>
                  <a:srgbClr val="CCEECC"/>
                </a:solidFill>
              </a:rPr>
              <a:t>舵机总线层：协议无关的抽象（下面支持不同的硬件）</a:t>
            </a:r>
          </a:p>
        </p:txBody>
      </p:sp>
      <p:sp>
        <p:nvSpPr>
          <p:cNvPr id="202" name="arrow_202"/>
          <p:cNvSpPr txBox="1"/>
          <p:nvPr/>
        </p:nvSpPr>
        <p:spPr>
          <a:xfrm>
            <a:off x="680358" y="3267260"/>
            <a:ext cx="4368160" cy="25400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indent="152400" algn="l">
              <a:buNone/>
            </a:pPr>
            <a:r>
              <a:rPr lang="zh-CN" altLang="en-US" sz="1050" b="0" dirty="0">
                <a:solidFill>
                  <a:srgbClr val="555555"/>
                </a:solidFill>
                <a:latin typeface="Consolas"/>
              </a:rPr>
              <a:t>↓  继承</a:t>
            </a:r>
          </a:p>
        </p:txBody>
      </p:sp>
      <p:sp>
        <p:nvSpPr>
          <p:cNvPr id="104" name="box_104"/>
          <p:cNvSpPr>
            <a:spLocks noGrp="1"/>
          </p:cNvSpPr>
          <p:nvPr/>
        </p:nvSpPr>
        <p:spPr>
          <a:xfrm>
            <a:off x="680358" y="3521260"/>
            <a:ext cx="4368160" cy="533400"/>
          </a:xfrm>
          <a:prstGeom prst="roundRect">
            <a:avLst>
              <a:gd name="adj" fmla="val 12000"/>
            </a:avLst>
          </a:prstGeom>
          <a:solidFill>
            <a:srgbClr val="007A42"/>
          </a:solidFill>
          <a:ln w="12700">
            <a:solidFill>
              <a:srgbClr val="FFFFFF"/>
            </a:solidFill>
          </a:ln>
        </p:spPr>
        <p:txBody>
          <a:bodyPr vert="horz" wrap="square" lIns="152400" tIns="45720" rIns="91440" bIns="45720" anchor="ctr" anchorCtr="1"/>
          <a:lstStyle/>
          <a:p>
            <a:pPr algn="l"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Consolas"/>
              </a:rPr>
              <a:t>feetech/feetech.py    </a:t>
            </a:r>
            <a:endParaRPr lang="en-US" altLang="zh-CN" sz="1400" b="1" dirty="0">
              <a:solidFill>
                <a:srgbClr val="FFFFFF"/>
              </a:solidFill>
              <a:latin typeface="Consolas"/>
            </a:endParaRPr>
          </a:p>
          <a:p>
            <a:r>
              <a:rPr lang="zh-CN" altLang="en-US" sz="1050" b="0" dirty="0">
                <a:solidFill>
                  <a:srgbClr val="CCEECC"/>
                </a:solidFill>
              </a:rPr>
              <a:t>硬件实现层：把上层通用的电机操作，变成 </a:t>
            </a:r>
            <a:r>
              <a:rPr lang="en-US" altLang="zh-CN" sz="1050" b="0" dirty="0" err="1">
                <a:solidFill>
                  <a:srgbClr val="CCEECC"/>
                </a:solidFill>
              </a:rPr>
              <a:t>Feetech</a:t>
            </a:r>
            <a:r>
              <a:rPr lang="en-US" altLang="zh-CN" sz="1050" b="0" dirty="0">
                <a:solidFill>
                  <a:srgbClr val="CCEECC"/>
                </a:solidFill>
              </a:rPr>
              <a:t> </a:t>
            </a:r>
            <a:r>
              <a:rPr lang="zh-CN" altLang="en-US" sz="1050" b="0" dirty="0">
                <a:solidFill>
                  <a:srgbClr val="CCEECC"/>
                </a:solidFill>
              </a:rPr>
              <a:t>舵机特有的寄存器地址、编码格式和协议调用。</a:t>
            </a:r>
          </a:p>
        </p:txBody>
      </p:sp>
      <p:sp>
        <p:nvSpPr>
          <p:cNvPr id="203" name="arrow_203"/>
          <p:cNvSpPr txBox="1"/>
          <p:nvPr/>
        </p:nvSpPr>
        <p:spPr>
          <a:xfrm>
            <a:off x="680358" y="4054660"/>
            <a:ext cx="4368160" cy="25400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indent="152400" algn="l">
              <a:buNone/>
            </a:pPr>
            <a:r>
              <a:rPr lang="zh-CN" altLang="en-US" sz="1050" b="0" dirty="0">
                <a:solidFill>
                  <a:srgbClr val="555555"/>
                </a:solidFill>
                <a:latin typeface="Consolas"/>
              </a:rPr>
              <a:t>↓  import scservo_sdk as scs</a:t>
            </a:r>
          </a:p>
        </p:txBody>
      </p:sp>
      <p:sp>
        <p:nvSpPr>
          <p:cNvPr id="105" name="box_105"/>
          <p:cNvSpPr>
            <a:spLocks noGrp="1"/>
          </p:cNvSpPr>
          <p:nvPr/>
        </p:nvSpPr>
        <p:spPr>
          <a:xfrm>
            <a:off x="680358" y="4308660"/>
            <a:ext cx="4368160" cy="533400"/>
          </a:xfrm>
          <a:prstGeom prst="roundRect">
            <a:avLst>
              <a:gd name="adj" fmla="val 12000"/>
            </a:avLst>
          </a:prstGeom>
          <a:solidFill>
            <a:srgbClr val="007A42"/>
          </a:solidFill>
          <a:ln w="12700">
            <a:solidFill>
              <a:srgbClr val="FFFFFF"/>
            </a:solidFill>
          </a:ln>
        </p:spPr>
        <p:txBody>
          <a:bodyPr vert="horz" wrap="square" lIns="152400" tIns="45720" rIns="91440" bIns="45720" anchor="ctr" anchorCtr="1"/>
          <a:lstStyle/>
          <a:p>
            <a:pPr algn="l"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Consolas"/>
              </a:rPr>
              <a:t>scservo_sdk    </a:t>
            </a:r>
            <a:endParaRPr lang="en-US" altLang="zh-CN" sz="1400" b="1" dirty="0">
              <a:solidFill>
                <a:srgbClr val="FFFFFF"/>
              </a:solidFill>
              <a:latin typeface="Consolas"/>
            </a:endParaRPr>
          </a:p>
          <a:p>
            <a:pPr algn="l">
              <a:buNone/>
            </a:pPr>
            <a:r>
              <a:rPr lang="zh-CN" altLang="en-US" sz="1050" b="0" dirty="0">
                <a:solidFill>
                  <a:srgbClr val="CCEECC"/>
                </a:solidFill>
              </a:rPr>
              <a:t>SDK层：组包/拆包、串口收发（GroupSyncRead/GroupSyncWrite）</a:t>
            </a:r>
          </a:p>
        </p:txBody>
      </p:sp>
      <p:sp>
        <p:nvSpPr>
          <p:cNvPr id="204" name="arrow_204"/>
          <p:cNvSpPr txBox="1"/>
          <p:nvPr/>
        </p:nvSpPr>
        <p:spPr>
          <a:xfrm>
            <a:off x="680358" y="4842060"/>
            <a:ext cx="4368160" cy="25400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indent="152400" algn="l">
              <a:buNone/>
            </a:pPr>
            <a:r>
              <a:rPr lang="zh-CN" altLang="en-US" sz="1050" b="0" dirty="0">
                <a:solidFill>
                  <a:srgbClr val="555555"/>
                </a:solidFill>
                <a:latin typeface="Consolas"/>
              </a:rPr>
              <a:t>↓  /dev/ttyACM0</a:t>
            </a:r>
          </a:p>
        </p:txBody>
      </p:sp>
      <p:sp>
        <p:nvSpPr>
          <p:cNvPr id="106" name="box_106"/>
          <p:cNvSpPr>
            <a:spLocks noGrp="1"/>
          </p:cNvSpPr>
          <p:nvPr/>
        </p:nvSpPr>
        <p:spPr>
          <a:xfrm>
            <a:off x="680358" y="5096060"/>
            <a:ext cx="4368160" cy="533400"/>
          </a:xfrm>
          <a:prstGeom prst="roundRect">
            <a:avLst>
              <a:gd name="adj" fmla="val 12000"/>
            </a:avLst>
          </a:prstGeom>
          <a:solidFill>
            <a:srgbClr val="A13F0B"/>
          </a:solidFill>
          <a:ln w="12700">
            <a:solidFill>
              <a:srgbClr val="FFFFFF"/>
            </a:solidFill>
          </a:ln>
        </p:spPr>
        <p:txBody>
          <a:bodyPr vert="horz" wrap="square" lIns="152400" tIns="45720" rIns="91440" bIns="45720" anchor="ctr" anchorCtr="1"/>
          <a:lstStyle/>
          <a:p>
            <a:pPr algn="l"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Consolas"/>
              </a:rPr>
              <a:t>STS-3215 × 6    </a:t>
            </a:r>
            <a:endParaRPr lang="en-US" altLang="zh-CN" sz="1400" b="1" dirty="0">
              <a:solidFill>
                <a:srgbClr val="FFFFFF"/>
              </a:solidFill>
              <a:latin typeface="Consolas"/>
            </a:endParaRPr>
          </a:p>
          <a:p>
            <a:pPr algn="l">
              <a:buNone/>
            </a:pPr>
            <a:r>
              <a:rPr lang="zh-CN" altLang="en-US" sz="1050" b="0" dirty="0">
                <a:solidFill>
                  <a:srgbClr val="CCEECC"/>
                </a:solidFill>
              </a:rPr>
              <a:t>物理层 · /dev/ttyACM0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0E88FC7-C3DF-D336-FCE2-85243328CCAD}"/>
              </a:ext>
            </a:extLst>
          </p:cNvPr>
          <p:cNvSpPr txBox="1"/>
          <p:nvPr/>
        </p:nvSpPr>
        <p:spPr>
          <a:xfrm>
            <a:off x="5074261" y="1099079"/>
            <a:ext cx="7472967" cy="271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</a:pPr>
            <a:r>
              <a:rPr lang="en-US" altLang="zh-CN" sz="14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obs</a:t>
            </a:r>
            <a:r>
              <a:rPr lang="en-US" altLang="zh-CN" sz="14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:</a:t>
            </a:r>
            <a:r>
              <a:rPr lang="en-US" altLang="zh-CN" sz="14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400" b="0" dirty="0" err="1">
                <a:solidFill>
                  <a:srgbClr val="428226"/>
                </a:solidFill>
                <a:effectLst/>
                <a:highlight>
                  <a:srgbClr val="C0C0C0"/>
                </a:highlight>
                <a:latin typeface="Menlo" panose="020B0609030804020204" pitchFamily="49" charset="0"/>
              </a:rPr>
              <a:t>RobotObservation</a:t>
            </a:r>
            <a:r>
              <a:rPr lang="en-US" altLang="zh-CN" sz="14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40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altLang="zh-CN" sz="14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4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robot.</a:t>
            </a:r>
            <a:r>
              <a:rPr lang="en-US" altLang="zh-CN" sz="1400" b="0" dirty="0" err="1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get_observation</a:t>
            </a:r>
            <a:r>
              <a:rPr lang="en-US" altLang="zh-CN" sz="14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()</a:t>
            </a:r>
            <a:r>
              <a:rPr lang="en-US" altLang="zh-CN" sz="1400" dirty="0">
                <a:solidFill>
                  <a:srgbClr val="969696"/>
                </a:solidFill>
                <a:latin typeface="Menlo" panose="020B0609030804020204" pitchFamily="49" charset="0"/>
              </a:rPr>
              <a:t> </a:t>
            </a:r>
            <a:r>
              <a:rPr lang="en-US" altLang="zh-CN" sz="1400" dirty="0" err="1">
                <a:solidFill>
                  <a:srgbClr val="969696"/>
                </a:solidFill>
                <a:latin typeface="Menlo" panose="020B0609030804020204" pitchFamily="49" charset="0"/>
              </a:rPr>
              <a:t>dict</a:t>
            </a:r>
            <a:r>
              <a:rPr lang="en-US" altLang="zh-CN" sz="1400" dirty="0">
                <a:solidFill>
                  <a:srgbClr val="969696"/>
                </a:solidFill>
                <a:latin typeface="Menlo" panose="020B0609030804020204" pitchFamily="49" charset="0"/>
              </a:rPr>
              <a:t>[str, Any]</a:t>
            </a:r>
            <a:endParaRPr lang="en-US" altLang="zh-CN" sz="1400" dirty="0">
              <a:solidFill>
                <a:srgbClr val="428226"/>
              </a:solidFill>
              <a:latin typeface="Menlo" panose="020B0609030804020204" pitchFamily="49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EFF0EBE-DA6F-A6CD-9D31-8B36DEFCE4F9}"/>
              </a:ext>
            </a:extLst>
          </p:cNvPr>
          <p:cNvSpPr txBox="1"/>
          <p:nvPr/>
        </p:nvSpPr>
        <p:spPr>
          <a:xfrm>
            <a:off x="5074261" y="1496265"/>
            <a:ext cx="548863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zh-CN" sz="1400" dirty="0" err="1"/>
              <a:t>obs_dict</a:t>
            </a:r>
            <a:r>
              <a:rPr lang="en-US" altLang="zh-CN" sz="1400" dirty="0"/>
              <a:t> = </a:t>
            </a:r>
            <a:r>
              <a:rPr lang="en-US" altLang="zh-CN" sz="1400" dirty="0" err="1"/>
              <a:t>self.bus.sync_read</a:t>
            </a:r>
            <a:r>
              <a:rPr lang="en-US" altLang="zh-CN" sz="1400" dirty="0"/>
              <a:t>("</a:t>
            </a:r>
            <a:r>
              <a:rPr lang="en-US" altLang="zh-CN" sz="1400" dirty="0" err="1">
                <a:highlight>
                  <a:srgbClr val="FFFF00"/>
                </a:highlight>
              </a:rPr>
              <a:t>Present_Position</a:t>
            </a:r>
            <a:r>
              <a:rPr lang="en-US" altLang="zh-CN" sz="1400" dirty="0"/>
              <a:t>")</a:t>
            </a:r>
          </a:p>
          <a:p>
            <a:r>
              <a:rPr lang="en-US" altLang="zh-CN" sz="1400" dirty="0" err="1"/>
              <a:t>self.bus.sync_write</a:t>
            </a:r>
            <a:r>
              <a:rPr lang="en-US" altLang="zh-CN" sz="1400" dirty="0"/>
              <a:t>("</a:t>
            </a:r>
            <a:r>
              <a:rPr lang="en-US" altLang="zh-CN" sz="1400" dirty="0" err="1">
                <a:highlight>
                  <a:srgbClr val="FFFF00"/>
                </a:highlight>
              </a:rPr>
              <a:t>Goal_Position</a:t>
            </a:r>
            <a:r>
              <a:rPr lang="en-US" altLang="zh-CN" sz="1400" dirty="0"/>
              <a:t>", </a:t>
            </a:r>
            <a:r>
              <a:rPr lang="en-US" altLang="zh-CN" sz="1400" dirty="0" err="1"/>
              <a:t>goal_pos</a:t>
            </a:r>
            <a:r>
              <a:rPr lang="en-US" altLang="zh-CN" sz="1400" dirty="0"/>
              <a:t>)</a:t>
            </a:r>
          </a:p>
          <a:p>
            <a:pPr>
              <a:buNone/>
            </a:pPr>
            <a:r>
              <a:rPr lang="en-US" altLang="zh-CN" sz="1400" dirty="0" err="1"/>
              <a:t>Present_</a:t>
            </a:r>
            <a:r>
              <a:rPr lang="en-US" altLang="zh-CN" sz="1400" dirty="0" err="1">
                <a:highlight>
                  <a:srgbClr val="FFFF00"/>
                </a:highlight>
              </a:rPr>
              <a:t>Position</a:t>
            </a:r>
            <a:r>
              <a:rPr lang="zh-CN" altLang="en-US" sz="1400" dirty="0"/>
              <a:t>会在下面被解析成寄存器地址偏移量</a:t>
            </a:r>
            <a:r>
              <a:rPr lang="en-US" altLang="zh-CN" sz="1400" dirty="0" err="1"/>
              <a:t>addr</a:t>
            </a:r>
            <a:endParaRPr lang="en-US" altLang="zh-CN" sz="1400" dirty="0"/>
          </a:p>
          <a:p>
            <a:pPr>
              <a:buNone/>
            </a:pPr>
            <a:r>
              <a:rPr lang="en-US" altLang="zh-CN" sz="1400" dirty="0" err="1"/>
              <a:t>goal_pos</a:t>
            </a:r>
            <a:r>
              <a:rPr lang="zh-CN" altLang="en-US" sz="1400" dirty="0"/>
              <a:t>是要写入对</a:t>
            </a:r>
            <a:r>
              <a:rPr lang="en-US" altLang="zh-CN" sz="1400" dirty="0" err="1"/>
              <a:t>dict</a:t>
            </a:r>
            <a:r>
              <a:rPr lang="zh-CN" altLang="en-US" sz="1400" dirty="0"/>
              <a:t>进行一次去掉</a:t>
            </a:r>
            <a:r>
              <a:rPr lang="en-US" altLang="zh-CN" sz="1400" dirty="0"/>
              <a:t>”.pos”</a:t>
            </a:r>
            <a:r>
              <a:rPr lang="zh-CN" altLang="en-US" sz="1400" dirty="0"/>
              <a:t>字符的预处理</a:t>
            </a:r>
            <a:endParaRPr lang="en-US" altLang="zh-CN" sz="1400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3367D80-8B39-AE1E-6F92-C7C8B79D9124}"/>
              </a:ext>
            </a:extLst>
          </p:cNvPr>
          <p:cNvSpPr txBox="1"/>
          <p:nvPr/>
        </p:nvSpPr>
        <p:spPr>
          <a:xfrm>
            <a:off x="5048518" y="2479429"/>
            <a:ext cx="706739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zh-CN" sz="14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ids_values</a:t>
            </a:r>
            <a:r>
              <a:rPr lang="en-US" altLang="zh-CN" sz="14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4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_ </a:t>
            </a:r>
            <a:r>
              <a:rPr lang="en-US" altLang="zh-CN" sz="140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altLang="zh-CN" sz="14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4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self</a:t>
            </a:r>
            <a:r>
              <a:rPr lang="en-US" altLang="zh-CN" sz="14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US" altLang="zh-CN" sz="140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_</a:t>
            </a:r>
            <a:r>
              <a:rPr lang="en-US" altLang="zh-CN" sz="1400" b="0" dirty="0" err="1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sync_read</a:t>
            </a:r>
            <a:r>
              <a:rPr lang="en-US" altLang="zh-CN" sz="14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40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addr</a:t>
            </a:r>
            <a:r>
              <a:rPr lang="en-US" altLang="zh-CN" sz="14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4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length</a:t>
            </a:r>
            <a:r>
              <a:rPr lang="en-US" altLang="zh-CN" sz="14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4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</a:p>
          <a:p>
            <a:pPr>
              <a:buNone/>
            </a:pPr>
            <a:r>
              <a:rPr lang="en-US" altLang="zh-CN" sz="14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ids</a:t>
            </a:r>
            <a:r>
              <a:rPr lang="en-US" altLang="zh-CN" sz="14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4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40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num_retry</a:t>
            </a:r>
            <a:r>
              <a:rPr lang="en-US" altLang="zh-CN" sz="140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altLang="zh-CN" sz="140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num_retry</a:t>
            </a:r>
            <a:r>
              <a:rPr lang="en-US" altLang="zh-CN" sz="14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4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40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raise_on_error</a:t>
            </a:r>
            <a:r>
              <a:rPr lang="en-US" altLang="zh-CN" sz="140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altLang="zh-CN" sz="14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True</a:t>
            </a:r>
            <a:r>
              <a:rPr lang="en-US" altLang="zh-CN" sz="14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4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40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err_msg</a:t>
            </a:r>
            <a:r>
              <a:rPr lang="en-US" altLang="zh-CN" sz="140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altLang="zh-CN" sz="14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...</a:t>
            </a:r>
            <a:r>
              <a:rPr lang="en-US" altLang="zh-CN" sz="14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r>
              <a:rPr kumimoji="1" lang="en-US" altLang="zh-CN" sz="1400" dirty="0"/>
              <a:t>ids</a:t>
            </a:r>
            <a:r>
              <a:rPr kumimoji="1" lang="zh-CN" altLang="en-US" sz="1400" dirty="0"/>
              <a:t>是</a:t>
            </a:r>
            <a:r>
              <a:rPr kumimoji="1" lang="en-US" altLang="zh-CN" sz="1400" dirty="0"/>
              <a:t>123456</a:t>
            </a:r>
            <a:r>
              <a:rPr kumimoji="1" lang="zh-CN" altLang="en-US" sz="1400" dirty="0"/>
              <a:t>六个关节，</a:t>
            </a:r>
            <a:r>
              <a:rPr lang="en-US" altLang="zh-CN" sz="1400" dirty="0">
                <a:solidFill>
                  <a:srgbClr val="3778B7"/>
                </a:solidFill>
                <a:latin typeface="Menlo" panose="020B0609030804020204" pitchFamily="49" charset="0"/>
              </a:rPr>
              <a:t> </a:t>
            </a:r>
            <a:r>
              <a:rPr lang="en-US" altLang="zh-CN" sz="1400" dirty="0" err="1">
                <a:solidFill>
                  <a:srgbClr val="3778B7"/>
                </a:solidFill>
                <a:latin typeface="Menlo" panose="020B0609030804020204" pitchFamily="49" charset="0"/>
              </a:rPr>
              <a:t>addr</a:t>
            </a:r>
            <a:r>
              <a:rPr lang="zh-CN" altLang="en-US" sz="1400" dirty="0">
                <a:solidFill>
                  <a:srgbClr val="3778B7"/>
                </a:solidFill>
                <a:latin typeface="Menlo" panose="020B0609030804020204" pitchFamily="49" charset="0"/>
              </a:rPr>
              <a:t>是寄存器偏移地址，</a:t>
            </a:r>
            <a:r>
              <a:rPr lang="en-US" altLang="zh-CN" sz="1400" dirty="0" err="1">
                <a:solidFill>
                  <a:srgbClr val="3778B7"/>
                </a:solidFill>
                <a:latin typeface="Menlo" panose="020B0609030804020204" pitchFamily="49" charset="0"/>
              </a:rPr>
              <a:t>len</a:t>
            </a:r>
            <a:r>
              <a:rPr lang="zh-CN" altLang="en-US" sz="1400" dirty="0">
                <a:solidFill>
                  <a:srgbClr val="3778B7"/>
                </a:solidFill>
                <a:latin typeface="Menlo" panose="020B0609030804020204" pitchFamily="49" charset="0"/>
              </a:rPr>
              <a:t>字节数</a:t>
            </a:r>
            <a:endParaRPr kumimoji="1" lang="en-US" altLang="zh-CN" sz="1400" dirty="0"/>
          </a:p>
          <a:p>
            <a:r>
              <a:rPr lang="en-US" altLang="zh-CN" sz="1400" dirty="0" err="1"/>
              <a:t>Present_Position</a:t>
            </a:r>
            <a:r>
              <a:rPr lang="en-US" altLang="zh-CN" sz="1400" dirty="0"/>
              <a:t>: </a:t>
            </a:r>
            <a:r>
              <a:rPr lang="zh-CN" altLang="en-US" sz="1400" dirty="0"/>
              <a:t>地址</a:t>
            </a:r>
            <a:r>
              <a:rPr lang="en-US" altLang="zh-CN" sz="1400" dirty="0"/>
              <a:t>56, 2</a:t>
            </a:r>
            <a:r>
              <a:rPr lang="zh-CN" altLang="en-US" sz="1400" dirty="0"/>
              <a:t>字节 </a:t>
            </a:r>
            <a:r>
              <a:rPr lang="en-US" altLang="zh-CN" sz="1400" dirty="0"/>
              <a:t> </a:t>
            </a:r>
            <a:r>
              <a:rPr lang="en-US" altLang="zh-CN" sz="1400" dirty="0" err="1"/>
              <a:t>Goal_Position</a:t>
            </a:r>
            <a:r>
              <a:rPr lang="en-US" altLang="zh-CN" sz="1400" dirty="0"/>
              <a:t>: </a:t>
            </a:r>
            <a:r>
              <a:rPr lang="zh-CN" altLang="en-US" sz="1400" dirty="0"/>
              <a:t>地址</a:t>
            </a:r>
            <a:r>
              <a:rPr lang="en-US" altLang="zh-CN" sz="1400" dirty="0"/>
              <a:t>42, 2</a:t>
            </a:r>
            <a:r>
              <a:rPr lang="zh-CN" altLang="en-US" sz="1400" dirty="0"/>
              <a:t>字节</a:t>
            </a:r>
            <a:endParaRPr lang="en-US" altLang="zh-CN" sz="1400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7EADE6B7-1AF0-9956-FF27-E69E5B342060}"/>
              </a:ext>
            </a:extLst>
          </p:cNvPr>
          <p:cNvSpPr txBox="1"/>
          <p:nvPr/>
        </p:nvSpPr>
        <p:spPr>
          <a:xfrm>
            <a:off x="5048518" y="3453246"/>
            <a:ext cx="831272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zh-CN" sz="14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import</a:t>
            </a:r>
            <a:r>
              <a:rPr lang="en-US" altLang="zh-CN" sz="14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400" b="0" dirty="0" err="1">
                <a:solidFill>
                  <a:srgbClr val="3778B7"/>
                </a:solidFill>
                <a:effectLst/>
                <a:highlight>
                  <a:srgbClr val="FFFF00"/>
                </a:highlight>
                <a:latin typeface="Menlo" panose="020B0609030804020204" pitchFamily="49" charset="0"/>
              </a:rPr>
              <a:t>scservo_sdk</a:t>
            </a:r>
            <a:r>
              <a:rPr lang="en-US" altLang="zh-CN" sz="1400" b="0" dirty="0">
                <a:solidFill>
                  <a:srgbClr val="3778B7"/>
                </a:solidFill>
                <a:effectLst/>
                <a:highlight>
                  <a:srgbClr val="FFFF00"/>
                </a:highlight>
                <a:latin typeface="Menlo" panose="020B0609030804020204" pitchFamily="49" charset="0"/>
              </a:rPr>
              <a:t> </a:t>
            </a:r>
            <a:r>
              <a:rPr lang="en-US" altLang="zh-CN" sz="14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as</a:t>
            </a:r>
            <a:r>
              <a:rPr lang="en-US" altLang="zh-CN" sz="14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40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scs</a:t>
            </a:r>
            <a:r>
              <a:rPr lang="zh-CN" altLang="en-US" sz="14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直接到</a:t>
            </a:r>
            <a:r>
              <a:rPr lang="en-US" altLang="zh-CN" sz="1400" dirty="0" err="1">
                <a:solidFill>
                  <a:srgbClr val="3778B7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scservo_sdk</a:t>
            </a:r>
            <a:r>
              <a:rPr lang="en-US" altLang="zh-CN" sz="1400" dirty="0">
                <a:solidFill>
                  <a:srgbClr val="3778B7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 </a:t>
            </a:r>
            <a:endParaRPr lang="en-US" altLang="zh-CN" sz="1400" b="0" dirty="0">
              <a:solidFill>
                <a:srgbClr val="3778B7"/>
              </a:solidFill>
              <a:effectLst/>
              <a:latin typeface="Menlo" panose="020B0609030804020204" pitchFamily="49" charset="0"/>
            </a:endParaRPr>
          </a:p>
          <a:p>
            <a:r>
              <a:rPr lang="en-US" altLang="zh-CN" sz="1400" dirty="0"/>
              <a:t>result = </a:t>
            </a:r>
            <a:r>
              <a:rPr lang="en-US" altLang="zh-CN" sz="1400" dirty="0" err="1"/>
              <a:t>self.packet_handler.</a:t>
            </a:r>
            <a:r>
              <a:rPr lang="en-US" altLang="zh-CN" sz="1400" dirty="0" err="1">
                <a:highlight>
                  <a:srgbClr val="FFFF00"/>
                </a:highlight>
              </a:rPr>
              <a:t>txPacket</a:t>
            </a:r>
            <a:r>
              <a:rPr lang="en-US" altLang="zh-CN" sz="1400" dirty="0"/>
              <a:t>(</a:t>
            </a:r>
            <a:r>
              <a:rPr lang="en-US" altLang="zh-CN" sz="1400" dirty="0" err="1"/>
              <a:t>self.port_handler</a:t>
            </a:r>
            <a:r>
              <a:rPr lang="en-US" altLang="zh-CN" sz="1400" dirty="0"/>
              <a:t>, </a:t>
            </a:r>
            <a:r>
              <a:rPr lang="en-US" altLang="zh-CN" sz="1400" dirty="0" err="1"/>
              <a:t>txpacket</a:t>
            </a:r>
            <a:r>
              <a:rPr lang="en-US" altLang="zh-CN" sz="1400" dirty="0"/>
              <a:t>)</a:t>
            </a:r>
          </a:p>
          <a:p>
            <a:r>
              <a:rPr lang="en-US" altLang="zh-CN" sz="1400" dirty="0"/>
              <a:t>handler</a:t>
            </a:r>
            <a:r>
              <a:rPr lang="zh-CN" altLang="en-US" sz="1400" dirty="0"/>
              <a:t>是在</a:t>
            </a:r>
            <a:r>
              <a:rPr lang="en-US" altLang="zh-CN" sz="1400" dirty="0" err="1"/>
              <a:t>sdk</a:t>
            </a:r>
            <a:r>
              <a:rPr lang="zh-CN" altLang="en-US" sz="1400" dirty="0"/>
              <a:t>内部持有一个</a:t>
            </a:r>
            <a:r>
              <a:rPr lang="en-US" altLang="zh-CN" sz="1400" dirty="0" err="1"/>
              <a:t>serial.Serial</a:t>
            </a:r>
            <a:r>
              <a:rPr lang="zh-CN" altLang="en-US" sz="1400" dirty="0"/>
              <a:t>实例，</a:t>
            </a:r>
            <a:r>
              <a:rPr lang="en-US" altLang="zh-CN" sz="1400" dirty="0" err="1"/>
              <a:t>txpacket</a:t>
            </a:r>
            <a:r>
              <a:rPr lang="zh-CN" altLang="en-US" sz="1400" dirty="0"/>
              <a:t>是</a:t>
            </a:r>
            <a:r>
              <a:rPr lang="en-US" altLang="zh-CN" sz="1400" b="1" dirty="0"/>
              <a:t> (list[int])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9CB0F7F-2E4D-9A11-0AFD-BCDC9FA90959}"/>
              </a:ext>
            </a:extLst>
          </p:cNvPr>
          <p:cNvSpPr txBox="1"/>
          <p:nvPr/>
        </p:nvSpPr>
        <p:spPr>
          <a:xfrm>
            <a:off x="5048518" y="4326450"/>
            <a:ext cx="604303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CN" altLang="en-US" sz="14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中间有很长调用链，在下一页</a:t>
            </a:r>
            <a:endParaRPr lang="en-US" altLang="zh-CN" sz="1400" b="0" dirty="0">
              <a:solidFill>
                <a:srgbClr val="3778B7"/>
              </a:solidFill>
              <a:effectLst/>
              <a:latin typeface="Menlo" panose="020B0609030804020204" pitchFamily="49" charset="0"/>
            </a:endParaRPr>
          </a:p>
          <a:p>
            <a:pPr>
              <a:buNone/>
            </a:pPr>
            <a:r>
              <a:rPr lang="en-US" altLang="zh-CN" sz="140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port.</a:t>
            </a:r>
            <a:r>
              <a:rPr lang="en-US" altLang="zh-CN" sz="1400" b="0" dirty="0" err="1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writePort</a:t>
            </a:r>
            <a:r>
              <a:rPr lang="en-US" altLang="zh-CN" sz="14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40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txpacket</a:t>
            </a:r>
            <a:r>
              <a:rPr lang="en-US" altLang="zh-CN" sz="14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</a:t>
            </a:r>
            <a:r>
              <a:rPr lang="zh-CN" altLang="en-US" sz="1400" dirty="0">
                <a:solidFill>
                  <a:srgbClr val="1A1A1A"/>
                </a:solidFill>
                <a:latin typeface="Menlo" panose="020B0609030804020204" pitchFamily="49" charset="0"/>
              </a:rPr>
              <a:t>调用到</a:t>
            </a:r>
            <a:r>
              <a:rPr kumimoji="1" lang="en-US" altLang="zh-CN" sz="1400" dirty="0" err="1"/>
              <a:t>Pyserical</a:t>
            </a:r>
            <a:endParaRPr lang="en-US" altLang="zh-CN" sz="14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B4C90DF-F0F9-1790-95F3-62C808BD04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7352" y="235111"/>
            <a:ext cx="969798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2286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marL="228600" marR="0" lvl="0" indent="-2286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3600" b="1" dirty="0">
                <a:solidFill>
                  <a:prstClr val="white"/>
                </a:solidFill>
              </a:rPr>
              <a:t>3</a:t>
            </a:r>
            <a:endParaRPr kumimoji="0" lang="zh-CN" altLang="en-US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16990648"/>
      </p:ext>
    </p:extLst>
  </p:cSld>
  <p:clrMapOvr>
    <a:masterClrMapping/>
  </p:clrMapOvr>
  <p:transition spd="med">
    <p:pull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3EE399-E546-CC1E-8397-41DADB653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9">
            <a:extLst>
              <a:ext uri="{FF2B5EF4-FFF2-40B4-BE49-F238E27FC236}">
                <a16:creationId xmlns:a16="http://schemas.microsoft.com/office/drawing/2014/main" id="{70878160-1341-0C19-ABA6-82EC2DEF7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6550" y="344317"/>
            <a:ext cx="8643848" cy="480131"/>
          </a:xfrm>
        </p:spPr>
        <p:txBody>
          <a:bodyPr/>
          <a:lstStyle/>
          <a:p>
            <a:r>
              <a:rPr lang="en-US" altLang="zh-CN" dirty="0" err="1"/>
              <a:t>scservo_sdk</a:t>
            </a:r>
            <a:r>
              <a:rPr lang="zh-CN" altLang="en-US" dirty="0"/>
              <a:t>内部逻辑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18589992-E9DC-D158-2CFD-C214ADBE6C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7352" y="235111"/>
            <a:ext cx="969798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2286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marL="228600" marR="0" lvl="0" indent="-2286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3600" b="1" dirty="0">
                <a:solidFill>
                  <a:prstClr val="white"/>
                </a:solidFill>
              </a:rPr>
              <a:t>4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CC7C75A-59BC-7754-058B-FEBDAC4430ED}"/>
              </a:ext>
            </a:extLst>
          </p:cNvPr>
          <p:cNvSpPr/>
          <p:nvPr/>
        </p:nvSpPr>
        <p:spPr>
          <a:xfrm>
            <a:off x="1954373" y="1008731"/>
            <a:ext cx="1999486" cy="6461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/>
              <a:t>sync_read</a:t>
            </a:r>
            <a:endParaRPr lang="en-US" altLang="zh-CN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AC5B3AA-186D-5650-D3C7-044566946592}"/>
              </a:ext>
            </a:extLst>
          </p:cNvPr>
          <p:cNvSpPr/>
          <p:nvPr/>
        </p:nvSpPr>
        <p:spPr>
          <a:xfrm>
            <a:off x="4180122" y="1008731"/>
            <a:ext cx="1999486" cy="6461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/>
              <a:t>sync_write</a:t>
            </a:r>
            <a:endParaRPr lang="en-US" altLang="zh-CN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A64CF92-3B45-AB1D-8291-60F87C1D9786}"/>
              </a:ext>
            </a:extLst>
          </p:cNvPr>
          <p:cNvSpPr txBox="1"/>
          <p:nvPr/>
        </p:nvSpPr>
        <p:spPr>
          <a:xfrm>
            <a:off x="588823" y="1804624"/>
            <a:ext cx="34133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self.sync_reader.txRxPacket</a:t>
            </a:r>
            <a:r>
              <a:rPr lang="en-US" altLang="zh-CN" dirty="0"/>
              <a:t>()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15B1217-961D-7CEC-CC24-1D5AB12305B7}"/>
              </a:ext>
            </a:extLst>
          </p:cNvPr>
          <p:cNvSpPr txBox="1"/>
          <p:nvPr/>
        </p:nvSpPr>
        <p:spPr>
          <a:xfrm>
            <a:off x="4103919" y="1823143"/>
            <a:ext cx="32173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/>
              <a:t>self.sync_writer.txPacket</a:t>
            </a:r>
            <a:r>
              <a:rPr lang="en-US" altLang="zh-CN" dirty="0"/>
              <a:t>() </a:t>
            </a:r>
            <a:endParaRPr lang="zh-CN" altLang="en-US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6CA744F-2FED-4CF9-4A2E-7AB08B465843}"/>
              </a:ext>
            </a:extLst>
          </p:cNvPr>
          <p:cNvSpPr txBox="1"/>
          <p:nvPr/>
        </p:nvSpPr>
        <p:spPr>
          <a:xfrm>
            <a:off x="6299936" y="1064009"/>
            <a:ext cx="25329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 err="1">
                <a:solidFill>
                  <a:srgbClr val="00B0F0"/>
                </a:solidFill>
              </a:rPr>
              <a:t>motors_bus.py</a:t>
            </a:r>
            <a:endParaRPr lang="en-US" altLang="zh-CN" dirty="0">
              <a:solidFill>
                <a:srgbClr val="00B0F0"/>
              </a:solidFill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B8B45BB3-E4AF-8CD5-16E7-2DB930344325}"/>
              </a:ext>
            </a:extLst>
          </p:cNvPr>
          <p:cNvSpPr txBox="1"/>
          <p:nvPr/>
        </p:nvSpPr>
        <p:spPr>
          <a:xfrm>
            <a:off x="6746591" y="4449463"/>
            <a:ext cx="49048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rgbClr val="00B0F0"/>
                </a:solidFill>
              </a:rPr>
              <a:t>scservo_sdk</a:t>
            </a:r>
            <a:r>
              <a:rPr lang="en-US" altLang="zh-CN" dirty="0">
                <a:solidFill>
                  <a:srgbClr val="00B0F0"/>
                </a:solidFill>
              </a:rPr>
              <a:t>/</a:t>
            </a:r>
            <a:r>
              <a:rPr lang="en-US" altLang="zh-CN" dirty="0" err="1">
                <a:solidFill>
                  <a:srgbClr val="00B0F0"/>
                </a:solidFill>
              </a:rPr>
              <a:t>protocol_packet_handler.py</a:t>
            </a:r>
            <a:endParaRPr lang="zh-CN" altLang="en-US" dirty="0">
              <a:solidFill>
                <a:srgbClr val="00B0F0"/>
              </a:solidFill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7E0F009B-AFA5-AE5A-CC5B-02C63A64FBC0}"/>
              </a:ext>
            </a:extLst>
          </p:cNvPr>
          <p:cNvSpPr txBox="1"/>
          <p:nvPr/>
        </p:nvSpPr>
        <p:spPr>
          <a:xfrm>
            <a:off x="4051650" y="3120044"/>
            <a:ext cx="3903761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None/>
            </a:pPr>
            <a:r>
              <a:rPr lang="en-US" altLang="zh-CN" sz="1100" b="0" i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US" altLang="zh-CN" sz="1100" b="0" i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100" b="0" i="0" dirty="0" err="1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self.ph.</a:t>
            </a:r>
            <a:r>
              <a:rPr lang="en-US" altLang="zh-CN" sz="1100" b="0" i="0" dirty="0" err="1">
                <a:solidFill>
                  <a:srgbClr val="333333"/>
                </a:solidFill>
                <a:effectLst/>
                <a:highlight>
                  <a:srgbClr val="FFFF00"/>
                </a:highlight>
                <a:latin typeface="Menlo" panose="020B0609030804020204" pitchFamily="49" charset="0"/>
              </a:rPr>
              <a:t>syncWriteTxOnly</a:t>
            </a:r>
            <a:endParaRPr lang="en-US" altLang="zh-CN" sz="1100" b="0" i="0" dirty="0">
              <a:solidFill>
                <a:srgbClr val="333333"/>
              </a:solidFill>
              <a:effectLst/>
              <a:highlight>
                <a:srgbClr val="FFFF00"/>
              </a:highlight>
              <a:latin typeface="Menlo" panose="020B0609030804020204" pitchFamily="49" charset="0"/>
            </a:endParaRPr>
          </a:p>
          <a:p>
            <a:r>
              <a:rPr lang="zh-CN" altLang="en-US" dirty="0"/>
              <a:t>发送广播 </a:t>
            </a:r>
            <a:r>
              <a:rPr lang="en-US" altLang="zh-CN" dirty="0" err="1"/>
              <a:t>SyncWrite</a:t>
            </a:r>
            <a:r>
              <a:rPr lang="en-US" altLang="zh-CN" dirty="0"/>
              <a:t> </a:t>
            </a:r>
            <a:r>
              <a:rPr lang="zh-CN" altLang="en-US" dirty="0"/>
              <a:t>指令包（</a:t>
            </a:r>
            <a:r>
              <a:rPr lang="en-US" altLang="zh-CN" dirty="0"/>
              <a:t>INST_SYNC_WRITE</a:t>
            </a:r>
            <a:r>
              <a:rPr lang="zh-CN" altLang="en-US" dirty="0"/>
              <a:t>），一次性写多个电机寄存器。</a:t>
            </a:r>
          </a:p>
          <a:p>
            <a:pPr algn="l">
              <a:buNone/>
            </a:pPr>
            <a:endParaRPr lang="en-US" altLang="zh-CN" sz="1100" b="0" i="0" dirty="0">
              <a:solidFill>
                <a:srgbClr val="333333"/>
              </a:solidFill>
              <a:effectLst/>
              <a:highlight>
                <a:srgbClr val="FFFF00"/>
              </a:highlight>
              <a:latin typeface="Courier New" panose="02070309020205020404" pitchFamily="49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C6F90C5F-B737-0D3C-BBC0-F6F1C08EC406}"/>
              </a:ext>
            </a:extLst>
          </p:cNvPr>
          <p:cNvSpPr txBox="1"/>
          <p:nvPr/>
        </p:nvSpPr>
        <p:spPr>
          <a:xfrm>
            <a:off x="9270486" y="1077771"/>
            <a:ext cx="2664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 err="1"/>
              <a:t>Lerobot</a:t>
            </a:r>
            <a:r>
              <a:rPr kumimoji="1" lang="zh-CN" altLang="en-US" dirty="0"/>
              <a:t>项目内舵机部分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CCBC9E30-EDE0-B076-B604-C4F5F52D67B6}"/>
              </a:ext>
            </a:extLst>
          </p:cNvPr>
          <p:cNvSpPr txBox="1"/>
          <p:nvPr/>
        </p:nvSpPr>
        <p:spPr>
          <a:xfrm>
            <a:off x="1131236" y="2629110"/>
            <a:ext cx="28970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800"/>
              </a:spcBef>
              <a:spcAft>
                <a:spcPts val="1200"/>
              </a:spcAft>
              <a:buNone/>
            </a:pPr>
            <a:r>
              <a:rPr lang="en-US" altLang="zh-CN" b="1" i="0" dirty="0" err="1">
                <a:solidFill>
                  <a:srgbClr val="333333"/>
                </a:solidFill>
                <a:effectLst/>
                <a:latin typeface="-apple-system"/>
              </a:rPr>
              <a:t>GroupSyncRead.txRxPacket</a:t>
            </a:r>
            <a:r>
              <a:rPr lang="en-US" altLang="zh-CN" b="1" i="0" dirty="0">
                <a:solidFill>
                  <a:srgbClr val="333333"/>
                </a:solidFill>
                <a:effectLst/>
                <a:latin typeface="-apple-system"/>
              </a:rPr>
              <a:t>()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51967DBC-5E91-E789-B7BF-52F9FCAF504D}"/>
              </a:ext>
            </a:extLst>
          </p:cNvPr>
          <p:cNvSpPr txBox="1"/>
          <p:nvPr/>
        </p:nvSpPr>
        <p:spPr>
          <a:xfrm>
            <a:off x="540530" y="2938910"/>
            <a:ext cx="4510863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zh-CN" sz="1400" b="0" i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altLang="zh-CN" sz="1400" b="0" i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400" b="0" i="0" dirty="0" err="1">
                <a:solidFill>
                  <a:srgbClr val="808080"/>
                </a:solidFill>
                <a:effectLst/>
                <a:latin typeface="Menlo" panose="020B0609030804020204" pitchFamily="49" charset="0"/>
              </a:rPr>
              <a:t>txRxPacket</a:t>
            </a:r>
            <a:r>
              <a:rPr lang="en-US" altLang="zh-CN" sz="1400" b="0" i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(self):</a:t>
            </a:r>
          </a:p>
          <a:p>
            <a:pPr algn="l">
              <a:buNone/>
            </a:pPr>
            <a:r>
              <a:rPr lang="en-US" altLang="zh-CN" sz="1400" b="0" i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    result = </a:t>
            </a:r>
            <a:r>
              <a:rPr lang="en-US" altLang="zh-CN" sz="1400" b="0" i="0" dirty="0" err="1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self.</a:t>
            </a:r>
            <a:r>
              <a:rPr lang="en-US" altLang="zh-CN" sz="1400" b="0" i="0" dirty="0" err="1">
                <a:solidFill>
                  <a:srgbClr val="333333"/>
                </a:solidFill>
                <a:effectLst/>
                <a:highlight>
                  <a:srgbClr val="FFFF00"/>
                </a:highlight>
                <a:latin typeface="Menlo" panose="020B0609030804020204" pitchFamily="49" charset="0"/>
              </a:rPr>
              <a:t>txPacket</a:t>
            </a:r>
            <a:r>
              <a:rPr lang="en-US" altLang="zh-CN" sz="1400" b="0" i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()</a:t>
            </a:r>
          </a:p>
          <a:p>
            <a:pPr algn="l">
              <a:buNone/>
            </a:pPr>
            <a:r>
              <a:rPr lang="en-US" altLang="zh-CN" sz="1400" b="0" i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    </a:t>
            </a:r>
            <a:r>
              <a:rPr lang="en-US" altLang="zh-CN" sz="1400" b="0" i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US" altLang="zh-CN" sz="1400" b="0" i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 result != COMM_SUCCESS:</a:t>
            </a:r>
          </a:p>
          <a:p>
            <a:pPr algn="l">
              <a:buNone/>
            </a:pPr>
            <a:r>
              <a:rPr lang="en-US" altLang="zh-CN" sz="1400" b="0" i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        </a:t>
            </a:r>
            <a:r>
              <a:rPr lang="en-US" altLang="zh-CN" sz="1400" b="0" i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US" altLang="zh-CN" sz="1400" b="0" i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 result</a:t>
            </a:r>
          </a:p>
          <a:p>
            <a:pPr algn="l">
              <a:buNone/>
            </a:pPr>
            <a:r>
              <a:rPr lang="en-US" altLang="zh-CN" sz="1400" b="0" i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    </a:t>
            </a:r>
            <a:r>
              <a:rPr lang="en-US" altLang="zh-CN" sz="1400" b="0" i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US" altLang="zh-CN" sz="1400" b="0" i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400" b="0" i="0" dirty="0" err="1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self.</a:t>
            </a:r>
            <a:r>
              <a:rPr lang="en-US" altLang="zh-CN" sz="1400" b="0" i="0" dirty="0" err="1">
                <a:solidFill>
                  <a:srgbClr val="333333"/>
                </a:solidFill>
                <a:effectLst/>
                <a:highlight>
                  <a:srgbClr val="FFFF00"/>
                </a:highlight>
                <a:latin typeface="Menlo" panose="020B0609030804020204" pitchFamily="49" charset="0"/>
              </a:rPr>
              <a:t>rxPacket</a:t>
            </a:r>
            <a:r>
              <a:rPr lang="en-US" altLang="zh-CN" sz="1400" b="0" i="0" dirty="0">
                <a:solidFill>
                  <a:srgbClr val="333333"/>
                </a:solidFill>
                <a:effectLst/>
                <a:highlight>
                  <a:srgbClr val="FFFF00"/>
                </a:highlight>
                <a:latin typeface="Menlo" panose="020B0609030804020204" pitchFamily="49" charset="0"/>
              </a:rPr>
              <a:t>(</a:t>
            </a:r>
            <a:r>
              <a:rPr lang="en-US" altLang="zh-CN" sz="1400" b="0" i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 algn="l">
              <a:buNone/>
            </a:pPr>
            <a:endParaRPr lang="en-US" altLang="zh-CN" sz="1400" dirty="0">
              <a:solidFill>
                <a:srgbClr val="333333"/>
              </a:solidFill>
              <a:latin typeface="Menlo" panose="020B0609030804020204" pitchFamily="49" charset="0"/>
            </a:endParaRPr>
          </a:p>
          <a:p>
            <a:pPr algn="l">
              <a:buNone/>
            </a:pPr>
            <a:r>
              <a:rPr lang="en-US" altLang="zh-CN" sz="1400" b="0" i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Read</a:t>
            </a:r>
            <a:r>
              <a:rPr lang="zh-CN" altLang="en-US" sz="1400" b="0" i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是</a:t>
            </a:r>
            <a:r>
              <a:rPr lang="zh-CN" altLang="en-US" sz="1400" b="0" i="0" dirty="0">
                <a:solidFill>
                  <a:srgbClr val="333333"/>
                </a:solidFill>
                <a:effectLst/>
                <a:highlight>
                  <a:srgbClr val="FFFF00"/>
                </a:highlight>
                <a:latin typeface="Menlo" panose="020B0609030804020204" pitchFamily="49" charset="0"/>
              </a:rPr>
              <a:t>一个</a:t>
            </a:r>
            <a:r>
              <a:rPr lang="en-US" altLang="zh-CN" sz="1400" b="0" i="0" dirty="0" err="1">
                <a:solidFill>
                  <a:srgbClr val="333333"/>
                </a:solidFill>
                <a:effectLst/>
                <a:highlight>
                  <a:srgbClr val="FFFF00"/>
                </a:highlight>
                <a:latin typeface="Menlo" panose="020B0609030804020204" pitchFamily="49" charset="0"/>
              </a:rPr>
              <a:t>tx</a:t>
            </a:r>
            <a:r>
              <a:rPr lang="en-US" altLang="zh-CN" sz="1400" b="0" i="0" dirty="0">
                <a:solidFill>
                  <a:srgbClr val="333333"/>
                </a:solidFill>
                <a:effectLst/>
                <a:highlight>
                  <a:srgbClr val="FFFF00"/>
                </a:highlight>
                <a:latin typeface="Menlo" panose="020B0609030804020204" pitchFamily="49" charset="0"/>
              </a:rPr>
              <a:t>+</a:t>
            </a:r>
            <a:r>
              <a:rPr lang="zh-CN" altLang="en-US" sz="1400" b="0" i="0" dirty="0">
                <a:solidFill>
                  <a:srgbClr val="333333"/>
                </a:solidFill>
                <a:effectLst/>
                <a:highlight>
                  <a:srgbClr val="FFFF00"/>
                </a:highlight>
                <a:latin typeface="Menlo" panose="020B0609030804020204" pitchFamily="49" charset="0"/>
              </a:rPr>
              <a:t>一个</a:t>
            </a:r>
            <a:r>
              <a:rPr lang="en-US" altLang="zh-CN" sz="1400" b="0" i="0" dirty="0" err="1">
                <a:solidFill>
                  <a:srgbClr val="333333"/>
                </a:solidFill>
                <a:effectLst/>
                <a:highlight>
                  <a:srgbClr val="FFFF00"/>
                </a:highlight>
                <a:latin typeface="Menlo" panose="020B0609030804020204" pitchFamily="49" charset="0"/>
              </a:rPr>
              <a:t>rx</a:t>
            </a:r>
            <a:endParaRPr lang="en-US" altLang="zh-CN" sz="1400" b="0" i="0" dirty="0">
              <a:solidFill>
                <a:srgbClr val="333333"/>
              </a:solidFill>
              <a:effectLst/>
              <a:highlight>
                <a:srgbClr val="FFFF00"/>
              </a:highlight>
              <a:latin typeface="Courier New" panose="02070309020205020404" pitchFamily="49" charset="0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D70FB358-736C-F5E0-7EEA-9A61625821B8}"/>
              </a:ext>
            </a:extLst>
          </p:cNvPr>
          <p:cNvSpPr txBox="1"/>
          <p:nvPr/>
        </p:nvSpPr>
        <p:spPr>
          <a:xfrm>
            <a:off x="4180122" y="2651914"/>
            <a:ext cx="2707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1800"/>
              </a:spcBef>
              <a:spcAft>
                <a:spcPts val="1200"/>
              </a:spcAft>
            </a:pPr>
            <a:r>
              <a:rPr lang="en-US" altLang="zh-CN" b="1" i="0" dirty="0" err="1">
                <a:solidFill>
                  <a:srgbClr val="333333"/>
                </a:solidFill>
                <a:effectLst/>
                <a:latin typeface="-apple-system"/>
              </a:rPr>
              <a:t>GroupSyncRead.txPacket</a:t>
            </a:r>
            <a:r>
              <a:rPr lang="en-US" altLang="zh-CN" b="1" i="0" dirty="0">
                <a:solidFill>
                  <a:srgbClr val="333333"/>
                </a:solidFill>
                <a:effectLst/>
                <a:latin typeface="-apple-system"/>
              </a:rPr>
              <a:t>()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63FC4326-D54D-C478-41B5-6268FB31B4C9}"/>
              </a:ext>
            </a:extLst>
          </p:cNvPr>
          <p:cNvSpPr txBox="1"/>
          <p:nvPr/>
        </p:nvSpPr>
        <p:spPr>
          <a:xfrm>
            <a:off x="7321289" y="2709755"/>
            <a:ext cx="460804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rgbClr val="00B0F0"/>
                </a:solidFill>
                <a:highlight>
                  <a:srgbClr val="FFFF00"/>
                </a:highlight>
              </a:rPr>
              <a:t>scservo_sdk</a:t>
            </a:r>
            <a:r>
              <a:rPr lang="en-US" altLang="zh-CN" dirty="0">
                <a:solidFill>
                  <a:srgbClr val="00B0F0"/>
                </a:solidFill>
                <a:highlight>
                  <a:srgbClr val="FFFF00"/>
                </a:highlight>
              </a:rPr>
              <a:t>/ </a:t>
            </a:r>
            <a:r>
              <a:rPr kumimoji="1" lang="en-US" altLang="zh-CN" dirty="0" err="1">
                <a:solidFill>
                  <a:srgbClr val="00B0F0"/>
                </a:solidFill>
              </a:rPr>
              <a:t>group_sync_write.py</a:t>
            </a:r>
            <a:endParaRPr kumimoji="1" lang="en-US" altLang="zh-CN" dirty="0">
              <a:solidFill>
                <a:srgbClr val="00B0F0"/>
              </a:solidFill>
            </a:endParaRPr>
          </a:p>
          <a:p>
            <a:r>
              <a:rPr kumimoji="1" lang="en-US" altLang="zh-CN" dirty="0" err="1">
                <a:solidFill>
                  <a:srgbClr val="00B0F0"/>
                </a:solidFill>
              </a:rPr>
              <a:t>group_sync_read.py</a:t>
            </a:r>
            <a:endParaRPr kumimoji="1" lang="zh-CN" altLang="en-US" dirty="0">
              <a:solidFill>
                <a:srgbClr val="00B0F0"/>
              </a:solidFill>
            </a:endParaRPr>
          </a:p>
          <a:p>
            <a:endParaRPr kumimoji="1" lang="zh-CN" altLang="en-US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AA47E6A0-2580-AACD-0692-FB02EA9458C1}"/>
              </a:ext>
            </a:extLst>
          </p:cNvPr>
          <p:cNvSpPr txBox="1"/>
          <p:nvPr/>
        </p:nvSpPr>
        <p:spPr>
          <a:xfrm>
            <a:off x="1337473" y="4387483"/>
            <a:ext cx="172688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port.clearPort</a:t>
            </a:r>
            <a:endParaRPr lang="en-US" altLang="zh-CN" dirty="0"/>
          </a:p>
          <a:p>
            <a:r>
              <a:rPr lang="en-US" altLang="zh-CN" dirty="0" err="1"/>
              <a:t>port.writePort</a:t>
            </a:r>
            <a:endParaRPr lang="en-US" altLang="zh-CN" dirty="0"/>
          </a:p>
          <a:p>
            <a:r>
              <a:rPr lang="en-US" altLang="zh-CN" dirty="0" err="1"/>
              <a:t>port.readPort</a:t>
            </a:r>
            <a:endParaRPr lang="en-US" altLang="zh-CN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A30B6E1-B012-EE1D-FB09-70AB5467DC9D}"/>
              </a:ext>
            </a:extLst>
          </p:cNvPr>
          <p:cNvSpPr txBox="1"/>
          <p:nvPr/>
        </p:nvSpPr>
        <p:spPr>
          <a:xfrm>
            <a:off x="4103919" y="4352456"/>
            <a:ext cx="18647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port.</a:t>
            </a:r>
            <a:r>
              <a:rPr lang="en-US" altLang="zh-CN" dirty="0" err="1">
                <a:highlight>
                  <a:srgbClr val="FFFF00"/>
                </a:highlight>
              </a:rPr>
              <a:t>clear</a:t>
            </a:r>
            <a:r>
              <a:rPr lang="en-US" altLang="zh-CN" dirty="0" err="1"/>
              <a:t>Port</a:t>
            </a:r>
            <a:endParaRPr lang="en-US" altLang="zh-CN" dirty="0"/>
          </a:p>
          <a:p>
            <a:r>
              <a:rPr lang="en-US" altLang="zh-CN" dirty="0" err="1"/>
              <a:t>port.</a:t>
            </a:r>
            <a:r>
              <a:rPr lang="en-US" altLang="zh-CN" dirty="0" err="1">
                <a:highlight>
                  <a:srgbClr val="FFFF00"/>
                </a:highlight>
              </a:rPr>
              <a:t>write</a:t>
            </a:r>
            <a:r>
              <a:rPr lang="en-US" altLang="zh-CN" dirty="0" err="1"/>
              <a:t>Port</a:t>
            </a:r>
            <a:r>
              <a:rPr lang="zh-CN" altLang="en-US" dirty="0"/>
              <a:t> </a:t>
            </a:r>
            <a:endParaRPr lang="en-US" altLang="zh-CN" dirty="0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BA9076DF-D17D-38D5-48C5-4C128F4C2312}"/>
              </a:ext>
            </a:extLst>
          </p:cNvPr>
          <p:cNvSpPr txBox="1"/>
          <p:nvPr/>
        </p:nvSpPr>
        <p:spPr>
          <a:xfrm>
            <a:off x="6787064" y="5055327"/>
            <a:ext cx="60980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rgbClr val="00B0F0"/>
                </a:solidFill>
              </a:rPr>
              <a:t>port_handler.py   </a:t>
            </a:r>
            <a:r>
              <a:rPr lang="en-US" altLang="zh-CN" dirty="0">
                <a:solidFill>
                  <a:srgbClr val="00B0F0"/>
                </a:solidFill>
              </a:rPr>
              <a:t>-&gt;  </a:t>
            </a:r>
            <a:r>
              <a:rPr lang="zh-CN" altLang="en-US" dirty="0">
                <a:solidFill>
                  <a:srgbClr val="00B0F0"/>
                </a:solidFill>
              </a:rPr>
              <a:t>后面到了</a:t>
            </a:r>
            <a:r>
              <a:rPr lang="en-US" altLang="zh-CN" dirty="0" err="1">
                <a:solidFill>
                  <a:srgbClr val="00B0F0"/>
                </a:solidFill>
                <a:highlight>
                  <a:srgbClr val="FFFF00"/>
                </a:highlight>
              </a:rPr>
              <a:t>pyserial</a:t>
            </a:r>
            <a:endParaRPr lang="zh-CN" altLang="en-US" dirty="0">
              <a:solidFill>
                <a:srgbClr val="00B0F0"/>
              </a:solidFill>
              <a:highlight>
                <a:srgbClr val="FFFF00"/>
              </a:highlight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424AC82A-8A7B-70E3-9A70-B0E12EC67136}"/>
              </a:ext>
            </a:extLst>
          </p:cNvPr>
          <p:cNvSpPr txBox="1"/>
          <p:nvPr/>
        </p:nvSpPr>
        <p:spPr>
          <a:xfrm>
            <a:off x="4573106" y="5517482"/>
            <a:ext cx="67646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clear</a:t>
            </a:r>
            <a:r>
              <a:rPr kumimoji="1" lang="zh-CN" altLang="en-US" dirty="0"/>
              <a:t> </a:t>
            </a:r>
            <a:r>
              <a:rPr kumimoji="1" lang="en-US" altLang="zh-CN" dirty="0"/>
              <a:t>write</a:t>
            </a:r>
            <a:r>
              <a:rPr kumimoji="1" lang="zh-CN" altLang="en-US" dirty="0"/>
              <a:t> </a:t>
            </a:r>
            <a:r>
              <a:rPr kumimoji="1" lang="en-US" altLang="zh-CN" dirty="0"/>
              <a:t>read</a:t>
            </a:r>
            <a:r>
              <a:rPr kumimoji="1" lang="zh-CN" altLang="en-US" dirty="0"/>
              <a:t>这三个都有耗时</a:t>
            </a:r>
            <a:r>
              <a:rPr kumimoji="1" lang="en-US" altLang="zh-CN" dirty="0"/>
              <a:t>0.5-5</a:t>
            </a:r>
            <a:r>
              <a:rPr kumimoji="1" lang="zh-CN" altLang="en-US" dirty="0"/>
              <a:t>毫秒（已经打</a:t>
            </a:r>
            <a:r>
              <a:rPr kumimoji="1" lang="en-US" altLang="zh-CN" dirty="0"/>
              <a:t>log</a:t>
            </a:r>
            <a:r>
              <a:rPr kumimoji="1" lang="zh-CN" altLang="en-US" dirty="0"/>
              <a:t>确认了）</a:t>
            </a:r>
          </a:p>
        </p:txBody>
      </p:sp>
      <p:cxnSp>
        <p:nvCxnSpPr>
          <p:cNvPr id="45" name="直线连接符 44">
            <a:extLst>
              <a:ext uri="{FF2B5EF4-FFF2-40B4-BE49-F238E27FC236}">
                <a16:creationId xmlns:a16="http://schemas.microsoft.com/office/drawing/2014/main" id="{1F119507-8499-9ADF-B8A7-CFC05438431A}"/>
              </a:ext>
            </a:extLst>
          </p:cNvPr>
          <p:cNvCxnSpPr>
            <a:cxnSpLocks/>
          </p:cNvCxnSpPr>
          <p:nvPr/>
        </p:nvCxnSpPr>
        <p:spPr>
          <a:xfrm flipH="1">
            <a:off x="4028287" y="916123"/>
            <a:ext cx="23363" cy="423096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CF1211E6-685E-53C4-FC31-D3523687C262}"/>
              </a:ext>
            </a:extLst>
          </p:cNvPr>
          <p:cNvSpPr txBox="1"/>
          <p:nvPr/>
        </p:nvSpPr>
        <p:spPr>
          <a:xfrm>
            <a:off x="244884" y="1030954"/>
            <a:ext cx="178921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dirty="0"/>
              <a:t>读需要</a:t>
            </a:r>
            <a:r>
              <a:rPr kumimoji="1" lang="zh-CN" altLang="en-US" dirty="0">
                <a:highlight>
                  <a:srgbClr val="FFFF00"/>
                </a:highlight>
              </a:rPr>
              <a:t>先</a:t>
            </a:r>
            <a:r>
              <a:rPr kumimoji="1" lang="en-US" altLang="zh-CN" dirty="0" err="1">
                <a:highlight>
                  <a:srgbClr val="FFFF00"/>
                </a:highlight>
              </a:rPr>
              <a:t>tx</a:t>
            </a:r>
            <a:r>
              <a:rPr kumimoji="1" lang="zh-CN" altLang="en-US" dirty="0">
                <a:highlight>
                  <a:srgbClr val="FFFF00"/>
                </a:highlight>
              </a:rPr>
              <a:t>在</a:t>
            </a:r>
            <a:r>
              <a:rPr kumimoji="1" lang="en-US" altLang="zh-CN" dirty="0" err="1">
                <a:highlight>
                  <a:srgbClr val="FFFF00"/>
                </a:highlight>
              </a:rPr>
              <a:t>rx</a:t>
            </a:r>
            <a:endParaRPr kumimoji="1" lang="en-US" altLang="zh-CN" dirty="0">
              <a:highlight>
                <a:srgbClr val="FFFF00"/>
              </a:highlight>
            </a:endParaRPr>
          </a:p>
          <a:p>
            <a:r>
              <a:rPr kumimoji="1" lang="zh-CN" altLang="en-US" dirty="0"/>
              <a:t>先发送要读信号</a:t>
            </a:r>
            <a:endParaRPr kumimoji="1" lang="en-US" altLang="zh-CN" dirty="0"/>
          </a:p>
          <a:p>
            <a:r>
              <a:rPr kumimoji="1" lang="zh-CN" altLang="en-US" dirty="0"/>
              <a:t>再读串口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4B34A01-C03C-5FAB-DE40-209A0D5701A7}"/>
              </a:ext>
            </a:extLst>
          </p:cNvPr>
          <p:cNvSpPr txBox="1"/>
          <p:nvPr/>
        </p:nvSpPr>
        <p:spPr>
          <a:xfrm>
            <a:off x="8492237" y="3776064"/>
            <a:ext cx="1158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写仅需</a:t>
            </a:r>
            <a:r>
              <a:rPr kumimoji="1" lang="en-US" altLang="zh-CN" dirty="0"/>
              <a:t>TX</a:t>
            </a:r>
            <a:endParaRPr kumimoji="1"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999F7A4-062F-284C-EA0C-2FBBC5D6002F}"/>
              </a:ext>
            </a:extLst>
          </p:cNvPr>
          <p:cNvSpPr txBox="1"/>
          <p:nvPr/>
        </p:nvSpPr>
        <p:spPr>
          <a:xfrm>
            <a:off x="847891" y="4621898"/>
            <a:ext cx="4523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Tx</a:t>
            </a:r>
          </a:p>
          <a:p>
            <a:r>
              <a:rPr kumimoji="1" lang="en-US" altLang="zh-CN" dirty="0"/>
              <a:t>Rx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E5251E9-1936-51CB-FA71-C05E313E73A2}"/>
              </a:ext>
            </a:extLst>
          </p:cNvPr>
          <p:cNvSpPr txBox="1"/>
          <p:nvPr/>
        </p:nvSpPr>
        <p:spPr>
          <a:xfrm>
            <a:off x="5858572" y="4474751"/>
            <a:ext cx="5141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zh-CN" dirty="0"/>
              <a:t>Tx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90B5AB5-16B8-1A59-9D3E-8AA71BBEFE72}"/>
              </a:ext>
            </a:extLst>
          </p:cNvPr>
          <p:cNvSpPr txBox="1"/>
          <p:nvPr/>
        </p:nvSpPr>
        <p:spPr>
          <a:xfrm>
            <a:off x="9922844" y="3845309"/>
            <a:ext cx="20120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highlight>
                  <a:srgbClr val="FFFF00"/>
                </a:highlight>
              </a:rPr>
              <a:t>Serial</a:t>
            </a:r>
            <a:r>
              <a:rPr kumimoji="1" lang="zh-CN" altLang="en-US" dirty="0">
                <a:highlight>
                  <a:srgbClr val="FFFF00"/>
                </a:highlight>
              </a:rPr>
              <a:t>协议</a:t>
            </a:r>
            <a:r>
              <a:rPr kumimoji="1" lang="en-US" altLang="zh-CN" dirty="0">
                <a:highlight>
                  <a:srgbClr val="FFFF00"/>
                </a:highlight>
              </a:rPr>
              <a:t>1Mbps</a:t>
            </a:r>
            <a:endParaRPr kumimoji="1" lang="zh-CN" altLang="en-US" dirty="0">
              <a:highlight>
                <a:srgbClr val="FFFF00"/>
              </a:highlight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BC7E396-E258-58C9-6844-A0C1C1081DA8}"/>
              </a:ext>
            </a:extLst>
          </p:cNvPr>
          <p:cNvSpPr txBox="1"/>
          <p:nvPr/>
        </p:nvSpPr>
        <p:spPr>
          <a:xfrm>
            <a:off x="7102478" y="1776371"/>
            <a:ext cx="3460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 err="1"/>
              <a:t>feetech.py</a:t>
            </a:r>
            <a:r>
              <a:rPr kumimoji="1" lang="zh-CN" altLang="en-US" dirty="0"/>
              <a:t>包装到</a:t>
            </a:r>
            <a:r>
              <a:rPr kumimoji="1" lang="en-US" altLang="zh-CN" dirty="0" err="1"/>
              <a:t>scservo_sdk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13384704"/>
      </p:ext>
    </p:extLst>
  </p:cSld>
  <p:clrMapOvr>
    <a:masterClrMapping/>
  </p:clrMapOvr>
  <p:transition spd="med">
    <p:pull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00E62-EAEC-AE8D-D89A-2C56EB03A4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9">
            <a:extLst>
              <a:ext uri="{FF2B5EF4-FFF2-40B4-BE49-F238E27FC236}">
                <a16:creationId xmlns:a16="http://schemas.microsoft.com/office/drawing/2014/main" id="{0351D68F-A66A-1348-BA5A-432346787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6550" y="344317"/>
            <a:ext cx="8643848" cy="480131"/>
          </a:xfrm>
        </p:spPr>
        <p:txBody>
          <a:bodyPr/>
          <a:lstStyle/>
          <a:p>
            <a:r>
              <a:rPr lang="zh-CN" altLang="en-US" dirty="0"/>
              <a:t>发</a:t>
            </a:r>
            <a:r>
              <a:rPr lang="en-US" altLang="zh-CN" dirty="0"/>
              <a:t>/</a:t>
            </a:r>
            <a:r>
              <a:rPr lang="zh-CN" altLang="en-US" dirty="0"/>
              <a:t>收包，这一步在</a:t>
            </a:r>
            <a:r>
              <a:rPr lang="en-US" altLang="zh-CN" dirty="0" err="1"/>
              <a:t>scservo_sdk</a:t>
            </a:r>
            <a:r>
              <a:rPr lang="zh-CN" altLang="en-US" dirty="0"/>
              <a:t>里面解析完成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7576EF9-876A-2B0E-C98A-6B53870767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7352" y="235111"/>
            <a:ext cx="969798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2286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marL="228600" marR="0" lvl="0" indent="-2286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3600" b="1" dirty="0">
                <a:solidFill>
                  <a:prstClr val="white"/>
                </a:solidFill>
              </a:rPr>
              <a:t>5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796E924-9687-B069-BDCE-95C88C7B01B5}"/>
              </a:ext>
            </a:extLst>
          </p:cNvPr>
          <p:cNvSpPr txBox="1"/>
          <p:nvPr/>
        </p:nvSpPr>
        <p:spPr>
          <a:xfrm>
            <a:off x="614748" y="1005696"/>
            <a:ext cx="9002781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/>
              <a:t>Sync Read</a:t>
            </a:r>
            <a:r>
              <a:rPr lang="zh-CN" altLang="en-US" b="1" dirty="0"/>
              <a:t>（读）：发 </a:t>
            </a:r>
            <a:r>
              <a:rPr lang="en-US" altLang="zh-CN" b="1" dirty="0"/>
              <a:t>1 </a:t>
            </a:r>
            <a:r>
              <a:rPr lang="zh-CN" altLang="en-US" b="1" dirty="0"/>
              <a:t>个包收</a:t>
            </a:r>
            <a:r>
              <a:rPr lang="en-US" altLang="zh-CN" b="1" dirty="0"/>
              <a:t>6</a:t>
            </a:r>
            <a:r>
              <a:rPr lang="zh-CN" altLang="en-US" b="1" dirty="0"/>
              <a:t>个包</a:t>
            </a:r>
            <a:endParaRPr lang="en-US" altLang="zh-CN" dirty="0"/>
          </a:p>
          <a:p>
            <a:r>
              <a:rPr lang="en-US" altLang="zh-CN" dirty="0"/>
              <a:t>[FF][FF][FE][0A][82][38][02][01][02][03][04][05][06][CHK]</a:t>
            </a:r>
          </a:p>
          <a:p>
            <a:r>
              <a:rPr lang="en-US" altLang="zh-CN" dirty="0"/>
              <a:t> 2   </a:t>
            </a:r>
            <a:r>
              <a:rPr lang="zh-CN" altLang="en-US" dirty="0"/>
              <a:t>       </a:t>
            </a:r>
            <a:r>
              <a:rPr lang="en-US" altLang="zh-CN" dirty="0"/>
              <a:t> 1   </a:t>
            </a:r>
            <a:r>
              <a:rPr lang="zh-CN" altLang="en-US" dirty="0"/>
              <a:t> </a:t>
            </a:r>
            <a:r>
              <a:rPr lang="en-US" altLang="zh-CN" dirty="0"/>
              <a:t>1   </a:t>
            </a:r>
            <a:r>
              <a:rPr lang="zh-CN" altLang="en-US" dirty="0"/>
              <a:t>  </a:t>
            </a:r>
            <a:r>
              <a:rPr lang="en-US" altLang="zh-CN" dirty="0"/>
              <a:t>1   </a:t>
            </a:r>
            <a:r>
              <a:rPr lang="zh-CN" altLang="en-US" dirty="0"/>
              <a:t> </a:t>
            </a:r>
            <a:r>
              <a:rPr lang="en-US" altLang="zh-CN" dirty="0"/>
              <a:t>2</a:t>
            </a:r>
            <a:r>
              <a:rPr lang="zh-CN" altLang="en-US" dirty="0"/>
              <a:t>     </a:t>
            </a:r>
            <a:r>
              <a:rPr lang="en-US" altLang="zh-CN" dirty="0"/>
              <a:t>   </a:t>
            </a:r>
            <a:r>
              <a:rPr lang="zh-CN" altLang="en-US" dirty="0"/>
              <a:t> </a:t>
            </a:r>
            <a:r>
              <a:rPr lang="en-US" altLang="zh-CN" dirty="0"/>
              <a:t>6</a:t>
            </a:r>
            <a:r>
              <a:rPr lang="zh-CN" altLang="en-US" dirty="0"/>
              <a:t>个</a:t>
            </a:r>
            <a:r>
              <a:rPr lang="en-US" altLang="zh-CN" dirty="0"/>
              <a:t>ID(6)          </a:t>
            </a:r>
            <a:r>
              <a:rPr lang="zh-CN" altLang="en-US" dirty="0"/>
              <a:t>          </a:t>
            </a:r>
            <a:r>
              <a:rPr lang="en-US" altLang="zh-CN" dirty="0"/>
              <a:t>     1	14</a:t>
            </a:r>
            <a:r>
              <a:rPr lang="zh-CN" altLang="en-US" dirty="0"/>
              <a:t>字节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b="1" dirty="0"/>
              <a:t>接收包</a:t>
            </a:r>
            <a:r>
              <a:rPr lang="zh-CN" altLang="en-US" dirty="0"/>
              <a:t>：每舵机 </a:t>
            </a:r>
            <a:r>
              <a:rPr lang="en-US" altLang="zh-CN" dirty="0"/>
              <a:t>8 </a:t>
            </a:r>
            <a:r>
              <a:rPr lang="zh-CN" altLang="en-US" dirty="0"/>
              <a:t>字节 </a:t>
            </a:r>
            <a:r>
              <a:rPr lang="en-US" altLang="zh-CN" dirty="0"/>
              <a:t>× 6 = 48 </a:t>
            </a:r>
            <a:r>
              <a:rPr lang="zh-CN" altLang="en-US" dirty="0"/>
              <a:t>字节</a:t>
            </a:r>
          </a:p>
          <a:p>
            <a:r>
              <a:rPr lang="en-US" altLang="zh-CN" dirty="0"/>
              <a:t>[FF][FF][ID][04][00][AB][CD][CHK]</a:t>
            </a:r>
          </a:p>
          <a:p>
            <a:r>
              <a:rPr lang="en-US" altLang="zh-CN" dirty="0"/>
              <a:t> 2    </a:t>
            </a:r>
            <a:r>
              <a:rPr lang="zh-CN" altLang="en-US" dirty="0"/>
              <a:t>     </a:t>
            </a:r>
            <a:r>
              <a:rPr lang="en-US" altLang="zh-CN" dirty="0"/>
              <a:t>1  </a:t>
            </a:r>
            <a:r>
              <a:rPr lang="zh-CN" altLang="en-US" dirty="0"/>
              <a:t>  </a:t>
            </a:r>
            <a:r>
              <a:rPr lang="en-US" altLang="zh-CN" dirty="0"/>
              <a:t> 1  </a:t>
            </a:r>
            <a:r>
              <a:rPr lang="zh-CN" altLang="en-US" dirty="0"/>
              <a:t> </a:t>
            </a:r>
            <a:r>
              <a:rPr lang="en-US" altLang="zh-CN" dirty="0"/>
              <a:t> 1   </a:t>
            </a:r>
            <a:r>
              <a:rPr lang="zh-CN" altLang="en-US" dirty="0"/>
              <a:t>  </a:t>
            </a:r>
            <a:r>
              <a:rPr lang="en-US" altLang="zh-CN" dirty="0"/>
              <a:t>1  </a:t>
            </a:r>
            <a:r>
              <a:rPr lang="zh-CN" altLang="en-US" dirty="0"/>
              <a:t>  </a:t>
            </a:r>
            <a:r>
              <a:rPr lang="en-US" altLang="zh-CN" dirty="0"/>
              <a:t> 1    1				8</a:t>
            </a:r>
            <a:r>
              <a:rPr lang="zh-CN" altLang="en-US" dirty="0"/>
              <a:t>字节</a:t>
            </a:r>
            <a:endParaRPr lang="en-US" altLang="zh-CN" dirty="0"/>
          </a:p>
          <a:p>
            <a:pPr algn="l">
              <a:buNone/>
            </a:pPr>
            <a:endParaRPr lang="en-US" altLang="zh-CN" dirty="0">
              <a:solidFill>
                <a:srgbClr val="A31515"/>
              </a:solidFill>
              <a:latin typeface="Courier New" panose="02070309020205020404" pitchFamily="49" charset="0"/>
            </a:endParaRPr>
          </a:p>
          <a:p>
            <a:pPr algn="l">
              <a:buNone/>
            </a:pPr>
            <a:endParaRPr lang="en-US" altLang="zh-CN" dirty="0">
              <a:solidFill>
                <a:srgbClr val="A31515"/>
              </a:solidFill>
              <a:latin typeface="Courier New" panose="02070309020205020404" pitchFamily="49" charset="0"/>
            </a:endParaRPr>
          </a:p>
          <a:p>
            <a:r>
              <a:rPr lang="en-US" altLang="zh-CN" b="1" dirty="0"/>
              <a:t>Sync Write</a:t>
            </a:r>
            <a:r>
              <a:rPr lang="zh-CN" altLang="en-US" b="1" dirty="0"/>
              <a:t>（写）：发 </a:t>
            </a:r>
            <a:r>
              <a:rPr lang="en-US" altLang="zh-CN" b="1" dirty="0"/>
              <a:t>1 </a:t>
            </a:r>
            <a:r>
              <a:rPr lang="zh-CN" altLang="en-US" b="1" dirty="0"/>
              <a:t>个包</a:t>
            </a:r>
          </a:p>
          <a:p>
            <a:r>
              <a:rPr lang="en-US" altLang="zh-CN" dirty="0"/>
              <a:t>[FF][FF][FE][LEN][83][42][02</a:t>
            </a:r>
            <a:r>
              <a:rPr lang="en-US" altLang="zh-CN" dirty="0">
                <a:highlight>
                  <a:srgbClr val="FFFF00"/>
                </a:highlight>
              </a:rPr>
              <a:t>][ID1][pos1_L][pos1_H][ID2][pos2_L][pos2_H]...</a:t>
            </a:r>
            <a:r>
              <a:rPr lang="en-US" altLang="zh-CN" dirty="0"/>
              <a:t>[CHK]</a:t>
            </a:r>
          </a:p>
          <a:p>
            <a:r>
              <a:rPr lang="en-US" altLang="zh-CN" dirty="0"/>
              <a:t>2</a:t>
            </a:r>
            <a:r>
              <a:rPr lang="zh-CN" altLang="en-US" dirty="0"/>
              <a:t>           </a:t>
            </a:r>
            <a:r>
              <a:rPr lang="en-US" altLang="zh-CN" dirty="0"/>
              <a:t>1</a:t>
            </a:r>
            <a:r>
              <a:rPr lang="zh-CN" altLang="en-US" dirty="0"/>
              <a:t>    </a:t>
            </a:r>
            <a:r>
              <a:rPr lang="en-US" altLang="zh-CN" dirty="0"/>
              <a:t>1</a:t>
            </a:r>
            <a:r>
              <a:rPr lang="zh-CN" altLang="en-US" dirty="0"/>
              <a:t>        </a:t>
            </a:r>
            <a:r>
              <a:rPr lang="en-US" altLang="zh-CN" dirty="0"/>
              <a:t>1</a:t>
            </a:r>
            <a:r>
              <a:rPr lang="zh-CN" altLang="en-US" dirty="0"/>
              <a:t>   </a:t>
            </a:r>
            <a:r>
              <a:rPr lang="en-US" altLang="zh-CN" dirty="0"/>
              <a:t>1</a:t>
            </a:r>
            <a:r>
              <a:rPr lang="zh-CN" altLang="en-US" dirty="0"/>
              <a:t>     </a:t>
            </a:r>
            <a:r>
              <a:rPr lang="en-US" altLang="zh-CN" dirty="0"/>
              <a:t>1</a:t>
            </a:r>
            <a:r>
              <a:rPr lang="zh-CN" altLang="en-US" dirty="0"/>
              <a:t>   </a:t>
            </a:r>
            <a:r>
              <a:rPr lang="en-US" altLang="zh-CN" dirty="0"/>
              <a:t>3</a:t>
            </a:r>
            <a:r>
              <a:rPr lang="zh-CN" altLang="en-US" dirty="0"/>
              <a:t>*</a:t>
            </a:r>
            <a:r>
              <a:rPr lang="en-US" altLang="zh-CN" dirty="0"/>
              <a:t>6=18</a:t>
            </a:r>
            <a:r>
              <a:rPr lang="zh-CN" altLang="en-US" dirty="0"/>
              <a:t>                                                            </a:t>
            </a:r>
            <a:r>
              <a:rPr lang="en-US" altLang="zh-CN" dirty="0"/>
              <a:t>1</a:t>
            </a:r>
          </a:p>
          <a:p>
            <a:r>
              <a:rPr lang="en-US" altLang="zh-CN" dirty="0"/>
              <a:t>H0 H1 </a:t>
            </a:r>
            <a:r>
              <a:rPr lang="zh-CN" altLang="en-US" dirty="0"/>
              <a:t>广播 包长 指令地址 字节数  ← </a:t>
            </a:r>
            <a:r>
              <a:rPr lang="en-US" altLang="zh-CN" dirty="0"/>
              <a:t>6</a:t>
            </a:r>
            <a:r>
              <a:rPr lang="zh-CN" altLang="en-US" dirty="0"/>
              <a:t>个舵机的</a:t>
            </a:r>
            <a:r>
              <a:rPr lang="en-US" altLang="zh-CN" dirty="0"/>
              <a:t>ID+</a:t>
            </a:r>
            <a:r>
              <a:rPr lang="zh-CN" altLang="en-US" dirty="0"/>
              <a:t>数据交替排列 →</a:t>
            </a:r>
            <a:endParaRPr lang="en-US" altLang="zh-CN" dirty="0"/>
          </a:p>
          <a:p>
            <a:r>
              <a:rPr lang="zh-CN" altLang="en-US" b="1" dirty="0"/>
              <a:t>（</a:t>
            </a:r>
            <a:r>
              <a:rPr lang="en-US" altLang="zh-CN" b="1" dirty="0"/>
              <a:t>24</a:t>
            </a:r>
            <a:r>
              <a:rPr lang="zh-CN" altLang="en-US" b="1" dirty="0"/>
              <a:t>字节）</a:t>
            </a:r>
          </a:p>
          <a:p>
            <a:endParaRPr lang="zh-CN" altLang="en-US" dirty="0"/>
          </a:p>
          <a:p>
            <a:r>
              <a:rPr lang="zh-CN" altLang="en-US" dirty="0"/>
              <a:t>电机收到后，各自解析属于自己的 </a:t>
            </a:r>
            <a:r>
              <a:rPr lang="en-US" altLang="zh-CN" dirty="0"/>
              <a:t>2 </a:t>
            </a:r>
            <a:r>
              <a:rPr lang="zh-CN" altLang="en-US" dirty="0"/>
              <a:t>字节，写入对应寄存器，</a:t>
            </a:r>
            <a:r>
              <a:rPr lang="zh-CN" altLang="en-US" b="1" dirty="0"/>
              <a:t>不回包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en-US" altLang="zh-CN" dirty="0"/>
              <a:t>FFFF-</a:t>
            </a:r>
            <a:r>
              <a:rPr lang="zh-CN" altLang="en-US" dirty="0"/>
              <a:t>包头。 </a:t>
            </a:r>
            <a:r>
              <a:rPr lang="en-US" altLang="zh-CN" dirty="0"/>
              <a:t>FE-</a:t>
            </a:r>
            <a:r>
              <a:rPr lang="zh-CN" altLang="en-US" dirty="0"/>
              <a:t>广播地址。</a:t>
            </a:r>
            <a:r>
              <a:rPr lang="en-US" altLang="zh-CN" dirty="0"/>
              <a:t>0A-</a:t>
            </a:r>
            <a:r>
              <a:rPr lang="zh-CN" altLang="en-US" dirty="0"/>
              <a:t>包长</a:t>
            </a:r>
            <a:r>
              <a:rPr lang="en-US" altLang="zh-CN" dirty="0"/>
              <a:t>=10byte</a:t>
            </a:r>
            <a:r>
              <a:rPr lang="zh-CN" altLang="en-US" dirty="0"/>
              <a:t>。</a:t>
            </a:r>
            <a:r>
              <a:rPr lang="en-US" altLang="zh-CN" dirty="0"/>
              <a:t>82-</a:t>
            </a:r>
            <a:r>
              <a:rPr lang="zh-CN" altLang="en-US" dirty="0"/>
              <a:t>指令码。</a:t>
            </a:r>
            <a:r>
              <a:rPr lang="en-US" altLang="zh-CN" dirty="0"/>
              <a:t>3802-</a:t>
            </a:r>
            <a:r>
              <a:rPr lang="zh-CN" altLang="en-US" dirty="0"/>
              <a:t>寄存器起始地址。</a:t>
            </a:r>
            <a:endParaRPr lang="en-US" altLang="zh-CN" dirty="0"/>
          </a:p>
          <a:p>
            <a:r>
              <a:rPr lang="en-US" altLang="zh-CN" dirty="0"/>
              <a:t>CHK-</a:t>
            </a:r>
            <a:r>
              <a:rPr lang="zh-CN" altLang="en-US" dirty="0"/>
              <a:t>校验和</a:t>
            </a:r>
            <a:r>
              <a:rPr lang="en-US" altLang="zh-CN" dirty="0"/>
              <a:t>SUM</a:t>
            </a:r>
            <a:r>
              <a:rPr lang="zh-CN" altLang="en-US" dirty="0"/>
              <a:t>。 读和写的包都差不多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E5DC707-22E0-BA95-E10F-AE078DEF3214}"/>
              </a:ext>
            </a:extLst>
          </p:cNvPr>
          <p:cNvSpPr txBox="1"/>
          <p:nvPr/>
        </p:nvSpPr>
        <p:spPr>
          <a:xfrm>
            <a:off x="6568169" y="4664466"/>
            <a:ext cx="6098720" cy="2830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  <a:buNone/>
            </a:pPr>
            <a:r>
              <a:rPr lang="en-US" altLang="zh-CN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self</a:t>
            </a:r>
            <a:r>
              <a:rPr lang="en-US" altLang="zh-CN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.sync_writer.</a:t>
            </a:r>
            <a:r>
              <a:rPr lang="en-US" altLang="zh-CN" b="0" dirty="0" err="1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addParam</a:t>
            </a:r>
            <a:r>
              <a:rPr lang="en-US" altLang="zh-CN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id_</a:t>
            </a:r>
            <a:r>
              <a:rPr lang="en-US" altLang="zh-CN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data</a:t>
            </a:r>
            <a:r>
              <a:rPr lang="en-US" altLang="zh-CN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</a:t>
            </a:r>
            <a:endParaRPr lang="en-US" altLang="zh-CN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236F172-CE11-D79A-E500-99B2BEC35616}"/>
              </a:ext>
            </a:extLst>
          </p:cNvPr>
          <p:cNvSpPr txBox="1"/>
          <p:nvPr/>
        </p:nvSpPr>
        <p:spPr>
          <a:xfrm>
            <a:off x="6096000" y="2051988"/>
            <a:ext cx="6335484" cy="2830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  <a:buNone/>
            </a:pPr>
            <a:r>
              <a:rPr lang="en-US" altLang="zh-CN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self</a:t>
            </a:r>
            <a:r>
              <a:rPr lang="en-US" altLang="zh-CN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.sync_reader.</a:t>
            </a:r>
            <a:r>
              <a:rPr lang="en-US" altLang="zh-CN" b="0" dirty="0" err="1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addParam</a:t>
            </a:r>
            <a:r>
              <a:rPr lang="en-US" altLang="zh-CN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id_</a:t>
            </a:r>
            <a:r>
              <a:rPr lang="en-US" altLang="zh-CN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</a:t>
            </a:r>
            <a:endParaRPr lang="en-US" altLang="zh-CN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8899963"/>
      </p:ext>
    </p:extLst>
  </p:cSld>
  <p:clrMapOvr>
    <a:masterClrMapping/>
  </p:clrMapOvr>
  <p:transition spd="med">
    <p:pull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9"/>
          <p:cNvSpPr>
            <a:spLocks noGrp="1"/>
          </p:cNvSpPr>
          <p:nvPr>
            <p:ph type="title"/>
          </p:nvPr>
        </p:nvSpPr>
        <p:spPr>
          <a:xfrm>
            <a:off x="1606550" y="344317"/>
            <a:ext cx="8643848" cy="480131"/>
          </a:xfrm>
        </p:spPr>
        <p:txBody>
          <a:bodyPr/>
          <a:lstStyle/>
          <a:p>
            <a:r>
              <a:rPr lang="zh-CN" altLang="en-US" dirty="0"/>
              <a:t>写：</a:t>
            </a:r>
            <a:r>
              <a:rPr lang="en-US" altLang="zh-CN" dirty="0" err="1"/>
              <a:t>Pyserial</a:t>
            </a:r>
            <a:r>
              <a:rPr lang="zh-CN" altLang="en-US" dirty="0"/>
              <a:t>到内核</a:t>
            </a:r>
          </a:p>
        </p:txBody>
      </p:sp>
      <p:sp>
        <p:nvSpPr>
          <p:cNvPr id="21" name="文本框 20"/>
          <p:cNvSpPr txBox="1">
            <a:spLocks noChangeArrowheads="1"/>
          </p:cNvSpPr>
          <p:nvPr/>
        </p:nvSpPr>
        <p:spPr bwMode="auto">
          <a:xfrm>
            <a:off x="357352" y="235111"/>
            <a:ext cx="969798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2286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marL="228600" marR="0" lvl="0" indent="-2286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6</a:t>
            </a:r>
            <a:endParaRPr kumimoji="0" lang="zh-CN" altLang="en-US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A698912-89BF-23E5-BE69-4675EA687ECC}"/>
              </a:ext>
            </a:extLst>
          </p:cNvPr>
          <p:cNvSpPr/>
          <p:nvPr/>
        </p:nvSpPr>
        <p:spPr>
          <a:xfrm>
            <a:off x="5812025" y="990352"/>
            <a:ext cx="2133600" cy="8199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/>
              <a:t>ser.write</a:t>
            </a:r>
            <a:r>
              <a:rPr lang="en-US" altLang="zh-CN" dirty="0"/>
              <a:t>(packet)</a:t>
            </a:r>
          </a:p>
          <a:p>
            <a:pPr algn="ctr"/>
            <a:r>
              <a:rPr kumimoji="1" lang="en-US" altLang="zh-CN" dirty="0" err="1">
                <a:solidFill>
                  <a:srgbClr val="FFFF00"/>
                </a:solidFill>
              </a:rPr>
              <a:t>serialposix.py</a:t>
            </a:r>
            <a:r>
              <a:rPr lang="en-US" altLang="zh-CN" dirty="0">
                <a:solidFill>
                  <a:srgbClr val="FFFF00"/>
                </a:solidFill>
              </a:rPr>
              <a:t> 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837BC7C-B7EC-80D5-8891-DC4C9E0E9AAB}"/>
              </a:ext>
            </a:extLst>
          </p:cNvPr>
          <p:cNvSpPr/>
          <p:nvPr/>
        </p:nvSpPr>
        <p:spPr>
          <a:xfrm>
            <a:off x="6096000" y="2571444"/>
            <a:ext cx="2135912" cy="3413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dirty="0" err="1"/>
              <a:t>select.select</a:t>
            </a:r>
            <a:r>
              <a:rPr lang="en-US" altLang="zh-CN" dirty="0"/>
              <a:t>()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9ACF2E5-B4ED-599B-F394-F8066428015D}"/>
              </a:ext>
            </a:extLst>
          </p:cNvPr>
          <p:cNvSpPr/>
          <p:nvPr/>
        </p:nvSpPr>
        <p:spPr>
          <a:xfrm>
            <a:off x="6096000" y="2013509"/>
            <a:ext cx="2135912" cy="3413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dirty="0" err="1"/>
              <a:t>os.write</a:t>
            </a:r>
            <a:r>
              <a:rPr lang="en-US" altLang="zh-CN" dirty="0"/>
              <a:t>(</a:t>
            </a:r>
            <a:r>
              <a:rPr lang="en-US" altLang="zh-CN" dirty="0" err="1"/>
              <a:t>self.fd</a:t>
            </a:r>
            <a:r>
              <a:rPr lang="en-US" altLang="zh-CN" dirty="0"/>
              <a:t>, d)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FF847CD-691F-C3B3-A242-D8B103B7CD8D}"/>
              </a:ext>
            </a:extLst>
          </p:cNvPr>
          <p:cNvSpPr/>
          <p:nvPr/>
        </p:nvSpPr>
        <p:spPr>
          <a:xfrm>
            <a:off x="10473889" y="2400756"/>
            <a:ext cx="1257222" cy="34137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dirty="0"/>
              <a:t>pselect6</a:t>
            </a: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629485E1-C988-F333-604F-D613AF4FDA34}"/>
              </a:ext>
            </a:extLst>
          </p:cNvPr>
          <p:cNvSpPr txBox="1"/>
          <p:nvPr/>
        </p:nvSpPr>
        <p:spPr>
          <a:xfrm>
            <a:off x="-5388" y="893600"/>
            <a:ext cx="6230114" cy="3670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350"/>
              </a:lnSpc>
              <a:buNone/>
            </a:pPr>
            <a:r>
              <a:rPr lang="en-US" altLang="zh-CN" sz="105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write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self, data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):</a:t>
            </a:r>
            <a:endParaRPr lang="en-US" altLang="zh-CN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# data: 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调用方传入的待发送数据</a:t>
            </a: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可以是 </a:t>
            </a: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bytes/</a:t>
            </a:r>
            <a:r>
              <a:rPr lang="en-US" altLang="zh-CN" sz="1050" b="0" dirty="0" err="1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bytearray</a:t>
            </a: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/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其他可转 </a:t>
            </a: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bytes 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的类型。</a:t>
            </a:r>
            <a:endParaRPr lang="zh-CN" altLang="en-US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# 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返回值</a:t>
            </a: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实际写入的总字节数。</a:t>
            </a:r>
            <a:endParaRPr lang="en-US" altLang="zh-CN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# 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循环发送</a:t>
            </a: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直到全部写完</a:t>
            </a: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或因为超时</a:t>
            </a: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/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取消</a:t>
            </a: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/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异常而退出。</a:t>
            </a:r>
            <a:endParaRPr lang="en-US" altLang="zh-CN" sz="1050" b="0" dirty="0">
              <a:solidFill>
                <a:srgbClr val="969696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d </a:t>
            </a:r>
            <a:r>
              <a:rPr lang="en-US" altLang="zh-CN" sz="100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altLang="zh-CN" sz="10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 err="1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to_bytes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0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data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)#</a:t>
            </a:r>
            <a:r>
              <a:rPr lang="zh-CN" altLang="en-US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 转成字节</a:t>
            </a:r>
            <a:endParaRPr lang="en-US" altLang="zh-CN" sz="10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0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tx_len</a:t>
            </a:r>
            <a:r>
              <a:rPr lang="en-US" altLang="zh-CN" sz="10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altLang="zh-CN" sz="10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length </a:t>
            </a:r>
            <a:r>
              <a:rPr lang="en-US" altLang="zh-CN" sz="100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altLang="zh-CN" sz="10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 err="1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len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0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d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)#</a:t>
            </a:r>
            <a:r>
              <a:rPr lang="zh-CN" altLang="en-US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计算长度</a:t>
            </a:r>
            <a:endParaRPr lang="zh-CN" altLang="en-US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5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while</a:t>
            </a: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tx_len</a:t>
            </a: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&gt;</a:t>
            </a: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0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:</a:t>
            </a:r>
            <a:endParaRPr lang="en-US" altLang="zh-CN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ts val="1350"/>
              </a:lnSpc>
            </a:pPr>
            <a:r>
              <a:rPr lang="en-US" altLang="zh-CN" sz="105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try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:</a:t>
            </a:r>
            <a:endParaRPr lang="en-US" altLang="zh-CN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ts val="1350"/>
              </a:lnSpc>
            </a:pP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# 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真正执行系统调用 </a:t>
            </a:r>
            <a:r>
              <a:rPr lang="en-US" altLang="zh-CN" sz="1050" b="0" dirty="0" err="1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os.write</a:t>
            </a: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050" b="0" dirty="0" err="1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self.fd</a:t>
            </a: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, d), 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将用户态缓冲区写入串口驱动。</a:t>
            </a:r>
            <a:endParaRPr lang="zh-CN" altLang="en-US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ts val="1350"/>
              </a:lnSpc>
            </a:pP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n </a:t>
            </a:r>
            <a:r>
              <a:rPr lang="en-US" altLang="zh-CN" sz="105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os.</a:t>
            </a:r>
            <a:r>
              <a:rPr lang="en-US" altLang="zh-CN" sz="1050" b="0" dirty="0" err="1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write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05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self.fd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d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</a:t>
            </a:r>
            <a:endParaRPr lang="en-US" altLang="zh-CN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ts val="1350"/>
              </a:lnSpc>
            </a:pPr>
            <a:r>
              <a:rPr lang="en-US" altLang="zh-CN" sz="105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not</a:t>
            </a: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timeout.is_infinite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:</a:t>
            </a:r>
            <a:endParaRPr lang="en-US" altLang="zh-CN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 lvl="2">
              <a:lnSpc>
                <a:spcPts val="1350"/>
              </a:lnSpc>
            </a:pP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# 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当 </a:t>
            </a: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timeout 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不为 </a:t>
            </a: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None, 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使用 </a:t>
            </a: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select 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等待 </a:t>
            </a:r>
            <a:r>
              <a:rPr lang="en-US" altLang="zh-CN" sz="1050" b="0" dirty="0" err="1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fd</a:t>
            </a: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变为“可写”。</a:t>
            </a:r>
            <a:endParaRPr lang="zh-CN" altLang="en-US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 lvl="2">
              <a:lnSpc>
                <a:spcPts val="1350"/>
              </a:lnSpc>
            </a:pPr>
            <a:r>
              <a:rPr lang="en-US" altLang="zh-CN" sz="105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timeout.</a:t>
            </a:r>
            <a:r>
              <a:rPr lang="en-US" altLang="zh-CN" sz="1050" b="0" dirty="0" err="1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expired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():</a:t>
            </a:r>
            <a:endParaRPr lang="en-US" altLang="zh-CN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 lvl="3">
              <a:lnSpc>
                <a:spcPts val="1350"/>
              </a:lnSpc>
            </a:pPr>
            <a:r>
              <a:rPr lang="en-US" altLang="zh-CN" sz="105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raise</a:t>
            </a: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 err="1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SerialTimeoutException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05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'Write timeout'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</a:t>
            </a:r>
            <a:endParaRPr lang="en-US" altLang="zh-CN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 lvl="3">
              <a:lnSpc>
                <a:spcPts val="1350"/>
              </a:lnSpc>
            </a:pP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# 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等待串口 </a:t>
            </a:r>
            <a:r>
              <a:rPr lang="en-US" altLang="zh-CN" sz="1050" b="0" dirty="0" err="1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fd</a:t>
            </a: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重新变为可写</a:t>
            </a: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同时监听取消写操作的管道 </a:t>
            </a:r>
            <a:r>
              <a:rPr lang="en-US" altLang="zh-CN" sz="1050" b="0" dirty="0" err="1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fd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。</a:t>
            </a:r>
            <a:endParaRPr lang="en-US" altLang="zh-CN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 lvl="3">
              <a:lnSpc>
                <a:spcPts val="1350"/>
              </a:lnSpc>
            </a:pP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abort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ready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_ </a:t>
            </a:r>
            <a:r>
              <a:rPr lang="en-US" altLang="zh-CN" sz="105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select.</a:t>
            </a:r>
            <a:r>
              <a:rPr lang="en-US" altLang="zh-CN" sz="1050" b="0" dirty="0" err="1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select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([</a:t>
            </a:r>
            <a:r>
              <a:rPr lang="en-US" altLang="zh-CN" sz="105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self.pipe_abort_write_r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],</a:t>
            </a: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US" altLang="zh-CN" sz="105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self.fd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],</a:t>
            </a: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[],</a:t>
            </a: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timeout.</a:t>
            </a:r>
            <a:r>
              <a:rPr lang="en-US" altLang="zh-CN" sz="1050" b="0" dirty="0" err="1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time_left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())</a:t>
            </a:r>
            <a:endParaRPr lang="en-US" altLang="zh-CN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ts val="1350"/>
              </a:lnSpc>
            </a:pP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# 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丢弃已经成功发出的前 </a:t>
            </a: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n 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个字节</a:t>
            </a: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继续发送剩余部分。</a:t>
            </a:r>
            <a:endParaRPr lang="zh-CN" altLang="en-US" sz="1050" b="0" dirty="0">
              <a:solidFill>
                <a:srgbClr val="3778B7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ts val="1350"/>
              </a:lnSpc>
            </a:pP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d </a:t>
            </a:r>
            <a:r>
              <a:rPr lang="en-US" altLang="zh-CN" sz="105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d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n: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]</a:t>
            </a:r>
            <a:endParaRPr lang="en-US" altLang="zh-CN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ts val="1350"/>
              </a:lnSpc>
            </a:pPr>
            <a:r>
              <a:rPr lang="en-US" altLang="zh-CN" sz="105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tx_len</a:t>
            </a: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-=</a:t>
            </a: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n</a:t>
            </a:r>
            <a:endParaRPr lang="en-US" altLang="zh-CN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F6B84580-5122-7A8F-1AF2-27F4F1BAA4A5}"/>
              </a:ext>
            </a:extLst>
          </p:cNvPr>
          <p:cNvSpPr/>
          <p:nvPr/>
        </p:nvSpPr>
        <p:spPr>
          <a:xfrm>
            <a:off x="10473889" y="2015186"/>
            <a:ext cx="1257222" cy="34137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dirty="0"/>
              <a:t>write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B771AFAD-2FAC-488A-E7E3-30794198E006}"/>
              </a:ext>
            </a:extLst>
          </p:cNvPr>
          <p:cNvSpPr/>
          <p:nvPr/>
        </p:nvSpPr>
        <p:spPr>
          <a:xfrm>
            <a:off x="9540110" y="2010461"/>
            <a:ext cx="811418" cy="73167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Glibc</a:t>
            </a:r>
          </a:p>
          <a:p>
            <a:pPr algn="ctr"/>
            <a:r>
              <a:rPr lang="zh-CN" altLang="en-US" dirty="0"/>
              <a:t>封装</a:t>
            </a:r>
            <a:endParaRPr lang="en-US" altLang="zh-CN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F4477CDE-A849-2AE3-1EC9-32A6CE0EC94F}"/>
              </a:ext>
            </a:extLst>
          </p:cNvPr>
          <p:cNvSpPr txBox="1"/>
          <p:nvPr/>
        </p:nvSpPr>
        <p:spPr>
          <a:xfrm>
            <a:off x="10511911" y="1582370"/>
            <a:ext cx="9066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 err="1"/>
              <a:t>Syscall</a:t>
            </a:r>
            <a:endParaRPr kumimoji="1"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9C6AEB5C-C834-0439-D6C9-AAEC25BA2300}"/>
              </a:ext>
            </a:extLst>
          </p:cNvPr>
          <p:cNvSpPr txBox="1"/>
          <p:nvPr/>
        </p:nvSpPr>
        <p:spPr>
          <a:xfrm>
            <a:off x="8400054" y="1136822"/>
            <a:ext cx="1140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 err="1"/>
              <a:t>Pyserical</a:t>
            </a:r>
            <a:endParaRPr kumimoji="1" lang="zh-CN" altLang="en-US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6A269333-F9A6-F6D6-62EC-6E9FF255B4B5}"/>
              </a:ext>
            </a:extLst>
          </p:cNvPr>
          <p:cNvSpPr/>
          <p:nvPr/>
        </p:nvSpPr>
        <p:spPr>
          <a:xfrm>
            <a:off x="8284010" y="2010461"/>
            <a:ext cx="1140056" cy="731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 err="1"/>
              <a:t>Cpython</a:t>
            </a:r>
            <a:r>
              <a:rPr lang="zh-CN" altLang="en-US" dirty="0"/>
              <a:t>封装</a:t>
            </a:r>
            <a:endParaRPr lang="en-US" altLang="zh-CN" dirty="0"/>
          </a:p>
        </p:txBody>
      </p:sp>
      <p:cxnSp>
        <p:nvCxnSpPr>
          <p:cNvPr id="34" name="直线箭头连接符 33">
            <a:extLst>
              <a:ext uri="{FF2B5EF4-FFF2-40B4-BE49-F238E27FC236}">
                <a16:creationId xmlns:a16="http://schemas.microsoft.com/office/drawing/2014/main" id="{F66FD73F-9FDC-0E65-C49F-052C0C45D747}"/>
              </a:ext>
            </a:extLst>
          </p:cNvPr>
          <p:cNvCxnSpPr>
            <a:stCxn id="14" idx="2"/>
            <a:endCxn id="22" idx="0"/>
          </p:cNvCxnSpPr>
          <p:nvPr/>
        </p:nvCxnSpPr>
        <p:spPr>
          <a:xfrm>
            <a:off x="6878825" y="1810264"/>
            <a:ext cx="285131" cy="2032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线箭头连接符 35">
            <a:extLst>
              <a:ext uri="{FF2B5EF4-FFF2-40B4-BE49-F238E27FC236}">
                <a16:creationId xmlns:a16="http://schemas.microsoft.com/office/drawing/2014/main" id="{2598FBCA-9D92-DCF5-1F4B-C30CCAE6F36C}"/>
              </a:ext>
            </a:extLst>
          </p:cNvPr>
          <p:cNvCxnSpPr>
            <a:stCxn id="22" idx="2"/>
            <a:endCxn id="15" idx="0"/>
          </p:cNvCxnSpPr>
          <p:nvPr/>
        </p:nvCxnSpPr>
        <p:spPr>
          <a:xfrm>
            <a:off x="7163956" y="2354885"/>
            <a:ext cx="0" cy="2165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肘形连接符 37">
            <a:extLst>
              <a:ext uri="{FF2B5EF4-FFF2-40B4-BE49-F238E27FC236}">
                <a16:creationId xmlns:a16="http://schemas.microsoft.com/office/drawing/2014/main" id="{8396CD61-FFA6-A244-BA3D-15DB9C5E2FEB}"/>
              </a:ext>
            </a:extLst>
          </p:cNvPr>
          <p:cNvCxnSpPr>
            <a:cxnSpLocks/>
            <a:stCxn id="15" idx="2"/>
            <a:endCxn id="22" idx="1"/>
          </p:cNvCxnSpPr>
          <p:nvPr/>
        </p:nvCxnSpPr>
        <p:spPr>
          <a:xfrm rot="5400000" flipH="1">
            <a:off x="6265666" y="2014531"/>
            <a:ext cx="728623" cy="1067956"/>
          </a:xfrm>
          <a:prstGeom prst="bentConnector4">
            <a:avLst>
              <a:gd name="adj1" fmla="val -31374"/>
              <a:gd name="adj2" fmla="val 12140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12E60DE6-492D-C6DE-4CF9-D88E76E923B4}"/>
              </a:ext>
            </a:extLst>
          </p:cNvPr>
          <p:cNvSpPr txBox="1"/>
          <p:nvPr/>
        </p:nvSpPr>
        <p:spPr>
          <a:xfrm>
            <a:off x="6123794" y="3312070"/>
            <a:ext cx="4597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循环调用尝试</a:t>
            </a:r>
            <a:r>
              <a:rPr kumimoji="1" lang="en-US" altLang="zh-CN" dirty="0"/>
              <a:t>write</a:t>
            </a:r>
            <a:r>
              <a:rPr kumimoji="1" lang="zh-CN" altLang="en-US" dirty="0"/>
              <a:t>，不能写就</a:t>
            </a:r>
            <a:r>
              <a:rPr kumimoji="1" lang="en-US" altLang="zh-CN" dirty="0"/>
              <a:t>select</a:t>
            </a:r>
            <a:r>
              <a:rPr kumimoji="1" lang="zh-CN" altLang="en-US" dirty="0"/>
              <a:t>阻塞等</a:t>
            </a: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498DBCF5-F288-EE29-035F-2C804E633512}"/>
              </a:ext>
            </a:extLst>
          </p:cNvPr>
          <p:cNvSpPr txBox="1"/>
          <p:nvPr/>
        </p:nvSpPr>
        <p:spPr>
          <a:xfrm>
            <a:off x="57550" y="5164566"/>
            <a:ext cx="4724370" cy="799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  <a:buNone/>
            </a:pPr>
            <a:r>
              <a:rPr lang="en-US" altLang="zh-CN" sz="110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altLang="zh-CN" sz="11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1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flush</a:t>
            </a: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1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self</a:t>
            </a: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):</a:t>
            </a:r>
            <a:endParaRPr lang="en-US" altLang="zh-CN" sz="1100" b="0" dirty="0">
              <a:solidFill>
                <a:srgbClr val="3778B7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ts val="1350"/>
              </a:lnSpc>
            </a:pPr>
            <a:r>
              <a:rPr lang="en-US" altLang="zh-CN" sz="11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US" altLang="zh-CN" sz="11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1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not</a:t>
            </a:r>
            <a:r>
              <a:rPr lang="en-US" altLang="zh-CN" sz="11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10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self.is_open</a:t>
            </a: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:</a:t>
            </a:r>
            <a:endParaRPr lang="en-US" altLang="zh-CN" sz="11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ts val="1350"/>
              </a:lnSpc>
            </a:pPr>
            <a:r>
              <a:rPr lang="en-US" altLang="zh-CN" sz="11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raise</a:t>
            </a:r>
            <a:r>
              <a:rPr lang="en-US" altLang="zh-CN" sz="11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100" b="0" dirty="0" err="1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PortNotOpenError</a:t>
            </a: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()</a:t>
            </a:r>
            <a:endParaRPr lang="en-US" altLang="zh-CN" sz="11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ts val="1350"/>
              </a:lnSpc>
            </a:pPr>
            <a:r>
              <a:rPr lang="en-US" altLang="zh-CN" sz="110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termios.</a:t>
            </a:r>
            <a:r>
              <a:rPr lang="en-US" altLang="zh-CN" sz="1100" b="0" dirty="0" err="1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tcdrain</a:t>
            </a: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10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self.fd</a:t>
            </a: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</a:t>
            </a:r>
            <a:r>
              <a:rPr lang="zh-CN" altLang="en-US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  </a:t>
            </a: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#</a:t>
            </a:r>
            <a:r>
              <a:rPr lang="en-US" altLang="zh-CN" sz="1100" b="0" dirty="0" err="1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glibc</a:t>
            </a:r>
            <a:r>
              <a:rPr lang="zh-CN" altLang="en-US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的</a:t>
            </a:r>
            <a:r>
              <a:rPr lang="en-US" altLang="zh-CN" sz="1100" b="0" dirty="0" err="1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tcdrain</a:t>
            </a:r>
            <a:endParaRPr lang="en-US" altLang="zh-CN" sz="11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AB07A634-C6B7-0491-9CCB-19C1FE6E358C}"/>
              </a:ext>
            </a:extLst>
          </p:cNvPr>
          <p:cNvSpPr txBox="1"/>
          <p:nvPr/>
        </p:nvSpPr>
        <p:spPr>
          <a:xfrm>
            <a:off x="5097628" y="4742222"/>
            <a:ext cx="4724370" cy="13353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1350"/>
              </a:lnSpc>
              <a:buNone/>
            </a:pPr>
            <a:r>
              <a:rPr lang="en-US" altLang="zh-CN" sz="10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int</a:t>
            </a:r>
            <a:endParaRPr lang="en-US" altLang="zh-CN" sz="10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__</a:t>
            </a:r>
            <a:r>
              <a:rPr lang="en-US" altLang="zh-CN" sz="1000" b="0" dirty="0" err="1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libc_tcdrain</a:t>
            </a:r>
            <a:r>
              <a:rPr lang="en-US" altLang="zh-CN" sz="10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0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int</a:t>
            </a:r>
            <a:r>
              <a:rPr lang="en-US" altLang="zh-CN" sz="10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fd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</a:t>
            </a:r>
            <a:endParaRPr lang="en-US" altLang="zh-CN" sz="10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{</a:t>
            </a:r>
            <a:endParaRPr lang="en-US" altLang="zh-CN" sz="10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0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/* With an argument of 1, TCSBRK for output to be drain. */</a:t>
            </a:r>
            <a:endParaRPr lang="en-US" altLang="zh-CN" sz="10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US" altLang="zh-CN" sz="10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SYSCALL_CANCEL</a:t>
            </a:r>
            <a:r>
              <a:rPr lang="en-US" altLang="zh-CN" sz="10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000" b="0" dirty="0" err="1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ioctl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0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 err="1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fd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0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 TCSBRK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0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);</a:t>
            </a:r>
            <a:endParaRPr lang="en-US" altLang="zh-CN" sz="10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}</a:t>
            </a:r>
            <a:endParaRPr lang="en-US" altLang="zh-CN" sz="10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00" b="0" dirty="0" err="1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weak_alias</a:t>
            </a:r>
            <a:r>
              <a:rPr lang="en-US" altLang="zh-CN" sz="10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0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__</a:t>
            </a:r>
            <a:r>
              <a:rPr lang="en-US" altLang="zh-CN" sz="1000" b="0" dirty="0" err="1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libc_tcdrain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0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 err="1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tcdrain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</a:t>
            </a:r>
            <a:endParaRPr lang="en-US" altLang="zh-CN" sz="10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0C56D14C-6B05-97CD-486A-E41960B2BA35}"/>
              </a:ext>
            </a:extLst>
          </p:cNvPr>
          <p:cNvSpPr txBox="1"/>
          <p:nvPr/>
        </p:nvSpPr>
        <p:spPr>
          <a:xfrm>
            <a:off x="8646701" y="5564483"/>
            <a:ext cx="29546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直接</a:t>
            </a:r>
            <a:r>
              <a:rPr kumimoji="1" lang="en-US" altLang="zh-CN" dirty="0" err="1"/>
              <a:t>syscall</a:t>
            </a:r>
            <a:r>
              <a:rPr kumimoji="1" lang="zh-CN" altLang="en-US" dirty="0"/>
              <a:t>（</a:t>
            </a:r>
            <a:r>
              <a:rPr kumimoji="1" lang="en-US" altLang="zh-CN" dirty="0" err="1"/>
              <a:t>ioctl</a:t>
            </a:r>
            <a:endParaRPr kumimoji="1" lang="en-US" altLang="zh-CN" dirty="0"/>
          </a:p>
          <a:p>
            <a:r>
              <a:rPr lang="zh-CN" altLang="en-US" dirty="0"/>
              <a:t>等串口待发送数据真正发完</a:t>
            </a:r>
            <a:endParaRPr kumimoji="1"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275D5C7D-BAEC-BD40-4B0C-2288332F9302}"/>
              </a:ext>
            </a:extLst>
          </p:cNvPr>
          <p:cNvSpPr txBox="1"/>
          <p:nvPr/>
        </p:nvSpPr>
        <p:spPr>
          <a:xfrm>
            <a:off x="109336" y="4446788"/>
            <a:ext cx="87447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Flush</a:t>
            </a:r>
            <a:r>
              <a:rPr kumimoji="1" lang="zh-CN" altLang="en-US" dirty="0"/>
              <a:t>直接调用</a:t>
            </a:r>
            <a:r>
              <a:rPr lang="en-US" altLang="zh-CN" dirty="0" err="1">
                <a:solidFill>
                  <a:srgbClr val="A56416"/>
                </a:solidFill>
                <a:latin typeface="Menlo" panose="020B0609030804020204" pitchFamily="49" charset="0"/>
              </a:rPr>
              <a:t>tcdrain</a:t>
            </a:r>
            <a:r>
              <a:rPr lang="zh-CN" altLang="en-US" dirty="0">
                <a:solidFill>
                  <a:srgbClr val="A56416"/>
                </a:solidFill>
                <a:latin typeface="Menlo" panose="020B0609030804020204" pitchFamily="49" charset="0"/>
              </a:rPr>
              <a:t>直接调用</a:t>
            </a:r>
            <a:r>
              <a:rPr lang="en-US" altLang="zh-CN" dirty="0">
                <a:solidFill>
                  <a:srgbClr val="B052A1"/>
                </a:solidFill>
                <a:latin typeface="Menlo" panose="020B0609030804020204" pitchFamily="49" charset="0"/>
              </a:rPr>
              <a:t>SYSCALL_CANCEL</a:t>
            </a:r>
            <a:r>
              <a:rPr lang="en-US" altLang="zh-CN" dirty="0">
                <a:solidFill>
                  <a:srgbClr val="333333"/>
                </a:solidFill>
                <a:latin typeface="Menlo" panose="020B0609030804020204" pitchFamily="49" charset="0"/>
              </a:rPr>
              <a:t> </a:t>
            </a:r>
            <a:r>
              <a:rPr lang="en-US" altLang="zh-CN" dirty="0">
                <a:solidFill>
                  <a:srgbClr val="1A1A1A"/>
                </a:solidFill>
                <a:latin typeface="Menlo" panose="020B0609030804020204" pitchFamily="49" charset="0"/>
              </a:rPr>
              <a:t>(</a:t>
            </a:r>
            <a:r>
              <a:rPr lang="en-US" altLang="zh-CN" dirty="0" err="1">
                <a:solidFill>
                  <a:srgbClr val="333333"/>
                </a:solidFill>
                <a:latin typeface="Menlo" panose="020B0609030804020204" pitchFamily="49" charset="0"/>
              </a:rPr>
              <a:t>ioctl</a:t>
            </a:r>
            <a:r>
              <a:rPr lang="en-US" altLang="zh-CN" dirty="0">
                <a:solidFill>
                  <a:srgbClr val="1A1A1A"/>
                </a:solidFill>
                <a:latin typeface="Menlo" panose="020B0609030804020204" pitchFamily="49" charset="0"/>
              </a:rPr>
              <a:t>,</a:t>
            </a:r>
            <a:r>
              <a:rPr lang="en-US" altLang="zh-CN" dirty="0">
                <a:solidFill>
                  <a:srgbClr val="333333"/>
                </a:solidFill>
                <a:latin typeface="Menlo" panose="020B0609030804020204" pitchFamily="49" charset="0"/>
              </a:rPr>
              <a:t> </a:t>
            </a:r>
            <a:r>
              <a:rPr lang="en-US" altLang="zh-CN" dirty="0" err="1">
                <a:solidFill>
                  <a:srgbClr val="333333"/>
                </a:solidFill>
                <a:latin typeface="Menlo" panose="020B0609030804020204" pitchFamily="49" charset="0"/>
              </a:rPr>
              <a:t>fd</a:t>
            </a:r>
            <a:r>
              <a:rPr lang="en-US" altLang="zh-CN" dirty="0">
                <a:solidFill>
                  <a:srgbClr val="1A1A1A"/>
                </a:solidFill>
                <a:latin typeface="Menlo" panose="020B0609030804020204" pitchFamily="49" charset="0"/>
              </a:rPr>
              <a:t>,</a:t>
            </a:r>
            <a:r>
              <a:rPr lang="en-US" altLang="zh-CN" dirty="0">
                <a:solidFill>
                  <a:srgbClr val="333333"/>
                </a:solidFill>
                <a:latin typeface="Menlo" panose="020B0609030804020204" pitchFamily="49" charset="0"/>
              </a:rPr>
              <a:t> TCSBRK</a:t>
            </a:r>
            <a:r>
              <a:rPr lang="en-US" altLang="zh-CN" dirty="0">
                <a:solidFill>
                  <a:srgbClr val="1A1A1A"/>
                </a:solidFill>
                <a:latin typeface="Menlo" panose="020B0609030804020204" pitchFamily="49" charset="0"/>
              </a:rPr>
              <a:t>,</a:t>
            </a:r>
            <a:r>
              <a:rPr lang="en-US" altLang="zh-CN" dirty="0">
                <a:solidFill>
                  <a:srgbClr val="333333"/>
                </a:solidFill>
                <a:latin typeface="Menlo" panose="020B0609030804020204" pitchFamily="49" charset="0"/>
              </a:rPr>
              <a:t> </a:t>
            </a:r>
            <a:r>
              <a:rPr lang="en-US" altLang="zh-CN" dirty="0">
                <a:solidFill>
                  <a:srgbClr val="3778B7"/>
                </a:solidFill>
                <a:latin typeface="Menlo" panose="020B0609030804020204" pitchFamily="49" charset="0"/>
              </a:rPr>
              <a:t>1</a:t>
            </a:r>
            <a:r>
              <a:rPr lang="en-US" altLang="zh-CN" dirty="0">
                <a:solidFill>
                  <a:srgbClr val="1A1A1A"/>
                </a:solidFill>
                <a:latin typeface="Menlo" panose="020B0609030804020204" pitchFamily="49" charset="0"/>
              </a:rPr>
              <a:t>)</a:t>
            </a:r>
          </a:p>
          <a:p>
            <a:r>
              <a:rPr lang="en-US" altLang="zh-CN" dirty="0"/>
              <a:t>POSIX </a:t>
            </a:r>
            <a:r>
              <a:rPr lang="zh-CN" altLang="en-US" dirty="0"/>
              <a:t>标准函数，</a:t>
            </a:r>
            <a:r>
              <a:rPr lang="zh-CN" altLang="en-US" b="1" dirty="0"/>
              <a:t>等待所有输出数据被发送完毕</a:t>
            </a:r>
            <a:endParaRPr kumimoji="1" lang="zh-CN" altLang="en-US" dirty="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D2828F3-C691-6607-D62C-A06FB380D5D5}"/>
              </a:ext>
            </a:extLst>
          </p:cNvPr>
          <p:cNvSpPr/>
          <p:nvPr/>
        </p:nvSpPr>
        <p:spPr>
          <a:xfrm>
            <a:off x="10789958" y="3746490"/>
            <a:ext cx="735735" cy="73167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dirty="0" err="1"/>
              <a:t>ioctl</a:t>
            </a:r>
            <a:endParaRPr lang="en-US" altLang="zh-CN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56029F5-1D01-5B99-ECB5-5659E1C911D1}"/>
              </a:ext>
            </a:extLst>
          </p:cNvPr>
          <p:cNvSpPr/>
          <p:nvPr/>
        </p:nvSpPr>
        <p:spPr>
          <a:xfrm>
            <a:off x="9216683" y="3746491"/>
            <a:ext cx="1504523" cy="73167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Glibc</a:t>
            </a:r>
          </a:p>
          <a:p>
            <a:pPr algn="ctr"/>
            <a:r>
              <a:rPr lang="en-US" altLang="zh-CN" dirty="0" err="1">
                <a:solidFill>
                  <a:srgbClr val="B052A1"/>
                </a:solidFill>
                <a:latin typeface="Menlo" panose="020B0609030804020204" pitchFamily="49" charset="0"/>
              </a:rPr>
              <a:t>tcdrain</a:t>
            </a:r>
            <a:endParaRPr lang="en-US" altLang="zh-CN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A55BC38-0DBB-FE11-C3B1-305E0A0D04BD}"/>
              </a:ext>
            </a:extLst>
          </p:cNvPr>
          <p:cNvSpPr/>
          <p:nvPr/>
        </p:nvSpPr>
        <p:spPr>
          <a:xfrm>
            <a:off x="7936505" y="3746491"/>
            <a:ext cx="1211425" cy="731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 err="1"/>
              <a:t>Cpython</a:t>
            </a:r>
            <a:r>
              <a:rPr lang="en-US" altLang="zh-CN" dirty="0" err="1">
                <a:solidFill>
                  <a:srgbClr val="B052A1"/>
                </a:solidFill>
                <a:latin typeface="Menlo" panose="020B0609030804020204" pitchFamily="49" charset="0"/>
              </a:rPr>
              <a:t>tcdrain</a:t>
            </a:r>
            <a:endParaRPr lang="en-US" altLang="zh-CN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E378FA7-4167-DCDA-82C5-A7B5106B30CB}"/>
              </a:ext>
            </a:extLst>
          </p:cNvPr>
          <p:cNvSpPr/>
          <p:nvPr/>
        </p:nvSpPr>
        <p:spPr>
          <a:xfrm>
            <a:off x="6587371" y="3746491"/>
            <a:ext cx="1235482" cy="7316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/>
              <a:t>ser.flush</a:t>
            </a:r>
            <a:endParaRPr lang="en-US" altLang="zh-CN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61BA726-DA26-B044-79CA-CCE506A5682F}"/>
              </a:ext>
            </a:extLst>
          </p:cNvPr>
          <p:cNvSpPr txBox="1"/>
          <p:nvPr/>
        </p:nvSpPr>
        <p:spPr>
          <a:xfrm>
            <a:off x="7843338" y="4763574"/>
            <a:ext cx="32591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cpython</a:t>
            </a:r>
            <a:r>
              <a:rPr lang="en-US" altLang="zh-CN" dirty="0"/>
              <a:t>/Modules/</a:t>
            </a:r>
            <a:r>
              <a:rPr lang="en-US" altLang="zh-CN" dirty="0" err="1"/>
              <a:t>termios.c</a:t>
            </a:r>
            <a:endParaRPr lang="en-US" altLang="zh-CN" dirty="0"/>
          </a:p>
          <a:p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821972348"/>
      </p:ext>
    </p:extLst>
  </p:cSld>
  <p:clrMapOvr>
    <a:masterClrMapping/>
  </p:clrMapOvr>
  <p:transition spd="med">
    <p:pull/>
  </p:transition>
</p:sld>
</file>

<file path=ppt/theme/theme1.xml><?xml version="1.0" encoding="utf-8"?>
<a:theme xmlns:a="http://schemas.openxmlformats.org/drawingml/2006/main" name="内页​​">
  <a:themeElements>
    <a:clrScheme name="自定义 34">
      <a:dk1>
        <a:sysClr val="windowText" lastClr="000000"/>
      </a:dk1>
      <a:lt1>
        <a:sysClr val="window" lastClr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5DB497F5-6951-9E42-8F4E-D0E9C0853E23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fb71dc2f-75d1-4bcd-b8e9-c534ffaed1ea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89EF2B67-DC27-A44E-AF0E-970366EE2622}">
  <we:reference id="69d1cb02-b65b-4ca3-b7df-88ddb1cf8eaa" version="1.0.0.0" store="developer" storeType="Registry"/>
  <we:alternateReferences/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3270</TotalTime>
  <Words>2059</Words>
  <Application>Microsoft Macintosh PowerPoint</Application>
  <PresentationFormat>宽屏</PresentationFormat>
  <Paragraphs>256</Paragraphs>
  <Slides>7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6" baseType="lpstr">
      <vt:lpstr>-apple-system</vt:lpstr>
      <vt:lpstr>等线</vt:lpstr>
      <vt:lpstr>微软雅黑</vt:lpstr>
      <vt:lpstr>Arial</vt:lpstr>
      <vt:lpstr>Century Gothic</vt:lpstr>
      <vt:lpstr>Consolas</vt:lpstr>
      <vt:lpstr>Courier New</vt:lpstr>
      <vt:lpstr>Menlo</vt:lpstr>
      <vt:lpstr>内页​​</vt:lpstr>
      <vt:lpstr>PowerPoint 演示文稿</vt:lpstr>
      <vt:lpstr>软件栈</vt:lpstr>
      <vt:lpstr>一个frame涉及到的数据</vt:lpstr>
      <vt:lpstr>舵机执行逻辑</vt:lpstr>
      <vt:lpstr>scservo_sdk内部逻辑</vt:lpstr>
      <vt:lpstr>发/收包，这一步在scservo_sdk里面解析完成</vt:lpstr>
      <vt:lpstr>写：Pyserial到内核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- Vel</dc:creator>
  <cp:keywords/>
  <dc:description/>
  <cp:lastModifiedBy>- Vel</cp:lastModifiedBy>
  <cp:revision>20</cp:revision>
  <dcterms:created xsi:type="dcterms:W3CDTF">2026-04-03T03:36:25Z</dcterms:created>
  <dcterms:modified xsi:type="dcterms:W3CDTF">2026-04-29T14:21:31Z</dcterms:modified>
  <cp:category/>
</cp:coreProperties>
</file>