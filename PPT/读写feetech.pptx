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735" r:id="rId2"/>
    <p:sldId id="2733" r:id="rId3"/>
    <p:sldId id="2732" r:id="rId4"/>
    <p:sldId id="2734" r:id="rId5"/>
    <p:sldId id="2737" r:id="rId6"/>
    <p:sldId id="2738" r:id="rId7"/>
    <p:sldId id="273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82"/>
    <p:restoredTop sz="94789"/>
  </p:normalViewPr>
  <p:slideViewPr>
    <p:cSldViewPr snapToGrid="0">
      <p:cViewPr>
        <p:scale>
          <a:sx n="81" d="100"/>
          <a:sy n="81" d="100"/>
        </p:scale>
        <p:origin x="504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F7486-D2D4-4448-B3D0-FB1C93C2041B}" type="datetimeFigureOut">
              <a:rPr kumimoji="1" lang="zh-CN" altLang="en-US" smtClean="0"/>
              <a:t>2026/4/16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2B8A5-5670-2B4E-B9F4-77CFD53B7E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981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8AE8-AB6E-8CAB-3780-3D45D42E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648D99-A5D1-2B1C-3A47-91EB13F66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FBF568-8F94-7079-449C-62B788026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455B7-2FE3-90BF-8DE3-45F97BA709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2472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B3603-5E3B-5F09-B218-5895D768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E6E612-5FFA-470A-6901-CF7CEBFF1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CC75BF-EA00-06C9-CE13-6F0587850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4FC0D2-D554-AF8B-52DB-FCBE027FF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037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101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F6EC-5184-426D-DE7F-9898483D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8A8D39-4192-E8B6-6FED-161C2CF93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66849C-B2B3-0384-75B0-97EE8740D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9B525B-9F22-89C0-5739-BA2C9192A2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731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2C03B-4D34-BABD-FBB8-BF467531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5A9CAF-BE74-73C1-053B-1114D5D85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4FFD4C-9E60-08B0-9102-D3B159D63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411346-D606-4F73-F23C-7B4752DAA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185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0629-FF39-1A49-F453-C4E6AFFE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26B844-D291-81F9-886B-5A31DBF72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1FE3CC-AD98-177D-970A-B10EB99D6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EE24C1-DD21-06C9-82BC-D3DA242FE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868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2B3CC-C237-A61B-A00E-07EC1F31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B04B36-E058-DA0F-E17A-851372A31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5A283B-AD5D-E223-C0C0-77DE0F2FE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181791-5600-6FB3-F55A-198245C0C7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001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911235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02278066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25511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7364272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5301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43898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3520770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49859608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1173615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896649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1320826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5112293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3991197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2953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344077240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65396470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93946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87995834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55333870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02049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28338439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90371186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72895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146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p14="http://schemas.microsoft.com/office/powerpoint/2010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1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B55EF-9A4B-2506-5329-2B3FA2F0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AB81550E-F930-1DBD-1D5B-C248C853AD22}"/>
              </a:ext>
            </a:extLst>
          </p:cNvPr>
          <p:cNvGrpSpPr/>
          <p:nvPr/>
        </p:nvGrpSpPr>
        <p:grpSpPr>
          <a:xfrm>
            <a:off x="9472632" y="1621384"/>
            <a:ext cx="2432918" cy="4494379"/>
            <a:chOff x="9471383" y="1632013"/>
            <a:chExt cx="2432918" cy="4494379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80C310D6-0C92-359B-9A10-0AB28E02D767}"/>
                </a:ext>
              </a:extLst>
            </p:cNvPr>
            <p:cNvSpPr/>
            <p:nvPr/>
          </p:nvSpPr>
          <p:spPr>
            <a:xfrm>
              <a:off x="9471383" y="1632013"/>
              <a:ext cx="2432918" cy="4494379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Linux kernel</a:t>
              </a:r>
            </a:p>
            <a:p>
              <a:pPr algn="ctr"/>
              <a:endParaRPr kumimoji="1" lang="en-US" altLang="zh-CN" dirty="0"/>
            </a:p>
            <a:p>
              <a:pPr algn="ctr"/>
              <a:endParaRPr kumimoji="1" lang="en-US" altLang="zh-CN" dirty="0"/>
            </a:p>
            <a:p>
              <a:pPr algn="ctr"/>
              <a:endParaRPr kumimoji="1" lang="zh-CN" altLang="en-US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D8EF6C5F-B39B-0961-639B-DBB13D35E381}"/>
                </a:ext>
              </a:extLst>
            </p:cNvPr>
            <p:cNvSpPr/>
            <p:nvPr/>
          </p:nvSpPr>
          <p:spPr>
            <a:xfrm>
              <a:off x="9549902" y="4874044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ioctl</a:t>
              </a:r>
              <a:r>
                <a:rPr lang="zh-CN" altLang="en-US" dirty="0"/>
                <a:t>等</a:t>
              </a:r>
              <a:r>
                <a:rPr lang="en-US" altLang="zh-CN" dirty="0"/>
                <a:t>DMA</a:t>
              </a:r>
              <a:r>
                <a:rPr lang="zh-CN" altLang="en-US" dirty="0"/>
                <a:t>完毕</a:t>
              </a:r>
              <a:endParaRPr lang="en-US" altLang="zh-CN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C7164931-A48A-613A-7192-D5FCFBA62B48}"/>
                </a:ext>
              </a:extLst>
            </p:cNvPr>
            <p:cNvSpPr txBox="1"/>
            <p:nvPr/>
          </p:nvSpPr>
          <p:spPr>
            <a:xfrm>
              <a:off x="9549902" y="5261302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pselect6_time64</a:t>
              </a: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F124D849-0D07-8F51-F507-F51A34A3F65E}"/>
                </a:ext>
              </a:extLst>
            </p:cNvPr>
            <p:cNvSpPr txBox="1"/>
            <p:nvPr/>
          </p:nvSpPr>
          <p:spPr>
            <a:xfrm>
              <a:off x="9549902" y="5639308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write</a:t>
              </a: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EFD89538-6A2B-D684-13B8-0987BAF1BD68}"/>
                </a:ext>
              </a:extLst>
            </p:cNvPr>
            <p:cNvSpPr/>
            <p:nvPr/>
          </p:nvSpPr>
          <p:spPr>
            <a:xfrm>
              <a:off x="9549902" y="3977596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futex</a:t>
              </a:r>
              <a:r>
                <a:rPr lang="zh-CN" altLang="en-US" dirty="0"/>
                <a:t>线程同步</a:t>
              </a:r>
              <a:endParaRPr lang="en-US" altLang="zh-CN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ED920FF4-F015-26B5-CBF9-163639D07B6F}"/>
                </a:ext>
              </a:extLst>
            </p:cNvPr>
            <p:cNvSpPr txBox="1"/>
            <p:nvPr/>
          </p:nvSpPr>
          <p:spPr>
            <a:xfrm>
              <a:off x="9519553" y="2918792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read</a:t>
              </a: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109F6D97-EA8D-6606-FC14-8BCD2DEF9DB0}"/>
                </a:ext>
              </a:extLst>
            </p:cNvPr>
            <p:cNvSpPr txBox="1"/>
            <p:nvPr/>
          </p:nvSpPr>
          <p:spPr>
            <a:xfrm>
              <a:off x="9519552" y="2393967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>
                <a:defRPr>
                  <a:solidFill>
                    <a:schemeClr val="dk1"/>
                  </a:solidFill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en-US" altLang="zh-CN" dirty="0"/>
                <a:t>pselect6_time64</a:t>
              </a:r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DC5CDAC5-2119-3132-1FD1-E82014A52BC5}"/>
                </a:ext>
              </a:extLst>
            </p:cNvPr>
            <p:cNvSpPr/>
            <p:nvPr/>
          </p:nvSpPr>
          <p:spPr>
            <a:xfrm>
              <a:off x="9519552" y="1868710"/>
              <a:ext cx="2169635" cy="332866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ioctl</a:t>
              </a:r>
              <a:r>
                <a:rPr lang="zh-CN" altLang="en-US" dirty="0"/>
                <a:t>等</a:t>
              </a:r>
              <a:r>
                <a:rPr lang="en-US" altLang="zh-CN" dirty="0"/>
                <a:t>DMA</a:t>
              </a:r>
              <a:r>
                <a:rPr lang="zh-CN" altLang="en-US" dirty="0"/>
                <a:t>完毕</a:t>
              </a:r>
              <a:endParaRPr lang="en-US" altLang="zh-CN" dirty="0"/>
            </a:p>
          </p:txBody>
        </p: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10735538-0BC3-9049-E3B8-9B8594CF99E7}"/>
              </a:ext>
            </a:extLst>
          </p:cNvPr>
          <p:cNvGrpSpPr/>
          <p:nvPr/>
        </p:nvGrpSpPr>
        <p:grpSpPr>
          <a:xfrm>
            <a:off x="7374407" y="1628182"/>
            <a:ext cx="1848676" cy="4494379"/>
            <a:chOff x="7074052" y="1638812"/>
            <a:chExt cx="1848676" cy="4494379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2FFCD742-BEBD-6DFC-9066-FB81F8F7CAD1}"/>
                </a:ext>
              </a:extLst>
            </p:cNvPr>
            <p:cNvSpPr/>
            <p:nvPr/>
          </p:nvSpPr>
          <p:spPr>
            <a:xfrm>
              <a:off x="7150718" y="1638812"/>
              <a:ext cx="1772010" cy="4494379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Glibc</a:t>
              </a:r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/>
            </a:p>
            <a:p>
              <a:pPr algn="ctr"/>
              <a:endParaRPr kumimoji="1" lang="en-US" altLang="zh-CN" dirty="0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D6C6BB0A-033A-88AE-17B4-CDB35667A5A3}"/>
                </a:ext>
              </a:extLst>
            </p:cNvPr>
            <p:cNvSpPr/>
            <p:nvPr/>
          </p:nvSpPr>
          <p:spPr>
            <a:xfrm>
              <a:off x="7180694" y="2925542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</a:t>
              </a:r>
              <a:r>
                <a:rPr lang="en-US" altLang="zh-CN" dirty="0" err="1"/>
                <a:t>libc_read</a:t>
              </a:r>
              <a:endParaRPr lang="en-US" altLang="zh-CN" dirty="0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FF229611-DA0F-A101-ABAE-B9FCA6DD8670}"/>
                </a:ext>
              </a:extLst>
            </p:cNvPr>
            <p:cNvSpPr/>
            <p:nvPr/>
          </p:nvSpPr>
          <p:spPr>
            <a:xfrm>
              <a:off x="7180696" y="5261302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__select64</a:t>
              </a:r>
              <a:endParaRPr lang="zh-CN" altLang="en-US" dirty="0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153BEC1C-16B8-DF5C-7420-122808E930E8}"/>
                </a:ext>
              </a:extLst>
            </p:cNvPr>
            <p:cNvSpPr/>
            <p:nvPr/>
          </p:nvSpPr>
          <p:spPr>
            <a:xfrm>
              <a:off x="7180696" y="4874044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</a:t>
              </a:r>
              <a:r>
                <a:rPr lang="en-US" altLang="zh-CN" dirty="0" err="1"/>
                <a:t>libc_tcdrain</a:t>
              </a:r>
              <a:endParaRPr lang="zh-CN" altLang="en-US" dirty="0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9D9925E4-FF41-2EB4-5090-59D0483C8B02}"/>
                </a:ext>
              </a:extLst>
            </p:cNvPr>
            <p:cNvSpPr/>
            <p:nvPr/>
          </p:nvSpPr>
          <p:spPr>
            <a:xfrm>
              <a:off x="7180696" y="5641445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</a:t>
              </a:r>
              <a:r>
                <a:rPr lang="en-US" altLang="zh-CN" dirty="0" err="1"/>
                <a:t>libc_write</a:t>
              </a:r>
              <a:r>
                <a:rPr lang="en-US" altLang="zh-CN" dirty="0"/>
                <a:t> 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FE15B5A-CD09-E11B-774E-6054FD381E1D}"/>
                </a:ext>
              </a:extLst>
            </p:cNvPr>
            <p:cNvSpPr/>
            <p:nvPr/>
          </p:nvSpPr>
          <p:spPr>
            <a:xfrm>
              <a:off x="7180695" y="2397126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__select64</a:t>
              </a:r>
              <a:endParaRPr lang="zh-CN" altLang="en-US" dirty="0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39B3CBAF-4988-9ACD-3F06-76BB95751B75}"/>
                </a:ext>
              </a:extLst>
            </p:cNvPr>
            <p:cNvSpPr/>
            <p:nvPr/>
          </p:nvSpPr>
          <p:spPr>
            <a:xfrm>
              <a:off x="7187490" y="1868710"/>
              <a:ext cx="1698465" cy="33307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/>
                <a:t>__</a:t>
              </a:r>
              <a:r>
                <a:rPr lang="en-US" altLang="zh-CN" dirty="0" err="1"/>
                <a:t>ioctl</a:t>
              </a:r>
              <a:endParaRPr lang="zh-CN" altLang="en-US" dirty="0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CE1635AE-6E9B-A2FA-8EA2-0BB9496B1D51}"/>
                </a:ext>
              </a:extLst>
            </p:cNvPr>
            <p:cNvSpPr/>
            <p:nvPr/>
          </p:nvSpPr>
          <p:spPr>
            <a:xfrm>
              <a:off x="7174500" y="3721268"/>
              <a:ext cx="1698465" cy="83972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dirty="0" err="1"/>
                <a:t>futex</a:t>
              </a:r>
              <a:r>
                <a:rPr lang="zh-CN" altLang="en-US" dirty="0"/>
                <a:t>封装</a:t>
              </a:r>
              <a:endParaRPr lang="en-US" altLang="zh-CN" dirty="0"/>
            </a:p>
            <a:p>
              <a:r>
                <a:rPr lang="zh-CN" altLang="en-US" dirty="0"/>
                <a:t>快</a:t>
              </a:r>
              <a:r>
                <a:rPr lang="en-US" altLang="zh-CN" dirty="0"/>
                <a:t>+</a:t>
              </a:r>
              <a:r>
                <a:rPr lang="zh-CN" altLang="en-US" dirty="0"/>
                <a:t>慢区实现</a:t>
              </a:r>
              <a:endParaRPr lang="en-US" altLang="zh-CN" dirty="0"/>
            </a:p>
          </p:txBody>
        </p:sp>
        <p:cxnSp>
          <p:nvCxnSpPr>
            <p:cNvPr id="173" name="直线箭头连接符 172">
              <a:extLst>
                <a:ext uri="{FF2B5EF4-FFF2-40B4-BE49-F238E27FC236}">
                  <a16:creationId xmlns:a16="http://schemas.microsoft.com/office/drawing/2014/main" id="{3B512FAA-1DF2-0B81-C979-EE7E74F5E043}"/>
                </a:ext>
              </a:extLst>
            </p:cNvPr>
            <p:cNvCxnSpPr>
              <a:cxnSpLocks/>
              <a:stCxn id="107" idx="3"/>
              <a:endCxn id="121" idx="1"/>
            </p:cNvCxnSpPr>
            <p:nvPr/>
          </p:nvCxnSpPr>
          <p:spPr>
            <a:xfrm flipV="1">
              <a:off x="7074052" y="5040584"/>
              <a:ext cx="106644" cy="166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线箭头连接符 174">
              <a:extLst>
                <a:ext uri="{FF2B5EF4-FFF2-40B4-BE49-F238E27FC236}">
                  <a16:creationId xmlns:a16="http://schemas.microsoft.com/office/drawing/2014/main" id="{630ECCEC-D341-3265-D68E-E72DD914EED5}"/>
                </a:ext>
              </a:extLst>
            </p:cNvPr>
            <p:cNvCxnSpPr>
              <a:stCxn id="107" idx="3"/>
              <a:endCxn id="96" idx="1"/>
            </p:cNvCxnSpPr>
            <p:nvPr/>
          </p:nvCxnSpPr>
          <p:spPr>
            <a:xfrm>
              <a:off x="7074052" y="5206911"/>
              <a:ext cx="106644" cy="2209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线箭头连接符 176">
              <a:extLst>
                <a:ext uri="{FF2B5EF4-FFF2-40B4-BE49-F238E27FC236}">
                  <a16:creationId xmlns:a16="http://schemas.microsoft.com/office/drawing/2014/main" id="{C6FAA8E4-7884-A34C-48BC-9F760E7100EE}"/>
                </a:ext>
              </a:extLst>
            </p:cNvPr>
            <p:cNvCxnSpPr>
              <a:cxnSpLocks/>
              <a:stCxn id="107" idx="3"/>
              <a:endCxn id="131" idx="1"/>
            </p:cNvCxnSpPr>
            <p:nvPr/>
          </p:nvCxnSpPr>
          <p:spPr>
            <a:xfrm>
              <a:off x="7074052" y="5206911"/>
              <a:ext cx="106644" cy="6010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7E7AADE8-2430-CCB5-ED49-66997045943F}"/>
              </a:ext>
            </a:extLst>
          </p:cNvPr>
          <p:cNvGrpSpPr/>
          <p:nvPr/>
        </p:nvGrpSpPr>
        <p:grpSpPr>
          <a:xfrm>
            <a:off x="827089" y="1626243"/>
            <a:ext cx="3589203" cy="4494379"/>
            <a:chOff x="577210" y="1181810"/>
            <a:chExt cx="3589203" cy="4494379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CC1891D-E2AB-947E-C3D4-7A05A3CF9E0A}"/>
                </a:ext>
              </a:extLst>
            </p:cNvPr>
            <p:cNvSpPr/>
            <p:nvPr/>
          </p:nvSpPr>
          <p:spPr>
            <a:xfrm>
              <a:off x="1606550" y="1181810"/>
              <a:ext cx="2559863" cy="44943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FFFF00"/>
                  </a:solidFill>
                </a:rPr>
                <a:t>Lerobot</a:t>
              </a:r>
              <a:endParaRPr lang="en-US" altLang="zh-CN" dirty="0">
                <a:solidFill>
                  <a:srgbClr val="FFFF00"/>
                </a:solidFill>
              </a:endParaRPr>
            </a:p>
            <a:p>
              <a:pPr algn="ctr"/>
              <a:endParaRPr lang="en-US" altLang="zh-CN" dirty="0">
                <a:solidFill>
                  <a:srgbClr val="FFFF00"/>
                </a:solidFill>
              </a:endParaRPr>
            </a:p>
            <a:p>
              <a:pPr algn="ctr"/>
              <a:endParaRPr lang="en-US" altLang="zh-CN" dirty="0">
                <a:solidFill>
                  <a:srgbClr val="FFFF00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6FF1B68-63CB-E083-8C26-FCBBE2C8729A}"/>
                </a:ext>
              </a:extLst>
            </p:cNvPr>
            <p:cNvSpPr/>
            <p:nvPr/>
          </p:nvSpPr>
          <p:spPr>
            <a:xfrm>
              <a:off x="2749666" y="3453775"/>
              <a:ext cx="1148314" cy="61668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ACT/pi0</a:t>
              </a:r>
            </a:p>
            <a:p>
              <a:pPr algn="ctr"/>
              <a:r>
                <a:rPr kumimoji="1" lang="en-US" altLang="zh-CN" dirty="0"/>
                <a:t>…...</a:t>
              </a:r>
              <a:r>
                <a:rPr kumimoji="1" lang="zh-CN" altLang="en-US" dirty="0"/>
                <a:t>模型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243320F-9029-B0FD-4097-A351B008DAE1}"/>
                </a:ext>
              </a:extLst>
            </p:cNvPr>
            <p:cNvSpPr/>
            <p:nvPr/>
          </p:nvSpPr>
          <p:spPr>
            <a:xfrm>
              <a:off x="1651548" y="2408962"/>
              <a:ext cx="645273" cy="3945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观测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83CAFDB-2E92-B31E-B00F-286827AF1DB4}"/>
                </a:ext>
              </a:extLst>
            </p:cNvPr>
            <p:cNvSpPr/>
            <p:nvPr/>
          </p:nvSpPr>
          <p:spPr>
            <a:xfrm>
              <a:off x="1651549" y="3378009"/>
              <a:ext cx="645273" cy="3945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推理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39010AC-97BE-A029-29E9-88921E7F9B77}"/>
                </a:ext>
              </a:extLst>
            </p:cNvPr>
            <p:cNvSpPr/>
            <p:nvPr/>
          </p:nvSpPr>
          <p:spPr>
            <a:xfrm>
              <a:off x="1651549" y="4368320"/>
              <a:ext cx="645273" cy="39459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/>
                <a:t>执行</a:t>
              </a:r>
            </a:p>
          </p:txBody>
        </p:sp>
        <p:cxnSp>
          <p:nvCxnSpPr>
            <p:cNvPr id="37" name="直线箭头连接符 36">
              <a:extLst>
                <a:ext uri="{FF2B5EF4-FFF2-40B4-BE49-F238E27FC236}">
                  <a16:creationId xmlns:a16="http://schemas.microsoft.com/office/drawing/2014/main" id="{5F9C15CD-0C38-91EE-B505-FAE871854BB2}"/>
                </a:ext>
              </a:extLst>
            </p:cNvPr>
            <p:cNvCxnSpPr>
              <a:stCxn id="29" idx="2"/>
              <a:endCxn id="31" idx="0"/>
            </p:cNvCxnSpPr>
            <p:nvPr/>
          </p:nvCxnSpPr>
          <p:spPr>
            <a:xfrm>
              <a:off x="1974185" y="2803559"/>
              <a:ext cx="1" cy="574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线箭头连接符 39">
              <a:extLst>
                <a:ext uri="{FF2B5EF4-FFF2-40B4-BE49-F238E27FC236}">
                  <a16:creationId xmlns:a16="http://schemas.microsoft.com/office/drawing/2014/main" id="{B3B6E618-056D-FEB8-3D6D-33E39D17E535}"/>
                </a:ext>
              </a:extLst>
            </p:cNvPr>
            <p:cNvCxnSpPr>
              <a:stCxn id="31" idx="2"/>
              <a:endCxn id="32" idx="0"/>
            </p:cNvCxnSpPr>
            <p:nvPr/>
          </p:nvCxnSpPr>
          <p:spPr>
            <a:xfrm>
              <a:off x="1974186" y="3772606"/>
              <a:ext cx="0" cy="5957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肘形连接符 50">
              <a:extLst>
                <a:ext uri="{FF2B5EF4-FFF2-40B4-BE49-F238E27FC236}">
                  <a16:creationId xmlns:a16="http://schemas.microsoft.com/office/drawing/2014/main" id="{473F2844-334C-B5BB-D870-524D28336D81}"/>
                </a:ext>
              </a:extLst>
            </p:cNvPr>
            <p:cNvCxnSpPr>
              <a:cxnSpLocks/>
              <a:stCxn id="32" idx="1"/>
              <a:endCxn id="29" idx="1"/>
            </p:cNvCxnSpPr>
            <p:nvPr/>
          </p:nvCxnSpPr>
          <p:spPr>
            <a:xfrm rot="10800000">
              <a:off x="1651549" y="2606261"/>
              <a:ext cx="1" cy="1959358"/>
            </a:xfrm>
            <a:prstGeom prst="bent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C100A6C2-91A3-3EFE-8139-FBBD15B3F879}"/>
                </a:ext>
              </a:extLst>
            </p:cNvPr>
            <p:cNvSpPr txBox="1"/>
            <p:nvPr/>
          </p:nvSpPr>
          <p:spPr>
            <a:xfrm>
              <a:off x="1852873" y="4752859"/>
              <a:ext cx="205399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solidFill>
                    <a:srgbClr val="00B0F0"/>
                  </a:solidFill>
                </a:rPr>
                <a:t>motors_bus.py</a:t>
              </a:r>
              <a:endParaRPr lang="en-US" altLang="zh-CN" dirty="0">
                <a:solidFill>
                  <a:srgbClr val="00B0F0"/>
                </a:solidFill>
              </a:endParaRPr>
            </a:p>
            <a:p>
              <a:r>
                <a:rPr lang="zh-CN" altLang="en-US" dirty="0">
                  <a:solidFill>
                    <a:srgbClr val="00B0F0"/>
                  </a:solidFill>
                </a:rPr>
                <a:t>机器人项目内舵机部分</a:t>
              </a:r>
              <a:endParaRPr lang="zh-CN" altLang="en-US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2D700E9D-8427-D040-0B6F-47A6FECEE35E}"/>
                </a:ext>
              </a:extLst>
            </p:cNvPr>
            <p:cNvSpPr txBox="1"/>
            <p:nvPr/>
          </p:nvSpPr>
          <p:spPr>
            <a:xfrm>
              <a:off x="2305107" y="2147076"/>
              <a:ext cx="183345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solidFill>
                    <a:srgbClr val="00B0F0"/>
                  </a:solidFill>
                </a:rPr>
                <a:t>motors_bus.py</a:t>
              </a:r>
              <a:endParaRPr lang="en-US" altLang="zh-CN" dirty="0">
                <a:solidFill>
                  <a:srgbClr val="00B0F0"/>
                </a:solidFill>
              </a:endParaRPr>
            </a:p>
            <a:p>
              <a:r>
                <a:rPr lang="zh-CN" altLang="en-US" dirty="0">
                  <a:solidFill>
                    <a:srgbClr val="00B0F0"/>
                  </a:solidFill>
                </a:rPr>
                <a:t>仅读需要</a:t>
              </a:r>
              <a:endParaRPr lang="en-US" altLang="zh-CN" dirty="0">
                <a:solidFill>
                  <a:srgbClr val="00B0F0"/>
                </a:solidFill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FE847FFD-AFAA-3B47-3F5E-6B0759ED7E5F}"/>
                </a:ext>
              </a:extLst>
            </p:cNvPr>
            <p:cNvSpPr/>
            <p:nvPr/>
          </p:nvSpPr>
          <p:spPr>
            <a:xfrm>
              <a:off x="2460932" y="1250808"/>
              <a:ext cx="1437048" cy="55875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async_read</a:t>
              </a:r>
              <a:r>
                <a:rPr kumimoji="1" lang="zh-CN" altLang="en-US" dirty="0"/>
                <a:t>异步读</a:t>
              </a:r>
              <a:r>
                <a:rPr kumimoji="1" lang="zh-CN" altLang="en-US" b="1" dirty="0"/>
                <a:t>线程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BFD31985-ECA2-C6C2-8D4A-F90050CA5BB6}"/>
                </a:ext>
              </a:extLst>
            </p:cNvPr>
            <p:cNvSpPr txBox="1"/>
            <p:nvPr/>
          </p:nvSpPr>
          <p:spPr>
            <a:xfrm>
              <a:off x="1627217" y="1870843"/>
              <a:ext cx="22128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>
                  <a:solidFill>
                    <a:srgbClr val="00B0F0"/>
                  </a:solidFill>
                </a:defRPr>
              </a:lvl1pPr>
            </a:lstStyle>
            <a:p>
              <a:r>
                <a:rPr lang="en-US" altLang="zh-CN" dirty="0" err="1"/>
                <a:t>camera_opencv.py</a:t>
              </a:r>
              <a:endParaRPr lang="zh-CN" altLang="en-US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6223A2B5-3832-20BD-B4D1-60C77597E62D}"/>
                </a:ext>
              </a:extLst>
            </p:cNvPr>
            <p:cNvSpPr txBox="1"/>
            <p:nvPr/>
          </p:nvSpPr>
          <p:spPr>
            <a:xfrm>
              <a:off x="577210" y="354896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 dirty="0"/>
                <a:t>主线程</a:t>
              </a:r>
            </a:p>
          </p:txBody>
        </p:sp>
        <p:cxnSp>
          <p:nvCxnSpPr>
            <p:cNvPr id="77" name="直线箭头连接符 76">
              <a:extLst>
                <a:ext uri="{FF2B5EF4-FFF2-40B4-BE49-F238E27FC236}">
                  <a16:creationId xmlns:a16="http://schemas.microsoft.com/office/drawing/2014/main" id="{F8905CF5-047B-377F-8F36-F8A5DB68CDEE}"/>
                </a:ext>
              </a:extLst>
            </p:cNvPr>
            <p:cNvCxnSpPr>
              <a:stCxn id="29" idx="0"/>
            </p:cNvCxnSpPr>
            <p:nvPr/>
          </p:nvCxnSpPr>
          <p:spPr>
            <a:xfrm flipV="1">
              <a:off x="1974185" y="1809563"/>
              <a:ext cx="1205271" cy="599399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标题 9">
            <a:extLst>
              <a:ext uri="{FF2B5EF4-FFF2-40B4-BE49-F238E27FC236}">
                <a16:creationId xmlns:a16="http://schemas.microsoft.com/office/drawing/2014/main" id="{FD710233-76CA-D160-79C9-677BDAC1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全套软件栈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0927AD-7CDF-B699-995F-98A11143B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594812E9-5F28-1C01-CFA4-C5CFAD3ACC83}"/>
              </a:ext>
            </a:extLst>
          </p:cNvPr>
          <p:cNvCxnSpPr>
            <a:cxnSpLocks/>
          </p:cNvCxnSpPr>
          <p:nvPr/>
        </p:nvCxnSpPr>
        <p:spPr>
          <a:xfrm flipH="1">
            <a:off x="1856429" y="3329164"/>
            <a:ext cx="10047872" cy="69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12AED548-17FD-0649-574F-6555935AB129}"/>
              </a:ext>
            </a:extLst>
          </p:cNvPr>
          <p:cNvCxnSpPr>
            <a:cxnSpLocks/>
          </p:cNvCxnSpPr>
          <p:nvPr/>
        </p:nvCxnSpPr>
        <p:spPr>
          <a:xfrm flipH="1">
            <a:off x="1856429" y="4765788"/>
            <a:ext cx="100478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D54D2D95-ADEE-11A5-168D-E5CCF2148A9C}"/>
              </a:ext>
            </a:extLst>
          </p:cNvPr>
          <p:cNvSpPr txBox="1"/>
          <p:nvPr/>
        </p:nvSpPr>
        <p:spPr>
          <a:xfrm>
            <a:off x="4940279" y="105650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用户态各种库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6415B3-99EA-0DE4-9EE9-CD0404EA1662}"/>
              </a:ext>
            </a:extLst>
          </p:cNvPr>
          <p:cNvSpPr/>
          <p:nvPr/>
        </p:nvSpPr>
        <p:spPr>
          <a:xfrm>
            <a:off x="4525482" y="3363182"/>
            <a:ext cx="2008239" cy="5633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torch</a:t>
            </a:r>
            <a:r>
              <a:rPr kumimoji="1" lang="zh-CN" altLang="en-US" dirty="0"/>
              <a:t>的并行后端</a:t>
            </a:r>
            <a:endParaRPr kumimoji="1" lang="en-US" altLang="zh-CN" dirty="0"/>
          </a:p>
          <a:p>
            <a:pPr algn="ctr"/>
            <a:r>
              <a:rPr lang="en-US" altLang="zh-CN" dirty="0" err="1"/>
              <a:t>ParallelNative</a:t>
            </a:r>
            <a:endParaRPr lang="en-US" altLang="zh-CN" dirty="0"/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BA56A04C-6048-ED03-3ACF-B9FA948F4C95}"/>
              </a:ext>
            </a:extLst>
          </p:cNvPr>
          <p:cNvGrpSpPr/>
          <p:nvPr/>
        </p:nvGrpSpPr>
        <p:grpSpPr>
          <a:xfrm>
            <a:off x="300355" y="1628182"/>
            <a:ext cx="1513749" cy="1337118"/>
            <a:chOff x="35232" y="1176951"/>
            <a:chExt cx="1513749" cy="1337118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B0E5DDD-5FF9-C83F-6254-E731A2BC69EA}"/>
                </a:ext>
              </a:extLst>
            </p:cNvPr>
            <p:cNvSpPr/>
            <p:nvPr/>
          </p:nvSpPr>
          <p:spPr>
            <a:xfrm>
              <a:off x="35232" y="1176951"/>
              <a:ext cx="1513749" cy="133711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/>
                <a:t>Hardware</a:t>
              </a:r>
              <a:endParaRPr kumimoji="1" lang="zh-CN" altLang="en-US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A6BD790-7BE3-09F6-BC19-86E3EF6DED36}"/>
                </a:ext>
              </a:extLst>
            </p:cNvPr>
            <p:cNvSpPr txBox="1"/>
            <p:nvPr/>
          </p:nvSpPr>
          <p:spPr>
            <a:xfrm>
              <a:off x="39798" y="2055509"/>
              <a:ext cx="1509183" cy="36933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kumimoji="1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dirty="0"/>
                <a:t>2arm*6joint</a:t>
              </a:r>
              <a:endParaRPr lang="zh-CN" altLang="en-US" dirty="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4CB0061A-0AF3-0133-A940-25A03123A9A3}"/>
                </a:ext>
              </a:extLst>
            </p:cNvPr>
            <p:cNvSpPr txBox="1"/>
            <p:nvPr/>
          </p:nvSpPr>
          <p:spPr>
            <a:xfrm>
              <a:off x="63820" y="1345519"/>
              <a:ext cx="1127232" cy="369332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kumimoji="1" lang="en-US" altLang="zh-CN" dirty="0"/>
                <a:t>2camera</a:t>
              </a:r>
              <a:endParaRPr kumimoji="1" lang="zh-CN" altLang="en-US" dirty="0"/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93725EB3-261C-D7FF-38D5-9F4EA09CF1D5}"/>
              </a:ext>
            </a:extLst>
          </p:cNvPr>
          <p:cNvSpPr txBox="1"/>
          <p:nvPr/>
        </p:nvSpPr>
        <p:spPr>
          <a:xfrm>
            <a:off x="4477169" y="1827186"/>
            <a:ext cx="137088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/>
              <a:t>OpenCV</a:t>
            </a:r>
            <a:r>
              <a:rPr lang="zh-CN" altLang="en-US" dirty="0"/>
              <a:t>库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3264E41-9C31-3017-443D-98E6350C3CFF}"/>
              </a:ext>
            </a:extLst>
          </p:cNvPr>
          <p:cNvSpPr txBox="1"/>
          <p:nvPr/>
        </p:nvSpPr>
        <p:spPr>
          <a:xfrm>
            <a:off x="4470954" y="2619684"/>
            <a:ext cx="1525116" cy="6172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/>
              <a:t>scservo_sdk</a:t>
            </a:r>
            <a:endParaRPr lang="en-US" altLang="zh-CN" dirty="0"/>
          </a:p>
          <a:p>
            <a:r>
              <a:rPr lang="zh-CN" altLang="en-US" dirty="0"/>
              <a:t>先</a:t>
            </a:r>
            <a:r>
              <a:rPr lang="en-US" altLang="zh-CN" dirty="0" err="1"/>
              <a:t>tx</a:t>
            </a:r>
            <a:r>
              <a:rPr lang="zh-CN" altLang="en-US" dirty="0"/>
              <a:t>在</a:t>
            </a:r>
            <a:r>
              <a:rPr lang="en-US" altLang="zh-CN" dirty="0" err="1"/>
              <a:t>rx</a:t>
            </a:r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CADC8C0-4418-DB49-2EB6-F4BB2E866373}"/>
              </a:ext>
            </a:extLst>
          </p:cNvPr>
          <p:cNvSpPr txBox="1"/>
          <p:nvPr/>
        </p:nvSpPr>
        <p:spPr>
          <a:xfrm>
            <a:off x="4494811" y="4887097"/>
            <a:ext cx="1490254" cy="618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/>
              <a:t>scservo_sdk</a:t>
            </a:r>
            <a:endParaRPr lang="en-US" altLang="zh-CN" dirty="0"/>
          </a:p>
          <a:p>
            <a:r>
              <a:rPr lang="zh-CN" altLang="en-US" dirty="0"/>
              <a:t>舵机驱动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D5490BA-21F5-46B2-14FF-BD2EAF54BFF9}"/>
              </a:ext>
            </a:extLst>
          </p:cNvPr>
          <p:cNvSpPr txBox="1"/>
          <p:nvPr/>
        </p:nvSpPr>
        <p:spPr>
          <a:xfrm>
            <a:off x="5341788" y="5583751"/>
            <a:ext cx="1168151" cy="5320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pyserial</a:t>
            </a:r>
            <a:endParaRPr lang="en-US" altLang="zh-CN" dirty="0"/>
          </a:p>
          <a:p>
            <a:r>
              <a:rPr lang="zh-CN" altLang="en-US" dirty="0"/>
              <a:t>串口驱动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484F594-3A3B-F03B-5AC3-B18C78EC1D64}"/>
              </a:ext>
            </a:extLst>
          </p:cNvPr>
          <p:cNvSpPr txBox="1"/>
          <p:nvPr/>
        </p:nvSpPr>
        <p:spPr>
          <a:xfrm>
            <a:off x="4834072" y="4063876"/>
            <a:ext cx="2422803" cy="6242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libstdc</a:t>
            </a:r>
            <a:r>
              <a:rPr lang="en-US" altLang="zh-CN" dirty="0"/>
              <a:t>++</a:t>
            </a:r>
            <a:r>
              <a:rPr lang="en-US" altLang="zh-CN" b="1" dirty="0"/>
              <a:t>——&gt;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libgcc</a:t>
            </a:r>
            <a:r>
              <a:rPr lang="zh-CN" altLang="en-US" dirty="0"/>
              <a:t>的</a:t>
            </a:r>
            <a:r>
              <a:rPr lang="en-US" altLang="zh-CN" dirty="0"/>
              <a:t>std::mutex()</a:t>
            </a:r>
            <a:endParaRPr lang="zh-CN" altLang="en-US" dirty="0"/>
          </a:p>
        </p:txBody>
      </p:sp>
      <p:cxnSp>
        <p:nvCxnSpPr>
          <p:cNvPr id="87" name="直线箭头连接符 86">
            <a:extLst>
              <a:ext uri="{FF2B5EF4-FFF2-40B4-BE49-F238E27FC236}">
                <a16:creationId xmlns:a16="http://schemas.microsoft.com/office/drawing/2014/main" id="{D0A2D03E-C5F0-9F8F-8BE8-63A19A63D6CE}"/>
              </a:ext>
            </a:extLst>
          </p:cNvPr>
          <p:cNvCxnSpPr>
            <a:stCxn id="26" idx="3"/>
            <a:endCxn id="35" idx="1"/>
          </p:cNvCxnSpPr>
          <p:nvPr/>
        </p:nvCxnSpPr>
        <p:spPr>
          <a:xfrm flipV="1">
            <a:off x="4147859" y="3644874"/>
            <a:ext cx="377623" cy="561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F0B2A5CE-0154-DF8C-491B-0FE3EA20CA16}"/>
              </a:ext>
            </a:extLst>
          </p:cNvPr>
          <p:cNvCxnSpPr>
            <a:cxnSpLocks/>
            <a:stCxn id="35" idx="2"/>
            <a:endCxn id="85" idx="0"/>
          </p:cNvCxnSpPr>
          <p:nvPr/>
        </p:nvCxnSpPr>
        <p:spPr>
          <a:xfrm>
            <a:off x="5529602" y="3926566"/>
            <a:ext cx="515872" cy="137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00BB840C-C1B4-69BE-8D6D-1A48B6509D9E}"/>
              </a:ext>
            </a:extLst>
          </p:cNvPr>
          <p:cNvCxnSpPr>
            <a:cxnSpLocks/>
            <a:stCxn id="68" idx="3"/>
            <a:endCxn id="82" idx="1"/>
          </p:cNvCxnSpPr>
          <p:nvPr/>
        </p:nvCxnSpPr>
        <p:spPr>
          <a:xfrm flipV="1">
            <a:off x="4156750" y="5196310"/>
            <a:ext cx="338061" cy="462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8855CEB2-329F-3247-BE3E-D47E5B8BA350}"/>
              </a:ext>
            </a:extLst>
          </p:cNvPr>
          <p:cNvCxnSpPr>
            <a:cxnSpLocks/>
            <a:stCxn id="82" idx="2"/>
            <a:endCxn id="83" idx="1"/>
          </p:cNvCxnSpPr>
          <p:nvPr/>
        </p:nvCxnSpPr>
        <p:spPr>
          <a:xfrm>
            <a:off x="5239938" y="5505522"/>
            <a:ext cx="101850" cy="344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EF4B3325-7630-3FA3-C26E-3F3A5BA9E683}"/>
              </a:ext>
            </a:extLst>
          </p:cNvPr>
          <p:cNvSpPr txBox="1"/>
          <p:nvPr/>
        </p:nvSpPr>
        <p:spPr>
          <a:xfrm>
            <a:off x="6076471" y="4887068"/>
            <a:ext cx="1297936" cy="6184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cpython</a:t>
            </a:r>
            <a:r>
              <a:rPr lang="zh-CN" altLang="en-US" dirty="0"/>
              <a:t>封装</a:t>
            </a:r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7BBDAE15-24B1-0821-BB35-934682B033A3}"/>
              </a:ext>
            </a:extLst>
          </p:cNvPr>
          <p:cNvCxnSpPr>
            <a:cxnSpLocks/>
            <a:stCxn id="83" idx="3"/>
            <a:endCxn id="107" idx="2"/>
          </p:cNvCxnSpPr>
          <p:nvPr/>
        </p:nvCxnSpPr>
        <p:spPr>
          <a:xfrm flipV="1">
            <a:off x="6509939" y="5505493"/>
            <a:ext cx="215500" cy="344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C8EAA2B4-87F8-D4E1-0C25-335DF2A54A20}"/>
              </a:ext>
            </a:extLst>
          </p:cNvPr>
          <p:cNvSpPr txBox="1"/>
          <p:nvPr/>
        </p:nvSpPr>
        <p:spPr>
          <a:xfrm>
            <a:off x="707079" y="5399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1-7ms</a:t>
            </a:r>
            <a:endParaRPr kumimoji="1" lang="zh-CN" altLang="en-US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9845CDAB-C856-0642-F94F-94CEA504D4F8}"/>
              </a:ext>
            </a:extLst>
          </p:cNvPr>
          <p:cNvSpPr txBox="1"/>
          <p:nvPr/>
        </p:nvSpPr>
        <p:spPr>
          <a:xfrm>
            <a:off x="684844" y="29492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1-7ms</a:t>
            </a:r>
            <a:endParaRPr kumimoji="1" lang="zh-CN" altLang="en-US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50EA3D8-C898-8F41-BDB7-3E69F6BA825C}"/>
              </a:ext>
            </a:extLst>
          </p:cNvPr>
          <p:cNvSpPr txBox="1"/>
          <p:nvPr/>
        </p:nvSpPr>
        <p:spPr>
          <a:xfrm>
            <a:off x="6800219" y="5677625"/>
            <a:ext cx="466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TX</a:t>
            </a:r>
            <a:endParaRPr kumimoji="1" lang="zh-CN" altLang="en-US" dirty="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B22E7CFA-437E-8479-90A9-BFD0D58FD7A1}"/>
              </a:ext>
            </a:extLst>
          </p:cNvPr>
          <p:cNvSpPr txBox="1"/>
          <p:nvPr/>
        </p:nvSpPr>
        <p:spPr>
          <a:xfrm>
            <a:off x="6180347" y="2615491"/>
            <a:ext cx="1089465" cy="6172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/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dirty="0" err="1"/>
              <a:t>ser.rx</a:t>
            </a:r>
            <a:r>
              <a:rPr lang="en-US" altLang="zh-CN" dirty="0"/>
              <a:t>-&gt;</a:t>
            </a:r>
          </a:p>
          <a:p>
            <a:r>
              <a:rPr lang="en-US" altLang="zh-CN" dirty="0" err="1"/>
              <a:t>cpython</a:t>
            </a:r>
            <a:endParaRPr lang="zh-CN" altLang="en-US" dirty="0"/>
          </a:p>
        </p:txBody>
      </p:sp>
      <p:cxnSp>
        <p:nvCxnSpPr>
          <p:cNvPr id="139" name="直线箭头连接符 138">
            <a:extLst>
              <a:ext uri="{FF2B5EF4-FFF2-40B4-BE49-F238E27FC236}">
                <a16:creationId xmlns:a16="http://schemas.microsoft.com/office/drawing/2014/main" id="{DE07CC26-36A1-E24F-4E69-C73CD6764CDD}"/>
              </a:ext>
            </a:extLst>
          </p:cNvPr>
          <p:cNvCxnSpPr>
            <a:stCxn id="81" idx="3"/>
            <a:endCxn id="136" idx="1"/>
          </p:cNvCxnSpPr>
          <p:nvPr/>
        </p:nvCxnSpPr>
        <p:spPr>
          <a:xfrm flipV="1">
            <a:off x="5996070" y="2924115"/>
            <a:ext cx="184277" cy="4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62C91CB6-65DF-188C-0801-AA78E46C821D}"/>
              </a:ext>
            </a:extLst>
          </p:cNvPr>
          <p:cNvCxnSpPr>
            <a:stCxn id="136" idx="3"/>
            <a:endCxn id="133" idx="1"/>
          </p:cNvCxnSpPr>
          <p:nvPr/>
        </p:nvCxnSpPr>
        <p:spPr>
          <a:xfrm>
            <a:off x="7269812" y="2924115"/>
            <a:ext cx="211237" cy="157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E17239A1-07ED-BE9A-8AF5-91AB254F5859}"/>
              </a:ext>
            </a:extLst>
          </p:cNvPr>
          <p:cNvCxnSpPr>
            <a:cxnSpLocks/>
            <a:stCxn id="136" idx="3"/>
            <a:endCxn id="137" idx="1"/>
          </p:cNvCxnSpPr>
          <p:nvPr/>
        </p:nvCxnSpPr>
        <p:spPr>
          <a:xfrm flipV="1">
            <a:off x="7269812" y="2553036"/>
            <a:ext cx="211238" cy="371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线箭头连接符 157">
            <a:extLst>
              <a:ext uri="{FF2B5EF4-FFF2-40B4-BE49-F238E27FC236}">
                <a16:creationId xmlns:a16="http://schemas.microsoft.com/office/drawing/2014/main" id="{3C504BF4-3A55-59F6-D92F-EC17418A31D5}"/>
              </a:ext>
            </a:extLst>
          </p:cNvPr>
          <p:cNvCxnSpPr>
            <a:stCxn id="85" idx="3"/>
            <a:endCxn id="154" idx="1"/>
          </p:cNvCxnSpPr>
          <p:nvPr/>
        </p:nvCxnSpPr>
        <p:spPr>
          <a:xfrm flipV="1">
            <a:off x="7256875" y="4130499"/>
            <a:ext cx="217980" cy="245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线箭头连接符 159">
            <a:extLst>
              <a:ext uri="{FF2B5EF4-FFF2-40B4-BE49-F238E27FC236}">
                <a16:creationId xmlns:a16="http://schemas.microsoft.com/office/drawing/2014/main" id="{0D6C791F-BE70-B412-F595-12802EC67C3F}"/>
              </a:ext>
            </a:extLst>
          </p:cNvPr>
          <p:cNvCxnSpPr>
            <a:stCxn id="154" idx="3"/>
            <a:endCxn id="151" idx="1"/>
          </p:cNvCxnSpPr>
          <p:nvPr/>
        </p:nvCxnSpPr>
        <p:spPr>
          <a:xfrm>
            <a:off x="9173320" y="4130499"/>
            <a:ext cx="377831" cy="2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文本框 165">
            <a:extLst>
              <a:ext uri="{FF2B5EF4-FFF2-40B4-BE49-F238E27FC236}">
                <a16:creationId xmlns:a16="http://schemas.microsoft.com/office/drawing/2014/main" id="{EDF43947-7540-6F1E-1F0C-356E7FD952F6}"/>
              </a:ext>
            </a:extLst>
          </p:cNvPr>
          <p:cNvSpPr txBox="1"/>
          <p:nvPr/>
        </p:nvSpPr>
        <p:spPr>
          <a:xfrm>
            <a:off x="4525790" y="1435530"/>
            <a:ext cx="16658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50" dirty="0"/>
              <a:t>这边分析时间没有尝试过</a:t>
            </a:r>
            <a:endParaRPr kumimoji="1" lang="en-US" altLang="zh-CN" sz="1050" dirty="0"/>
          </a:p>
          <a:p>
            <a:r>
              <a:rPr kumimoji="1" lang="zh-CN" altLang="en-US" sz="1050" dirty="0"/>
              <a:t>编译</a:t>
            </a:r>
            <a:r>
              <a:rPr kumimoji="1" lang="en-US" altLang="zh-CN" sz="1050" dirty="0" err="1"/>
              <a:t>opencv</a:t>
            </a:r>
            <a:r>
              <a:rPr kumimoji="1" lang="zh-CN" altLang="en-US" sz="1050" dirty="0"/>
              <a:t>的</a:t>
            </a:r>
            <a:r>
              <a:rPr kumimoji="1" lang="en-US" altLang="zh-CN" sz="1050" dirty="0"/>
              <a:t>C++</a:t>
            </a:r>
            <a:r>
              <a:rPr kumimoji="1" lang="zh-CN" altLang="en-US" sz="1050" dirty="0"/>
              <a:t>源码</a:t>
            </a:r>
          </a:p>
        </p:txBody>
      </p:sp>
      <p:cxnSp>
        <p:nvCxnSpPr>
          <p:cNvPr id="168" name="直线箭头连接符 167">
            <a:extLst>
              <a:ext uri="{FF2B5EF4-FFF2-40B4-BE49-F238E27FC236}">
                <a16:creationId xmlns:a16="http://schemas.microsoft.com/office/drawing/2014/main" id="{3E59EC19-B6CA-10E9-2B11-147B95A11712}"/>
              </a:ext>
            </a:extLst>
          </p:cNvPr>
          <p:cNvCxnSpPr>
            <a:cxnSpLocks/>
            <a:stCxn id="80" idx="3"/>
            <a:endCxn id="148" idx="1"/>
          </p:cNvCxnSpPr>
          <p:nvPr/>
        </p:nvCxnSpPr>
        <p:spPr>
          <a:xfrm>
            <a:off x="5848057" y="2011852"/>
            <a:ext cx="1639788" cy="12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线箭头连接符 170">
            <a:extLst>
              <a:ext uri="{FF2B5EF4-FFF2-40B4-BE49-F238E27FC236}">
                <a16:creationId xmlns:a16="http://schemas.microsoft.com/office/drawing/2014/main" id="{1261DE82-DED1-3E59-5C55-BF0B1DFFB64B}"/>
              </a:ext>
            </a:extLst>
          </p:cNvPr>
          <p:cNvCxnSpPr>
            <a:stCxn id="80" idx="3"/>
            <a:endCxn id="137" idx="1"/>
          </p:cNvCxnSpPr>
          <p:nvPr/>
        </p:nvCxnSpPr>
        <p:spPr>
          <a:xfrm>
            <a:off x="5848057" y="2011852"/>
            <a:ext cx="1632993" cy="541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010C09F4-627B-F950-37F6-34B1EA0B2DA8}"/>
              </a:ext>
            </a:extLst>
          </p:cNvPr>
          <p:cNvCxnSpPr>
            <a:stCxn id="121" idx="3"/>
            <a:endCxn id="100" idx="1"/>
          </p:cNvCxnSpPr>
          <p:nvPr/>
        </p:nvCxnSpPr>
        <p:spPr>
          <a:xfrm flipV="1">
            <a:off x="9179516" y="5029848"/>
            <a:ext cx="371635" cy="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直线箭头连接符 181">
            <a:extLst>
              <a:ext uri="{FF2B5EF4-FFF2-40B4-BE49-F238E27FC236}">
                <a16:creationId xmlns:a16="http://schemas.microsoft.com/office/drawing/2014/main" id="{D6339CF3-B938-5338-4578-85BEA334C1DC}"/>
              </a:ext>
            </a:extLst>
          </p:cNvPr>
          <p:cNvCxnSpPr>
            <a:stCxn id="96" idx="3"/>
            <a:endCxn id="130" idx="1"/>
          </p:cNvCxnSpPr>
          <p:nvPr/>
        </p:nvCxnSpPr>
        <p:spPr>
          <a:xfrm flipV="1">
            <a:off x="9179516" y="5417106"/>
            <a:ext cx="371635" cy="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14564559-7CC6-9E30-8975-F0B896A06585}"/>
              </a:ext>
            </a:extLst>
          </p:cNvPr>
          <p:cNvCxnSpPr>
            <a:stCxn id="131" idx="3"/>
            <a:endCxn id="132" idx="1"/>
          </p:cNvCxnSpPr>
          <p:nvPr/>
        </p:nvCxnSpPr>
        <p:spPr>
          <a:xfrm flipV="1">
            <a:off x="9179516" y="5795112"/>
            <a:ext cx="371635" cy="2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线箭头连接符 189">
            <a:extLst>
              <a:ext uri="{FF2B5EF4-FFF2-40B4-BE49-F238E27FC236}">
                <a16:creationId xmlns:a16="http://schemas.microsoft.com/office/drawing/2014/main" id="{29415A0E-9C2A-1CBC-C52A-CB4134605AC1}"/>
              </a:ext>
            </a:extLst>
          </p:cNvPr>
          <p:cNvCxnSpPr>
            <a:cxnSpLocks/>
            <a:stCxn id="133" idx="3"/>
            <a:endCxn id="155" idx="1"/>
          </p:cNvCxnSpPr>
          <p:nvPr/>
        </p:nvCxnSpPr>
        <p:spPr>
          <a:xfrm flipV="1">
            <a:off x="9179514" y="3074596"/>
            <a:ext cx="341288" cy="6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线箭头连接符 191">
            <a:extLst>
              <a:ext uri="{FF2B5EF4-FFF2-40B4-BE49-F238E27FC236}">
                <a16:creationId xmlns:a16="http://schemas.microsoft.com/office/drawing/2014/main" id="{7BCA5593-4A97-31B0-3F69-A9AB00B23803}"/>
              </a:ext>
            </a:extLst>
          </p:cNvPr>
          <p:cNvCxnSpPr>
            <a:stCxn id="137" idx="3"/>
            <a:endCxn id="156" idx="1"/>
          </p:cNvCxnSpPr>
          <p:nvPr/>
        </p:nvCxnSpPr>
        <p:spPr>
          <a:xfrm flipV="1">
            <a:off x="9179515" y="2549771"/>
            <a:ext cx="341286" cy="3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线箭头连接符 193">
            <a:extLst>
              <a:ext uri="{FF2B5EF4-FFF2-40B4-BE49-F238E27FC236}">
                <a16:creationId xmlns:a16="http://schemas.microsoft.com/office/drawing/2014/main" id="{5432C648-7223-4E8B-5FDA-A661D30290AA}"/>
              </a:ext>
            </a:extLst>
          </p:cNvPr>
          <p:cNvCxnSpPr>
            <a:cxnSpLocks/>
            <a:stCxn id="148" idx="3"/>
            <a:endCxn id="165" idx="1"/>
          </p:cNvCxnSpPr>
          <p:nvPr/>
        </p:nvCxnSpPr>
        <p:spPr>
          <a:xfrm flipV="1">
            <a:off x="9186310" y="2024514"/>
            <a:ext cx="334491" cy="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线箭头连接符 204">
            <a:extLst>
              <a:ext uri="{FF2B5EF4-FFF2-40B4-BE49-F238E27FC236}">
                <a16:creationId xmlns:a16="http://schemas.microsoft.com/office/drawing/2014/main" id="{A4BF18C2-8323-A7DC-A3CC-876A40FCD2E5}"/>
              </a:ext>
            </a:extLst>
          </p:cNvPr>
          <p:cNvCxnSpPr>
            <a:stCxn id="73" idx="3"/>
            <a:endCxn id="80" idx="1"/>
          </p:cNvCxnSpPr>
          <p:nvPr/>
        </p:nvCxnSpPr>
        <p:spPr>
          <a:xfrm>
            <a:off x="4147859" y="1974619"/>
            <a:ext cx="329310" cy="37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8946A688-7AA2-4120-10EE-1A735FC2414E}"/>
              </a:ext>
            </a:extLst>
          </p:cNvPr>
          <p:cNvCxnSpPr>
            <a:stCxn id="81" idx="1"/>
            <a:endCxn id="83" idx="1"/>
          </p:cNvCxnSpPr>
          <p:nvPr/>
        </p:nvCxnSpPr>
        <p:spPr>
          <a:xfrm rot="10800000" flipH="1" flipV="1">
            <a:off x="4470954" y="2928307"/>
            <a:ext cx="870834" cy="2921449"/>
          </a:xfrm>
          <a:prstGeom prst="bentConnector3">
            <a:avLst>
              <a:gd name="adj1" fmla="val -2625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33694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E399-E546-CC1E-8397-41DADB65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70878160-1341-0C19-ABA6-82EC2DEF7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机械臂（舵机）串口读写链路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589992-E9DC-D158-2CFD-C214ADBE6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C7C75A-59BC-7754-058B-FEBDAC4430ED}"/>
              </a:ext>
            </a:extLst>
          </p:cNvPr>
          <p:cNvSpPr/>
          <p:nvPr/>
        </p:nvSpPr>
        <p:spPr>
          <a:xfrm>
            <a:off x="1883122" y="1953523"/>
            <a:ext cx="1999486" cy="646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async_read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C5B3AA-186D-5650-D3C7-044566946592}"/>
              </a:ext>
            </a:extLst>
          </p:cNvPr>
          <p:cNvSpPr/>
          <p:nvPr/>
        </p:nvSpPr>
        <p:spPr>
          <a:xfrm>
            <a:off x="4108871" y="1953523"/>
            <a:ext cx="1999486" cy="6461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async_write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64CF92-3B45-AB1D-8291-60F87C1D9786}"/>
              </a:ext>
            </a:extLst>
          </p:cNvPr>
          <p:cNvSpPr txBox="1"/>
          <p:nvPr/>
        </p:nvSpPr>
        <p:spPr>
          <a:xfrm>
            <a:off x="469279" y="2905129"/>
            <a:ext cx="3413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self.sync_reader.txRxPacket</a:t>
            </a:r>
            <a:r>
              <a:rPr lang="en-US" altLang="zh-CN" dirty="0"/>
              <a:t>()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5B1217-961D-7CEC-CC24-1D5AB12305B7}"/>
              </a:ext>
            </a:extLst>
          </p:cNvPr>
          <p:cNvSpPr txBox="1"/>
          <p:nvPr/>
        </p:nvSpPr>
        <p:spPr>
          <a:xfrm>
            <a:off x="4032668" y="2767935"/>
            <a:ext cx="3217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self.sync_writer.txPacket</a:t>
            </a:r>
            <a:r>
              <a:rPr lang="en-US" altLang="zh-CN" dirty="0"/>
              <a:t>()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CA744F-2FED-4CF9-4A2E-7AB08B465843}"/>
              </a:ext>
            </a:extLst>
          </p:cNvPr>
          <p:cNvSpPr txBox="1"/>
          <p:nvPr/>
        </p:nvSpPr>
        <p:spPr>
          <a:xfrm>
            <a:off x="6228685" y="2008801"/>
            <a:ext cx="2532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rgbClr val="00B0F0"/>
                </a:solidFill>
              </a:rPr>
              <a:t>motors_bus.py</a:t>
            </a:r>
            <a:endParaRPr lang="en-US" altLang="zh-CN" dirty="0">
              <a:solidFill>
                <a:srgbClr val="00B0F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B45BB3-E4AF-8CD5-16E7-2DB930344325}"/>
              </a:ext>
            </a:extLst>
          </p:cNvPr>
          <p:cNvSpPr txBox="1"/>
          <p:nvPr/>
        </p:nvSpPr>
        <p:spPr>
          <a:xfrm>
            <a:off x="6883146" y="3957114"/>
            <a:ext cx="4904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scservo_sdk</a:t>
            </a:r>
            <a:r>
              <a:rPr lang="en-US" altLang="zh-CN" dirty="0">
                <a:solidFill>
                  <a:srgbClr val="00B0F0"/>
                </a:solidFill>
              </a:rPr>
              <a:t>/</a:t>
            </a:r>
            <a:r>
              <a:rPr lang="en-US" altLang="zh-CN" dirty="0" err="1">
                <a:solidFill>
                  <a:srgbClr val="00B0F0"/>
                </a:solidFill>
              </a:rPr>
              <a:t>protocol_packet_handler.py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E0F009B-AFA5-AE5A-CC5B-02C63A64FBC0}"/>
              </a:ext>
            </a:extLst>
          </p:cNvPr>
          <p:cNvSpPr txBox="1"/>
          <p:nvPr/>
        </p:nvSpPr>
        <p:spPr>
          <a:xfrm>
            <a:off x="3980399" y="4064836"/>
            <a:ext cx="39037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altLang="zh-CN" sz="11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self.ph.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syncWriteTxOnly</a:t>
            </a:r>
            <a:endParaRPr lang="en-US" altLang="zh-CN" sz="11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r>
              <a:rPr lang="zh-CN" altLang="en-US" dirty="0"/>
              <a:t>发送广播 </a:t>
            </a:r>
            <a:r>
              <a:rPr lang="en-US" altLang="zh-CN" dirty="0" err="1"/>
              <a:t>SyncWrite</a:t>
            </a:r>
            <a:r>
              <a:rPr lang="en-US" altLang="zh-CN" dirty="0"/>
              <a:t> </a:t>
            </a:r>
            <a:r>
              <a:rPr lang="zh-CN" altLang="en-US" dirty="0"/>
              <a:t>指令包（</a:t>
            </a:r>
            <a:r>
              <a:rPr lang="en-US" altLang="zh-CN" dirty="0"/>
              <a:t>INST_SYNC_WRITE</a:t>
            </a:r>
            <a:r>
              <a:rPr lang="zh-CN" altLang="en-US" dirty="0"/>
              <a:t>），一次性写多个电机寄存器。</a:t>
            </a:r>
          </a:p>
          <a:p>
            <a:pPr algn="l">
              <a:buNone/>
            </a:pPr>
            <a:endParaRPr lang="en-US" altLang="zh-CN" sz="11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F90C5F-B737-0D3C-BBC0-F6F1C08EC406}"/>
              </a:ext>
            </a:extLst>
          </p:cNvPr>
          <p:cNvSpPr txBox="1"/>
          <p:nvPr/>
        </p:nvSpPr>
        <p:spPr>
          <a:xfrm>
            <a:off x="9199235" y="2022563"/>
            <a:ext cx="2664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Lerobot</a:t>
            </a:r>
            <a:r>
              <a:rPr kumimoji="1" lang="zh-CN" altLang="en-US" dirty="0"/>
              <a:t>项目内舵机部分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D875C5-D9B3-DCC6-001A-28CBD2A08E4A}"/>
              </a:ext>
            </a:extLst>
          </p:cNvPr>
          <p:cNvSpPr txBox="1"/>
          <p:nvPr/>
        </p:nvSpPr>
        <p:spPr>
          <a:xfrm>
            <a:off x="9720425" y="3695504"/>
            <a:ext cx="1962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Feetech</a:t>
            </a:r>
            <a:r>
              <a:rPr kumimoji="1" lang="zh-CN" altLang="en-US" dirty="0"/>
              <a:t>舵机</a:t>
            </a:r>
            <a:r>
              <a:rPr kumimoji="1" lang="en-US" altLang="zh-CN" dirty="0"/>
              <a:t>SDK</a:t>
            </a:r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BC9E30-EDE0-B076-B604-C4F5F52D67B6}"/>
              </a:ext>
            </a:extLst>
          </p:cNvPr>
          <p:cNvSpPr txBox="1"/>
          <p:nvPr/>
        </p:nvSpPr>
        <p:spPr>
          <a:xfrm>
            <a:off x="1059985" y="3573902"/>
            <a:ext cx="2897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altLang="zh-CN" b="1" i="0" dirty="0" err="1">
                <a:solidFill>
                  <a:srgbClr val="333333"/>
                </a:solidFill>
                <a:effectLst/>
                <a:latin typeface="-apple-system"/>
              </a:rPr>
              <a:t>GroupSyncRead.txRxPacket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()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1967DBC-5E91-E789-B7BF-52F9FCAF504D}"/>
              </a:ext>
            </a:extLst>
          </p:cNvPr>
          <p:cNvSpPr txBox="1"/>
          <p:nvPr/>
        </p:nvSpPr>
        <p:spPr>
          <a:xfrm>
            <a:off x="469279" y="3883702"/>
            <a:ext cx="451086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txRxPacket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(self):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result =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result != COMM_SUCCESS: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result</a:t>
            </a: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   </a:t>
            </a:r>
            <a:r>
              <a:rPr lang="en-US" altLang="zh-CN" sz="1400" b="0" i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self.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rxPacket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algn="l">
              <a:buNone/>
            </a:pPr>
            <a:endParaRPr lang="en-US" altLang="zh-CN" sz="1400" dirty="0">
              <a:solidFill>
                <a:srgbClr val="333333"/>
              </a:solidFill>
              <a:latin typeface="Menlo" panose="020B0609030804020204" pitchFamily="49" charset="0"/>
            </a:endParaRPr>
          </a:p>
          <a:p>
            <a:pPr algn="l">
              <a:buNone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是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一个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tx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+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一个</a:t>
            </a:r>
            <a:r>
              <a:rPr lang="en-US" altLang="zh-CN" sz="1400" b="0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rx</a:t>
            </a:r>
            <a:endParaRPr lang="en-US" altLang="zh-CN" sz="1400" b="0" i="0" dirty="0">
              <a:solidFill>
                <a:srgbClr val="333333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70FB358-736C-F5E0-7EEA-9A61625821B8}"/>
              </a:ext>
            </a:extLst>
          </p:cNvPr>
          <p:cNvSpPr txBox="1"/>
          <p:nvPr/>
        </p:nvSpPr>
        <p:spPr>
          <a:xfrm>
            <a:off x="4108871" y="3596706"/>
            <a:ext cx="2707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altLang="zh-CN" b="1" i="0" dirty="0" err="1">
                <a:solidFill>
                  <a:srgbClr val="333333"/>
                </a:solidFill>
                <a:effectLst/>
                <a:latin typeface="-apple-system"/>
              </a:rPr>
              <a:t>GroupSyncRead.txPacket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-apple-system"/>
              </a:rPr>
              <a:t>()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FC4326-D54D-C478-41B5-6268FB31B4C9}"/>
              </a:ext>
            </a:extLst>
          </p:cNvPr>
          <p:cNvSpPr txBox="1"/>
          <p:nvPr/>
        </p:nvSpPr>
        <p:spPr>
          <a:xfrm>
            <a:off x="6816407" y="3274461"/>
            <a:ext cx="39037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scservo_sdk</a:t>
            </a:r>
            <a:r>
              <a:rPr lang="en-US" altLang="zh-CN" dirty="0">
                <a:solidFill>
                  <a:srgbClr val="00B0F0"/>
                </a:solidFill>
              </a:rPr>
              <a:t>/ </a:t>
            </a:r>
            <a:r>
              <a:rPr kumimoji="1" lang="en-US" altLang="zh-CN" dirty="0" err="1">
                <a:solidFill>
                  <a:srgbClr val="00B0F0"/>
                </a:solidFill>
              </a:rPr>
              <a:t>group_sync_write.py</a:t>
            </a:r>
            <a:endParaRPr kumimoji="1" lang="en-US" altLang="zh-CN" dirty="0">
              <a:solidFill>
                <a:srgbClr val="00B0F0"/>
              </a:solidFill>
            </a:endParaRPr>
          </a:p>
          <a:p>
            <a:r>
              <a:rPr kumimoji="1" lang="en-US" altLang="zh-CN" dirty="0" err="1">
                <a:solidFill>
                  <a:srgbClr val="00B0F0"/>
                </a:solidFill>
              </a:rPr>
              <a:t>group_sync_read.py</a:t>
            </a:r>
            <a:endParaRPr kumimoji="1" lang="zh-CN" altLang="en-US" dirty="0">
              <a:solidFill>
                <a:srgbClr val="00B0F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556F8F7-58E5-44FE-B62B-52835ABADB13}"/>
              </a:ext>
            </a:extLst>
          </p:cNvPr>
          <p:cNvSpPr txBox="1"/>
          <p:nvPr/>
        </p:nvSpPr>
        <p:spPr>
          <a:xfrm>
            <a:off x="125704" y="884622"/>
            <a:ext cx="8042936" cy="976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=4.1ms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=4.1, proc=0.0, frame=0.0)action=6.7ms (proc=0.0, send=6.4, dataset=0.2, display=0.0)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=12.1ms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=12.1, proc=0.0, frame=0.0)action=3.2ms (proc=0.0, send=2.9, dataset=0.2, display=0.0)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=6.3ms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=6.2, proc=0.0, frame=0.0)action=0.6ms (proc=0.0, send=0.4, dataset=0.2, display=0.0)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=3.0ms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=3.0, proc=0.0, frame=0.0)action=2.3ms (proc=0.0, send=2.1, dataset=0.2, display=0.0)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obs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=4.6ms 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hw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=4.6, proc=0.0, frame=0.0)action=0.7ms (proc=0.0, send=0.5, dataset=0.2, display=0.0) 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40D8F2C-2D5E-E741-D27A-B37B6254C41A}"/>
              </a:ext>
            </a:extLst>
          </p:cNvPr>
          <p:cNvSpPr txBox="1"/>
          <p:nvPr/>
        </p:nvSpPr>
        <p:spPr>
          <a:xfrm>
            <a:off x="8327136" y="1072896"/>
            <a:ext cx="19319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正常一帧</a:t>
            </a:r>
            <a:r>
              <a:rPr kumimoji="1" lang="en-US" altLang="zh-CN" dirty="0"/>
              <a:t>33ms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r>
              <a:rPr kumimoji="1" lang="en-US" altLang="zh-CN" dirty="0" err="1"/>
              <a:t>obs</a:t>
            </a:r>
            <a:r>
              <a:rPr kumimoji="1" lang="zh-CN" altLang="en-US" dirty="0"/>
              <a:t>占</a:t>
            </a:r>
            <a:r>
              <a:rPr kumimoji="1" lang="en-US" altLang="zh-CN" dirty="0">
                <a:highlight>
                  <a:srgbClr val="FFFF00"/>
                </a:highlight>
              </a:rPr>
              <a:t>1-5ms</a:t>
            </a:r>
          </a:p>
          <a:p>
            <a:r>
              <a:rPr kumimoji="1" lang="en-US" altLang="zh-CN" dirty="0"/>
              <a:t>Send</a:t>
            </a:r>
            <a:r>
              <a:rPr kumimoji="1" lang="zh-CN" altLang="en-US" dirty="0"/>
              <a:t>占</a:t>
            </a:r>
            <a:r>
              <a:rPr kumimoji="1" lang="en-US" altLang="zh-CN" dirty="0">
                <a:highlight>
                  <a:srgbClr val="FFFF00"/>
                </a:highlight>
              </a:rPr>
              <a:t>1-7ms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47E6A0-2580-AACD-0692-FB02EA9458C1}"/>
              </a:ext>
            </a:extLst>
          </p:cNvPr>
          <p:cNvSpPr txBox="1"/>
          <p:nvPr/>
        </p:nvSpPr>
        <p:spPr>
          <a:xfrm>
            <a:off x="1266222" y="5332275"/>
            <a:ext cx="17268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port.clearPort</a:t>
            </a:r>
            <a:endParaRPr lang="en-US" altLang="zh-CN" dirty="0"/>
          </a:p>
          <a:p>
            <a:r>
              <a:rPr lang="en-US" altLang="zh-CN" dirty="0" err="1"/>
              <a:t>port.writePort</a:t>
            </a:r>
            <a:endParaRPr lang="en-US" altLang="zh-CN" dirty="0"/>
          </a:p>
          <a:p>
            <a:r>
              <a:rPr lang="en-US" altLang="zh-CN" dirty="0" err="1"/>
              <a:t>port.readPort</a:t>
            </a:r>
            <a:endParaRPr lang="en-US" altLang="zh-CN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30B6E1-B012-EE1D-FB09-70AB5467DC9D}"/>
              </a:ext>
            </a:extLst>
          </p:cNvPr>
          <p:cNvSpPr txBox="1"/>
          <p:nvPr/>
        </p:nvSpPr>
        <p:spPr>
          <a:xfrm>
            <a:off x="4032668" y="5297248"/>
            <a:ext cx="1864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port.</a:t>
            </a:r>
            <a:r>
              <a:rPr lang="en-US" altLang="zh-CN" dirty="0" err="1">
                <a:highlight>
                  <a:srgbClr val="FFFF00"/>
                </a:highlight>
              </a:rPr>
              <a:t>clear</a:t>
            </a:r>
            <a:r>
              <a:rPr lang="en-US" altLang="zh-CN" dirty="0" err="1"/>
              <a:t>Port</a:t>
            </a:r>
            <a:endParaRPr lang="en-US" altLang="zh-CN" dirty="0"/>
          </a:p>
          <a:p>
            <a:r>
              <a:rPr lang="en-US" altLang="zh-CN" dirty="0" err="1"/>
              <a:t>port.</a:t>
            </a:r>
            <a:r>
              <a:rPr lang="en-US" altLang="zh-CN" dirty="0" err="1">
                <a:highlight>
                  <a:srgbClr val="FFFF00"/>
                </a:highlight>
              </a:rPr>
              <a:t>write</a:t>
            </a:r>
            <a:r>
              <a:rPr lang="en-US" altLang="zh-CN" dirty="0" err="1"/>
              <a:t>Port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A9076DF-D17D-38D5-48C5-4C128F4C2312}"/>
              </a:ext>
            </a:extLst>
          </p:cNvPr>
          <p:cNvSpPr txBox="1"/>
          <p:nvPr/>
        </p:nvSpPr>
        <p:spPr>
          <a:xfrm>
            <a:off x="6787064" y="5055327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port_handler.py   </a:t>
            </a:r>
            <a:r>
              <a:rPr lang="en-US" altLang="zh-CN" dirty="0">
                <a:solidFill>
                  <a:srgbClr val="00B0F0"/>
                </a:solidFill>
              </a:rPr>
              <a:t>-&gt;  </a:t>
            </a:r>
            <a:r>
              <a:rPr lang="zh-CN" altLang="en-US" dirty="0">
                <a:solidFill>
                  <a:srgbClr val="00B0F0"/>
                </a:solidFill>
              </a:rPr>
              <a:t>后面到了</a:t>
            </a:r>
            <a:r>
              <a:rPr lang="en-US" altLang="zh-CN" dirty="0" err="1">
                <a:solidFill>
                  <a:srgbClr val="00B0F0"/>
                </a:solidFill>
                <a:highlight>
                  <a:srgbClr val="FFFF00"/>
                </a:highlight>
              </a:rPr>
              <a:t>pyserial</a:t>
            </a:r>
            <a:endParaRPr lang="zh-CN" altLang="en-US" dirty="0">
              <a:solidFill>
                <a:srgbClr val="00B0F0"/>
              </a:solidFill>
              <a:highlight>
                <a:srgbClr val="FFFF00"/>
              </a:highlight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24AC82A-8A7B-70E3-9A70-B0E12EC67136}"/>
              </a:ext>
            </a:extLst>
          </p:cNvPr>
          <p:cNvSpPr txBox="1"/>
          <p:nvPr/>
        </p:nvSpPr>
        <p:spPr>
          <a:xfrm>
            <a:off x="4460790" y="5843689"/>
            <a:ext cx="676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clear</a:t>
            </a:r>
            <a:r>
              <a:rPr kumimoji="1" lang="zh-CN" altLang="en-US" dirty="0"/>
              <a:t> 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这三个都有耗时</a:t>
            </a:r>
            <a:r>
              <a:rPr kumimoji="1" lang="en-US" altLang="zh-CN" dirty="0"/>
              <a:t>0.5-5</a:t>
            </a:r>
            <a:r>
              <a:rPr kumimoji="1" lang="zh-CN" altLang="en-US" dirty="0"/>
              <a:t>毫秒（已经打</a:t>
            </a:r>
            <a:r>
              <a:rPr kumimoji="1" lang="en-US" altLang="zh-CN" dirty="0"/>
              <a:t>log</a:t>
            </a:r>
            <a:r>
              <a:rPr kumimoji="1" lang="zh-CN" altLang="en-US" dirty="0"/>
              <a:t>确认了）</a:t>
            </a:r>
          </a:p>
        </p:txBody>
      </p:sp>
      <p:cxnSp>
        <p:nvCxnSpPr>
          <p:cNvPr id="45" name="直线连接符 44">
            <a:extLst>
              <a:ext uri="{FF2B5EF4-FFF2-40B4-BE49-F238E27FC236}">
                <a16:creationId xmlns:a16="http://schemas.microsoft.com/office/drawing/2014/main" id="{1F119507-8499-9ADF-B8A7-CFC05438431A}"/>
              </a:ext>
            </a:extLst>
          </p:cNvPr>
          <p:cNvCxnSpPr>
            <a:cxnSpLocks/>
          </p:cNvCxnSpPr>
          <p:nvPr/>
        </p:nvCxnSpPr>
        <p:spPr>
          <a:xfrm flipH="1">
            <a:off x="3957036" y="1860915"/>
            <a:ext cx="23363" cy="4230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F1211E6-685E-53C4-FC31-D3523687C262}"/>
              </a:ext>
            </a:extLst>
          </p:cNvPr>
          <p:cNvSpPr txBox="1"/>
          <p:nvPr/>
        </p:nvSpPr>
        <p:spPr>
          <a:xfrm>
            <a:off x="173633" y="1975746"/>
            <a:ext cx="1789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读需要</a:t>
            </a:r>
            <a:r>
              <a:rPr kumimoji="1" lang="zh-CN" altLang="en-US" dirty="0">
                <a:highlight>
                  <a:srgbClr val="FFFF00"/>
                </a:highlight>
              </a:rPr>
              <a:t>先</a:t>
            </a:r>
            <a:r>
              <a:rPr kumimoji="1" lang="en-US" altLang="zh-CN" dirty="0" err="1">
                <a:highlight>
                  <a:srgbClr val="FFFF00"/>
                </a:highlight>
              </a:rPr>
              <a:t>tx</a:t>
            </a:r>
            <a:r>
              <a:rPr kumimoji="1" lang="zh-CN" altLang="en-US" dirty="0">
                <a:highlight>
                  <a:srgbClr val="FFFF00"/>
                </a:highlight>
              </a:rPr>
              <a:t>在</a:t>
            </a:r>
            <a:r>
              <a:rPr kumimoji="1" lang="en-US" altLang="zh-CN" dirty="0" err="1">
                <a:highlight>
                  <a:srgbClr val="FFFF00"/>
                </a:highlight>
              </a:rPr>
              <a:t>rx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zh-CN" altLang="en-US" dirty="0"/>
              <a:t>先发送要读信号</a:t>
            </a:r>
            <a:endParaRPr kumimoji="1" lang="en-US" altLang="zh-CN" dirty="0"/>
          </a:p>
          <a:p>
            <a:r>
              <a:rPr kumimoji="1" lang="zh-CN" altLang="en-US" dirty="0"/>
              <a:t>再读串口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B34A01-C03C-5FAB-DE40-209A0D5701A7}"/>
              </a:ext>
            </a:extLst>
          </p:cNvPr>
          <p:cNvSpPr txBox="1"/>
          <p:nvPr/>
        </p:nvSpPr>
        <p:spPr>
          <a:xfrm>
            <a:off x="8420986" y="4720856"/>
            <a:ext cx="1158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写仅需</a:t>
            </a:r>
            <a:r>
              <a:rPr kumimoji="1" lang="en-US" altLang="zh-CN" dirty="0"/>
              <a:t>TX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99F7A4-062F-284C-EA0C-2FBBC5D6002F}"/>
              </a:ext>
            </a:extLst>
          </p:cNvPr>
          <p:cNvSpPr txBox="1"/>
          <p:nvPr/>
        </p:nvSpPr>
        <p:spPr>
          <a:xfrm>
            <a:off x="776640" y="5566690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Tx</a:t>
            </a:r>
          </a:p>
          <a:p>
            <a:r>
              <a:rPr kumimoji="1" lang="en-US" altLang="zh-CN" dirty="0"/>
              <a:t>Rx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5251E9-1936-51CB-FA71-C05E313E73A2}"/>
              </a:ext>
            </a:extLst>
          </p:cNvPr>
          <p:cNvSpPr txBox="1"/>
          <p:nvPr/>
        </p:nvSpPr>
        <p:spPr>
          <a:xfrm>
            <a:off x="5787321" y="5419543"/>
            <a:ext cx="514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Tx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0B5AB5-16B8-1A59-9D3E-8AA71BBEFE72}"/>
              </a:ext>
            </a:extLst>
          </p:cNvPr>
          <p:cNvSpPr txBox="1"/>
          <p:nvPr/>
        </p:nvSpPr>
        <p:spPr>
          <a:xfrm>
            <a:off x="8199120" y="2926080"/>
            <a:ext cx="2012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highlight>
                  <a:srgbClr val="FFFF00"/>
                </a:highlight>
              </a:rPr>
              <a:t>Serial</a:t>
            </a:r>
            <a:r>
              <a:rPr kumimoji="1" lang="zh-CN" altLang="en-US" dirty="0">
                <a:highlight>
                  <a:srgbClr val="FFFF00"/>
                </a:highlight>
              </a:rPr>
              <a:t>协议</a:t>
            </a:r>
            <a:r>
              <a:rPr kumimoji="1" lang="en-US" altLang="zh-CN" dirty="0">
                <a:highlight>
                  <a:srgbClr val="FFFF00"/>
                </a:highlight>
              </a:rPr>
              <a:t>1Mbps</a:t>
            </a:r>
            <a:endParaRPr kumimoji="1"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13384704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写：</a:t>
            </a:r>
            <a:r>
              <a:rPr lang="en-US" altLang="zh-CN" dirty="0" err="1"/>
              <a:t>Pyserial</a:t>
            </a:r>
            <a:r>
              <a:rPr lang="zh-CN" altLang="en-US" dirty="0"/>
              <a:t>到内核</a:t>
            </a: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698912-89BF-23E5-BE69-4675EA687ECC}"/>
              </a:ext>
            </a:extLst>
          </p:cNvPr>
          <p:cNvSpPr/>
          <p:nvPr/>
        </p:nvSpPr>
        <p:spPr>
          <a:xfrm>
            <a:off x="5812025" y="990352"/>
            <a:ext cx="2133600" cy="81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ser.write</a:t>
            </a:r>
            <a:r>
              <a:rPr lang="en-US" altLang="zh-CN" dirty="0"/>
              <a:t>(packet)</a:t>
            </a:r>
          </a:p>
          <a:p>
            <a:pPr algn="ctr"/>
            <a:r>
              <a:rPr kumimoji="1" lang="en-US" altLang="zh-CN" dirty="0" err="1">
                <a:solidFill>
                  <a:srgbClr val="FFFF00"/>
                </a:solidFill>
              </a:rPr>
              <a:t>serialposix.py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37BC7C-B7EC-80D5-8891-DC4C9E0E9AAB}"/>
              </a:ext>
            </a:extLst>
          </p:cNvPr>
          <p:cNvSpPr/>
          <p:nvPr/>
        </p:nvSpPr>
        <p:spPr>
          <a:xfrm>
            <a:off x="6096000" y="2571444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select.select</a:t>
            </a:r>
            <a:r>
              <a:rPr lang="en-US" altLang="zh-CN" dirty="0"/>
              <a:t>()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9ACF2E5-B4ED-599B-F394-F8066428015D}"/>
              </a:ext>
            </a:extLst>
          </p:cNvPr>
          <p:cNvSpPr/>
          <p:nvPr/>
        </p:nvSpPr>
        <p:spPr>
          <a:xfrm>
            <a:off x="6096000" y="2013509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os.write</a:t>
            </a:r>
            <a:r>
              <a:rPr lang="en-US" altLang="zh-CN" dirty="0"/>
              <a:t>(</a:t>
            </a:r>
            <a:r>
              <a:rPr lang="en-US" altLang="zh-CN" dirty="0" err="1"/>
              <a:t>self.fd</a:t>
            </a:r>
            <a:r>
              <a:rPr lang="en-US" altLang="zh-CN" dirty="0"/>
              <a:t>, d)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F847CD-691F-C3B3-A242-D8B103B7CD8D}"/>
              </a:ext>
            </a:extLst>
          </p:cNvPr>
          <p:cNvSpPr/>
          <p:nvPr/>
        </p:nvSpPr>
        <p:spPr>
          <a:xfrm>
            <a:off x="10473889" y="240075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pselect6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9485E1-C988-F333-604F-D613AF4FDA34}"/>
              </a:ext>
            </a:extLst>
          </p:cNvPr>
          <p:cNvSpPr txBox="1"/>
          <p:nvPr/>
        </p:nvSpPr>
        <p:spPr>
          <a:xfrm>
            <a:off x="-5388" y="893600"/>
            <a:ext cx="6230114" cy="3670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self, data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data: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调用方传入的待发送数据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可以是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bytes/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bytearray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其他可转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bytes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的类型。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返回值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实际写入的总字节数。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循环发送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直到全部写完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或因为超时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取消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异常而退出。</a:t>
            </a:r>
            <a:endParaRPr lang="en-US" altLang="zh-CN" sz="1050" b="0" dirty="0">
              <a:solidFill>
                <a:srgbClr val="96969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to_bytes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)#</a:t>
            </a:r>
            <a:r>
              <a:rPr lang="zh-CN" altLang="en-US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转成字节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length </a:t>
            </a:r>
            <a:r>
              <a:rPr lang="en-US" altLang="zh-CN" sz="10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)#</a:t>
            </a:r>
            <a:r>
              <a:rPr lang="zh-CN" altLang="en-US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计算长度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0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真正执行系统调用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os.write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d),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将用户态缓冲区写入串口驱动。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os.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timeout.is_infinite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当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timeout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不为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None,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使用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select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变为“可写”。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expired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SerialTimeoutException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'Write timeout'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等待串口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重新变为可写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同时监听取消写操作的管道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。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3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abort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ready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select.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self.pipe_abort_write_r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[],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time_left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丢弃已经成功发出的前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个字节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继续发送剩余部分。</a:t>
            </a:r>
            <a:endParaRPr lang="zh-CN" altLang="en-US" sz="105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n: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-=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n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B84580-5122-7A8F-1AF2-27F4F1BAA4A5}"/>
              </a:ext>
            </a:extLst>
          </p:cNvPr>
          <p:cNvSpPr/>
          <p:nvPr/>
        </p:nvSpPr>
        <p:spPr>
          <a:xfrm>
            <a:off x="10473889" y="201518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write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71AFAD-2FAC-488A-E7E3-30794198E006}"/>
              </a:ext>
            </a:extLst>
          </p:cNvPr>
          <p:cNvSpPr/>
          <p:nvPr/>
        </p:nvSpPr>
        <p:spPr>
          <a:xfrm>
            <a:off x="9540110" y="2010461"/>
            <a:ext cx="811418" cy="731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zh-CN" altLang="en-US" dirty="0"/>
              <a:t>封装</a:t>
            </a:r>
            <a:endParaRPr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4477CDE-A849-2AE3-1EC9-32A6CE0EC94F}"/>
              </a:ext>
            </a:extLst>
          </p:cNvPr>
          <p:cNvSpPr txBox="1"/>
          <p:nvPr/>
        </p:nvSpPr>
        <p:spPr>
          <a:xfrm>
            <a:off x="10511911" y="1582370"/>
            <a:ext cx="90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C6AEB5C-C834-0439-D6C9-AAEC25BA2300}"/>
              </a:ext>
            </a:extLst>
          </p:cNvPr>
          <p:cNvSpPr txBox="1"/>
          <p:nvPr/>
        </p:nvSpPr>
        <p:spPr>
          <a:xfrm>
            <a:off x="8400054" y="1136822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Pyserical</a:t>
            </a:r>
            <a:endParaRPr kumimoji="1"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A269333-F9A6-F6D6-62EC-6E9FF255B4B5}"/>
              </a:ext>
            </a:extLst>
          </p:cNvPr>
          <p:cNvSpPr/>
          <p:nvPr/>
        </p:nvSpPr>
        <p:spPr>
          <a:xfrm>
            <a:off x="8284010" y="2010461"/>
            <a:ext cx="1140056" cy="731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zh-CN" altLang="en-US" dirty="0"/>
              <a:t>封装</a:t>
            </a:r>
            <a:endParaRPr lang="en-US" altLang="zh-CN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F66FD73F-9FDC-0E65-C49F-052C0C45D747}"/>
              </a:ext>
            </a:extLst>
          </p:cNvPr>
          <p:cNvCxnSpPr>
            <a:stCxn id="14" idx="2"/>
            <a:endCxn id="22" idx="0"/>
          </p:cNvCxnSpPr>
          <p:nvPr/>
        </p:nvCxnSpPr>
        <p:spPr>
          <a:xfrm>
            <a:off x="6878825" y="1810264"/>
            <a:ext cx="285131" cy="20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2598FBCA-9D92-DCF5-1F4B-C30CCAE6F36C}"/>
              </a:ext>
            </a:extLst>
          </p:cNvPr>
          <p:cNvCxnSpPr>
            <a:stCxn id="22" idx="2"/>
            <a:endCxn id="15" idx="0"/>
          </p:cNvCxnSpPr>
          <p:nvPr/>
        </p:nvCxnSpPr>
        <p:spPr>
          <a:xfrm>
            <a:off x="7163956" y="2354885"/>
            <a:ext cx="0" cy="21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8396CD61-FFA6-A244-BA3D-15DB9C5E2FEB}"/>
              </a:ext>
            </a:extLst>
          </p:cNvPr>
          <p:cNvCxnSpPr>
            <a:cxnSpLocks/>
            <a:stCxn id="15" idx="2"/>
            <a:endCxn id="22" idx="1"/>
          </p:cNvCxnSpPr>
          <p:nvPr/>
        </p:nvCxnSpPr>
        <p:spPr>
          <a:xfrm rot="5400000" flipH="1">
            <a:off x="6265666" y="2014531"/>
            <a:ext cx="728623" cy="1067956"/>
          </a:xfrm>
          <a:prstGeom prst="bentConnector4">
            <a:avLst>
              <a:gd name="adj1" fmla="val -31374"/>
              <a:gd name="adj2" fmla="val 121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12E60DE6-492D-C6DE-4CF9-D88E76E923B4}"/>
              </a:ext>
            </a:extLst>
          </p:cNvPr>
          <p:cNvSpPr txBox="1"/>
          <p:nvPr/>
        </p:nvSpPr>
        <p:spPr>
          <a:xfrm>
            <a:off x="6123794" y="3312070"/>
            <a:ext cx="459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循环调用尝试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，不能写就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阻塞等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98DBCF5-F288-EE29-035F-2C804E633512}"/>
              </a:ext>
            </a:extLst>
          </p:cNvPr>
          <p:cNvSpPr txBox="1"/>
          <p:nvPr/>
        </p:nvSpPr>
        <p:spPr>
          <a:xfrm>
            <a:off x="57550" y="5164566"/>
            <a:ext cx="6104238" cy="799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flush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100" b="0" dirty="0">
              <a:solidFill>
                <a:srgbClr val="3778B7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self.is_open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PortNotOpenError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termios.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tcdrain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zh-CN" altLang="en-US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glibc</a:t>
            </a:r>
            <a:r>
              <a:rPr lang="zh-CN" altLang="en-US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的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tcdrain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07A634-C6B7-0491-9CCB-19C1FE6E358C}"/>
              </a:ext>
            </a:extLst>
          </p:cNvPr>
          <p:cNvSpPr txBox="1"/>
          <p:nvPr/>
        </p:nvSpPr>
        <p:spPr>
          <a:xfrm>
            <a:off x="4659205" y="4767722"/>
            <a:ext cx="4724370" cy="1335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/* With an argument of 1, TCSBRK for output to be drain. */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TCSBRK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weak_alias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tcdrain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56D14C-6B05-97CD-486A-E41960B2BA35}"/>
              </a:ext>
            </a:extLst>
          </p:cNvPr>
          <p:cNvSpPr txBox="1"/>
          <p:nvPr/>
        </p:nvSpPr>
        <p:spPr>
          <a:xfrm>
            <a:off x="8646701" y="5564483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直接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（</a:t>
            </a:r>
            <a:r>
              <a:rPr kumimoji="1" lang="en-US" altLang="zh-CN" dirty="0" err="1"/>
              <a:t>ioctl</a:t>
            </a:r>
            <a:endParaRPr kumimoji="1" lang="en-US" altLang="zh-CN" dirty="0"/>
          </a:p>
          <a:p>
            <a:r>
              <a:rPr lang="zh-CN" altLang="en-US" dirty="0"/>
              <a:t>等串口待发送数据真正发完</a:t>
            </a:r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75D5C7D-BAEC-BD40-4B0C-2288332F9302}"/>
              </a:ext>
            </a:extLst>
          </p:cNvPr>
          <p:cNvSpPr txBox="1"/>
          <p:nvPr/>
        </p:nvSpPr>
        <p:spPr>
          <a:xfrm>
            <a:off x="109336" y="4446788"/>
            <a:ext cx="874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Flush</a:t>
            </a:r>
            <a:r>
              <a:rPr kumimoji="1" lang="zh-CN" altLang="en-US" dirty="0"/>
              <a:t>直接调用</a:t>
            </a:r>
            <a:r>
              <a:rPr lang="en-US" altLang="zh-CN" dirty="0" err="1">
                <a:solidFill>
                  <a:srgbClr val="A56416"/>
                </a:solidFill>
                <a:latin typeface="Menlo" panose="020B0609030804020204" pitchFamily="49" charset="0"/>
              </a:rPr>
              <a:t>tcdrain</a:t>
            </a:r>
            <a:r>
              <a:rPr lang="zh-CN" altLang="en-US" dirty="0">
                <a:solidFill>
                  <a:srgbClr val="A56416"/>
                </a:solidFill>
                <a:latin typeface="Menlo" panose="020B0609030804020204" pitchFamily="49" charset="0"/>
              </a:rPr>
              <a:t>直接调用</a:t>
            </a:r>
            <a:r>
              <a:rPr lang="en-US" altLang="zh-CN" dirty="0">
                <a:solidFill>
                  <a:srgbClr val="B052A1"/>
                </a:solidFill>
                <a:latin typeface="Menlo" panose="020B0609030804020204" pitchFamily="49" charset="0"/>
              </a:rPr>
              <a:t>SYSCALL_CANCEL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(</a:t>
            </a:r>
            <a:r>
              <a:rPr lang="en-US" altLang="zh-CN" dirty="0" err="1">
                <a:solidFill>
                  <a:srgbClr val="333333"/>
                </a:solidFill>
                <a:latin typeface="Menlo" panose="020B0609030804020204" pitchFamily="49" charset="0"/>
              </a:rPr>
              <a:t>ioctl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 err="1">
                <a:solidFill>
                  <a:srgbClr val="333333"/>
                </a:solidFill>
                <a:latin typeface="Menlo" panose="020B0609030804020204" pitchFamily="49" charset="0"/>
              </a:rPr>
              <a:t>fd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TCSBRK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,</a:t>
            </a:r>
            <a:r>
              <a:rPr lang="en-US" altLang="zh-CN" dirty="0">
                <a:solidFill>
                  <a:srgbClr val="333333"/>
                </a:solidFill>
                <a:latin typeface="Menlo" panose="020B0609030804020204" pitchFamily="49" charset="0"/>
              </a:rPr>
              <a:t> </a:t>
            </a:r>
            <a:r>
              <a:rPr lang="en-US" altLang="zh-CN" dirty="0">
                <a:solidFill>
                  <a:srgbClr val="3778B7"/>
                </a:solidFill>
                <a:latin typeface="Menlo" panose="020B0609030804020204" pitchFamily="49" charset="0"/>
              </a:rPr>
              <a:t>1</a:t>
            </a:r>
            <a:r>
              <a:rPr lang="en-US" altLang="zh-CN" dirty="0">
                <a:solidFill>
                  <a:srgbClr val="1A1A1A"/>
                </a:solidFill>
                <a:latin typeface="Menlo" panose="020B0609030804020204" pitchFamily="49" charset="0"/>
              </a:rPr>
              <a:t>)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2828F3-C691-6607-D62C-A06FB380D5D5}"/>
              </a:ext>
            </a:extLst>
          </p:cNvPr>
          <p:cNvSpPr/>
          <p:nvPr/>
        </p:nvSpPr>
        <p:spPr>
          <a:xfrm>
            <a:off x="10789958" y="3746490"/>
            <a:ext cx="735735" cy="73167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ioctl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6029F5-1D01-5B99-ECB5-5659E1C911D1}"/>
              </a:ext>
            </a:extLst>
          </p:cNvPr>
          <p:cNvSpPr/>
          <p:nvPr/>
        </p:nvSpPr>
        <p:spPr>
          <a:xfrm>
            <a:off x="9216683" y="3746491"/>
            <a:ext cx="1504523" cy="7316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en-US" altLang="zh-CN" dirty="0" err="1">
                <a:solidFill>
                  <a:srgbClr val="B052A1"/>
                </a:solidFill>
                <a:latin typeface="Menlo" panose="020B0609030804020204" pitchFamily="49" charset="0"/>
              </a:rPr>
              <a:t>tcdrain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55BC38-0DBB-FE11-C3B1-305E0A0D04BD}"/>
              </a:ext>
            </a:extLst>
          </p:cNvPr>
          <p:cNvSpPr/>
          <p:nvPr/>
        </p:nvSpPr>
        <p:spPr>
          <a:xfrm>
            <a:off x="7936505" y="3746491"/>
            <a:ext cx="1211425" cy="731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en-US" altLang="zh-CN" dirty="0" err="1">
                <a:solidFill>
                  <a:srgbClr val="B052A1"/>
                </a:solidFill>
                <a:latin typeface="Menlo" panose="020B0609030804020204" pitchFamily="49" charset="0"/>
              </a:rPr>
              <a:t>tcdrain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378FA7-4167-DCDA-82C5-A7B5106B30CB}"/>
              </a:ext>
            </a:extLst>
          </p:cNvPr>
          <p:cNvSpPr/>
          <p:nvPr/>
        </p:nvSpPr>
        <p:spPr>
          <a:xfrm>
            <a:off x="6587371" y="3746491"/>
            <a:ext cx="1235482" cy="731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ser.flush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1BA726-DA26-B044-79CA-CCE506A5682F}"/>
              </a:ext>
            </a:extLst>
          </p:cNvPr>
          <p:cNvSpPr txBox="1"/>
          <p:nvPr/>
        </p:nvSpPr>
        <p:spPr>
          <a:xfrm>
            <a:off x="7843338" y="4763574"/>
            <a:ext cx="3259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cpython</a:t>
            </a:r>
            <a:r>
              <a:rPr lang="en-US" altLang="zh-CN" dirty="0"/>
              <a:t>/Modules/</a:t>
            </a:r>
            <a:r>
              <a:rPr lang="en-US" altLang="zh-CN" dirty="0" err="1"/>
              <a:t>termios.c</a:t>
            </a:r>
            <a:endParaRPr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197234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DC95-9715-24CF-583A-FAC81CE0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93405700-6299-90BD-4120-98093947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读：</a:t>
            </a:r>
            <a:r>
              <a:rPr lang="en-US" altLang="zh-CN" dirty="0" err="1"/>
              <a:t>Pyserial</a:t>
            </a:r>
            <a:r>
              <a:rPr lang="zh-CN" altLang="en-US" dirty="0"/>
              <a:t>到内核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FEACB7-78D7-D007-3747-BEB57A13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010B46-AF0E-ECEC-F878-6224EFE76FA0}"/>
              </a:ext>
            </a:extLst>
          </p:cNvPr>
          <p:cNvSpPr/>
          <p:nvPr/>
        </p:nvSpPr>
        <p:spPr>
          <a:xfrm>
            <a:off x="5812025" y="990352"/>
            <a:ext cx="2133600" cy="8199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ser.read</a:t>
            </a:r>
            <a:r>
              <a:rPr lang="en-US" altLang="zh-CN" dirty="0"/>
              <a:t>(packet)</a:t>
            </a:r>
          </a:p>
          <a:p>
            <a:pPr algn="ctr"/>
            <a:r>
              <a:rPr kumimoji="1" lang="en-US" altLang="zh-CN" dirty="0" err="1">
                <a:solidFill>
                  <a:srgbClr val="FFFF00"/>
                </a:solidFill>
              </a:rPr>
              <a:t>serialposix.py</a:t>
            </a:r>
            <a:r>
              <a:rPr lang="en-US" altLang="zh-CN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FBBF39-2DCB-4467-5E71-7EEB79B730C9}"/>
              </a:ext>
            </a:extLst>
          </p:cNvPr>
          <p:cNvSpPr/>
          <p:nvPr/>
        </p:nvSpPr>
        <p:spPr>
          <a:xfrm>
            <a:off x="6096000" y="2571444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os.read</a:t>
            </a:r>
            <a:r>
              <a:rPr lang="en-US" altLang="zh-CN" dirty="0"/>
              <a:t>(</a:t>
            </a:r>
            <a:r>
              <a:rPr lang="en-US" altLang="zh-CN" dirty="0" err="1"/>
              <a:t>self.fd</a:t>
            </a:r>
            <a:r>
              <a:rPr lang="en-US" altLang="zh-CN" dirty="0"/>
              <a:t>, d)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6FB7DB-0DEC-2CC2-2A06-31845925B10B}"/>
              </a:ext>
            </a:extLst>
          </p:cNvPr>
          <p:cNvSpPr/>
          <p:nvPr/>
        </p:nvSpPr>
        <p:spPr>
          <a:xfrm>
            <a:off x="6096000" y="2013509"/>
            <a:ext cx="2135912" cy="341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select.select</a:t>
            </a:r>
            <a:r>
              <a:rPr lang="en-US" altLang="zh-CN" dirty="0"/>
              <a:t>()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5A588B-182F-92B8-AD8F-7A0EE4F3B574}"/>
              </a:ext>
            </a:extLst>
          </p:cNvPr>
          <p:cNvSpPr/>
          <p:nvPr/>
        </p:nvSpPr>
        <p:spPr>
          <a:xfrm>
            <a:off x="10473889" y="2570073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pselect6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412927-0F60-5154-1103-27BFFF4C173C}"/>
              </a:ext>
            </a:extLst>
          </p:cNvPr>
          <p:cNvSpPr txBox="1"/>
          <p:nvPr/>
        </p:nvSpPr>
        <p:spPr>
          <a:xfrm>
            <a:off x="-5389" y="898333"/>
            <a:ext cx="6517395" cy="2689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def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>
                <a:solidFill>
                  <a:srgbClr val="4078F2"/>
                </a:solidFill>
                <a:effectLst/>
                <a:latin typeface="JetBrains Mono"/>
              </a:rPr>
              <a:t>read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</a:t>
            </a:r>
            <a:r>
              <a:rPr lang="en-US" altLang="zh-CN" sz="1050" b="0" dirty="0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, </a:t>
            </a:r>
            <a:r>
              <a:rPr lang="en-US" altLang="zh-CN" sz="1050" b="0" dirty="0">
                <a:solidFill>
                  <a:srgbClr val="C99100"/>
                </a:solidFill>
                <a:effectLst/>
                <a:latin typeface="JetBrains Mono"/>
              </a:rPr>
              <a:t>size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sz="1050" b="0" dirty="0">
                <a:solidFill>
                  <a:srgbClr val="E54595"/>
                </a:solidFill>
                <a:effectLst/>
                <a:latin typeface="JetBrains Mono"/>
              </a:rPr>
              <a:t>1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):</a:t>
            </a:r>
          </a:p>
          <a:p>
            <a:pPr lvl="1">
              <a:lnSpc>
                <a:spcPts val="1650"/>
              </a:lnSpc>
            </a:pP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read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B15EF2"/>
                </a:solidFill>
                <a:effectLst/>
                <a:latin typeface="JetBrains Mono"/>
              </a:rPr>
              <a:t>bytearray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()</a:t>
            </a:r>
          </a:p>
          <a:p>
            <a:pPr lvl="1">
              <a:lnSpc>
                <a:spcPts val="1650"/>
              </a:lnSpc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while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4078F2"/>
                </a:solidFill>
                <a:effectLst/>
                <a:latin typeface="JetBrains Mono"/>
              </a:rPr>
              <a:t>len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(read)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&lt;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size:</a:t>
            </a:r>
          </a:p>
          <a:p>
            <a:pPr lvl="2">
              <a:lnSpc>
                <a:spcPts val="1650"/>
              </a:lnSpc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try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:</a:t>
            </a:r>
          </a:p>
          <a:p>
            <a:pPr lvl="3">
              <a:lnSpc>
                <a:spcPts val="1650"/>
              </a:lnSpc>
            </a:pP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# A)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等待“串口 </a:t>
            </a:r>
            <a:r>
              <a:rPr lang="en-US" altLang="zh-CN" sz="1050" b="0" dirty="0" err="1">
                <a:solidFill>
                  <a:srgbClr val="8393A3"/>
                </a:solidFill>
                <a:effectLst/>
                <a:latin typeface="JetBrains Mono"/>
              </a:rPr>
              <a:t>fd</a:t>
            </a: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可读”或“取消读管道可读”：</a:t>
            </a:r>
            <a:endParaRPr lang="en-US" altLang="zh-CN" sz="1050" b="0" dirty="0">
              <a:solidFill>
                <a:srgbClr val="8393A3"/>
              </a:solidFill>
              <a:effectLst/>
              <a:latin typeface="JetBrains Mono"/>
            </a:endParaRPr>
          </a:p>
          <a:p>
            <a:pPr lvl="3">
              <a:lnSpc>
                <a:spcPts val="1650"/>
              </a:lnSpc>
            </a:pP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ready, _, _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select.select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([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.fd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, 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.pipe_abort_read_r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], [], [], 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timeout.time_left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())</a:t>
            </a:r>
          </a:p>
          <a:p>
            <a:pPr lvl="3">
              <a:lnSpc>
                <a:spcPts val="1650"/>
              </a:lnSpc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if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.pipe_abort_read_r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in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ready:</a:t>
            </a:r>
          </a:p>
          <a:p>
            <a:pPr lvl="4">
              <a:lnSpc>
                <a:spcPts val="1650"/>
              </a:lnSpc>
            </a:pP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# B)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收到取消信号：读掉管道里的字节并退出循环</a:t>
            </a:r>
            <a:endParaRPr lang="zh-CN" altLang="en-US" sz="1050" b="0" dirty="0">
              <a:solidFill>
                <a:srgbClr val="31353A"/>
              </a:solidFill>
              <a:effectLst/>
              <a:latin typeface="JetBrains Mono"/>
            </a:endParaRPr>
          </a:p>
          <a:p>
            <a:pPr lvl="4">
              <a:lnSpc>
                <a:spcPts val="1650"/>
              </a:lnSpc>
            </a:pP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os.read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.pipe_abort_read_r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, </a:t>
            </a:r>
            <a:r>
              <a:rPr lang="en-US" altLang="zh-CN" sz="1050" b="0" dirty="0">
                <a:solidFill>
                  <a:srgbClr val="E54595"/>
                </a:solidFill>
                <a:effectLst/>
                <a:latin typeface="JetBrains Mono"/>
              </a:rPr>
              <a:t>1000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)</a:t>
            </a:r>
          </a:p>
          <a:p>
            <a:pPr lvl="4">
              <a:lnSpc>
                <a:spcPts val="1650"/>
              </a:lnSpc>
            </a:pPr>
            <a:r>
              <a:rPr lang="en-US" altLang="zh-CN" sz="1050" b="0" dirty="0">
                <a:solidFill>
                  <a:srgbClr val="5F36B2"/>
                </a:solidFill>
                <a:effectLst/>
                <a:latin typeface="JetBrains Mono"/>
              </a:rPr>
              <a:t>Break</a:t>
            </a:r>
            <a:endParaRPr lang="en-US" altLang="zh-CN" sz="1050" b="0" dirty="0">
              <a:solidFill>
                <a:srgbClr val="31353A"/>
              </a:solidFill>
              <a:effectLst/>
              <a:latin typeface="JetBrains Mono"/>
            </a:endParaRPr>
          </a:p>
          <a:p>
            <a:pPr lvl="3">
              <a:lnSpc>
                <a:spcPts val="1650"/>
              </a:lnSpc>
            </a:pP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# D)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真正从串口 </a:t>
            </a:r>
            <a:r>
              <a:rPr lang="en-US" altLang="zh-CN" sz="1050" b="0" dirty="0" err="1">
                <a:solidFill>
                  <a:srgbClr val="8393A3"/>
                </a:solidFill>
                <a:effectLst/>
                <a:latin typeface="JetBrains Mono"/>
              </a:rPr>
              <a:t>fd</a:t>
            </a: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 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读取字节（最多 </a:t>
            </a: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size - </a:t>
            </a:r>
            <a:r>
              <a:rPr lang="en-US" altLang="zh-CN" sz="1050" b="0" dirty="0" err="1">
                <a:solidFill>
                  <a:srgbClr val="8393A3"/>
                </a:solidFill>
                <a:effectLst/>
                <a:latin typeface="JetBrains Mono"/>
              </a:rPr>
              <a:t>len</a:t>
            </a:r>
            <a:r>
              <a:rPr lang="en-US" altLang="zh-CN" sz="1050" b="0" dirty="0">
                <a:solidFill>
                  <a:srgbClr val="8393A3"/>
                </a:solidFill>
                <a:effectLst/>
                <a:latin typeface="JetBrains Mono"/>
              </a:rPr>
              <a:t>(read)</a:t>
            </a:r>
            <a:r>
              <a:rPr lang="zh-CN" altLang="en-US" sz="1050" b="0" dirty="0">
                <a:solidFill>
                  <a:srgbClr val="8393A3"/>
                </a:solidFill>
                <a:effectLst/>
                <a:latin typeface="JetBrains Mono"/>
              </a:rPr>
              <a:t>）</a:t>
            </a:r>
            <a:endParaRPr lang="en-US" altLang="zh-CN" sz="1050" b="0" dirty="0">
              <a:solidFill>
                <a:srgbClr val="31353A"/>
              </a:solidFill>
              <a:effectLst/>
              <a:latin typeface="JetBrains Mono"/>
            </a:endParaRPr>
          </a:p>
          <a:p>
            <a:pPr lvl="3">
              <a:lnSpc>
                <a:spcPts val="1650"/>
              </a:lnSpc>
            </a:pP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buf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=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os.read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</a:t>
            </a:r>
            <a:r>
              <a:rPr lang="en-US" altLang="zh-CN" sz="1050" b="0" dirty="0" err="1">
                <a:solidFill>
                  <a:srgbClr val="C99100"/>
                </a:solidFill>
                <a:effectLst/>
                <a:latin typeface="JetBrains Mono"/>
              </a:rPr>
              <a:t>self</a:t>
            </a:r>
            <a:r>
              <a:rPr lang="en-US" altLang="zh-CN" sz="1050" b="0" dirty="0" err="1">
                <a:solidFill>
                  <a:srgbClr val="31353A"/>
                </a:solidFill>
                <a:effectLst/>
                <a:latin typeface="JetBrains Mono"/>
              </a:rPr>
              <a:t>.fd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, size </a:t>
            </a:r>
            <a:r>
              <a:rPr lang="en-US" altLang="zh-CN" sz="1050" b="0" dirty="0">
                <a:solidFill>
                  <a:srgbClr val="000000"/>
                </a:solidFill>
                <a:effectLst/>
                <a:latin typeface="JetBrains Mono"/>
              </a:rPr>
              <a:t>-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 </a:t>
            </a:r>
            <a:r>
              <a:rPr lang="en-US" altLang="zh-CN" sz="1050" b="0" dirty="0" err="1">
                <a:solidFill>
                  <a:srgbClr val="4078F2"/>
                </a:solidFill>
                <a:effectLst/>
                <a:latin typeface="JetBrains Mono"/>
              </a:rPr>
              <a:t>len</a:t>
            </a:r>
            <a:r>
              <a:rPr lang="en-US" altLang="zh-CN" sz="1050" b="0" dirty="0">
                <a:solidFill>
                  <a:srgbClr val="31353A"/>
                </a:solidFill>
                <a:effectLst/>
                <a:latin typeface="JetBrains Mono"/>
              </a:rPr>
              <a:t>(read))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093171-C1EE-FAB2-2220-E135DE40B741}"/>
              </a:ext>
            </a:extLst>
          </p:cNvPr>
          <p:cNvSpPr/>
          <p:nvPr/>
        </p:nvSpPr>
        <p:spPr>
          <a:xfrm>
            <a:off x="10473889" y="2015186"/>
            <a:ext cx="1257222" cy="3413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read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F3A9F5-1420-7913-4BD5-57565238D997}"/>
              </a:ext>
            </a:extLst>
          </p:cNvPr>
          <p:cNvSpPr/>
          <p:nvPr/>
        </p:nvSpPr>
        <p:spPr>
          <a:xfrm>
            <a:off x="9540110" y="2010460"/>
            <a:ext cx="811418" cy="902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Glibc</a:t>
            </a:r>
          </a:p>
          <a:p>
            <a:pPr algn="ctr"/>
            <a:r>
              <a:rPr lang="zh-CN" altLang="en-US" dirty="0"/>
              <a:t>封装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130749-2559-4C2A-4DDA-629527ACC689}"/>
              </a:ext>
            </a:extLst>
          </p:cNvPr>
          <p:cNvSpPr txBox="1"/>
          <p:nvPr/>
        </p:nvSpPr>
        <p:spPr>
          <a:xfrm>
            <a:off x="10511911" y="1582370"/>
            <a:ext cx="906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Syscall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659DD5A-B049-934E-78B7-65CF30A286FF}"/>
              </a:ext>
            </a:extLst>
          </p:cNvPr>
          <p:cNvSpPr txBox="1"/>
          <p:nvPr/>
        </p:nvSpPr>
        <p:spPr>
          <a:xfrm>
            <a:off x="8400054" y="1136822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Pyserical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E07064-3ED3-E8CC-3EA5-FB15FEAB667C}"/>
              </a:ext>
            </a:extLst>
          </p:cNvPr>
          <p:cNvSpPr/>
          <p:nvPr/>
        </p:nvSpPr>
        <p:spPr>
          <a:xfrm>
            <a:off x="8284010" y="2010461"/>
            <a:ext cx="1140056" cy="9023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Cpython</a:t>
            </a:r>
            <a:r>
              <a:rPr lang="zh-CN" altLang="en-US" dirty="0"/>
              <a:t>封装</a:t>
            </a:r>
            <a:endParaRPr lang="en-US" altLang="zh-CN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2FFE782-37AA-5D32-E5F3-8695FF11E14F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6878825" y="1810264"/>
            <a:ext cx="285131" cy="203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41D5404-8F07-B9E4-F6FD-D559C449577E}"/>
              </a:ext>
            </a:extLst>
          </p:cNvPr>
          <p:cNvCxnSpPr>
            <a:stCxn id="4" idx="2"/>
            <a:endCxn id="3" idx="0"/>
          </p:cNvCxnSpPr>
          <p:nvPr/>
        </p:nvCxnSpPr>
        <p:spPr>
          <a:xfrm>
            <a:off x="7163956" y="2354885"/>
            <a:ext cx="0" cy="216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连接符 16">
            <a:extLst>
              <a:ext uri="{FF2B5EF4-FFF2-40B4-BE49-F238E27FC236}">
                <a16:creationId xmlns:a16="http://schemas.microsoft.com/office/drawing/2014/main" id="{6D3E03BC-79B3-2352-1572-B9D3C28688D2}"/>
              </a:ext>
            </a:extLst>
          </p:cNvPr>
          <p:cNvCxnSpPr>
            <a:cxnSpLocks/>
            <a:stCxn id="3" idx="2"/>
            <a:endCxn id="4" idx="1"/>
          </p:cNvCxnSpPr>
          <p:nvPr/>
        </p:nvCxnSpPr>
        <p:spPr>
          <a:xfrm rot="5400000" flipH="1">
            <a:off x="6265666" y="2014531"/>
            <a:ext cx="728623" cy="1067956"/>
          </a:xfrm>
          <a:prstGeom prst="bentConnector4">
            <a:avLst>
              <a:gd name="adj1" fmla="val -31374"/>
              <a:gd name="adj2" fmla="val 121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1F0325F-197D-9933-D483-90C01CC3B634}"/>
              </a:ext>
            </a:extLst>
          </p:cNvPr>
          <p:cNvSpPr txBox="1"/>
          <p:nvPr/>
        </p:nvSpPr>
        <p:spPr>
          <a:xfrm>
            <a:off x="6123794" y="3312070"/>
            <a:ext cx="4597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循环调用尝试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，不能写就</a:t>
            </a:r>
            <a:r>
              <a:rPr kumimoji="1" lang="en-US" altLang="zh-CN" dirty="0"/>
              <a:t>select</a:t>
            </a:r>
            <a:r>
              <a:rPr kumimoji="1" lang="zh-CN" altLang="en-US" dirty="0"/>
              <a:t>阻塞等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457965A-08C5-B614-1D78-528901898995}"/>
              </a:ext>
            </a:extLst>
          </p:cNvPr>
          <p:cNvSpPr txBox="1"/>
          <p:nvPr/>
        </p:nvSpPr>
        <p:spPr>
          <a:xfrm>
            <a:off x="6704376" y="5721178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电机的读和写在内核外就完全搞清楚了</a:t>
            </a:r>
          </a:p>
        </p:txBody>
      </p:sp>
    </p:spTree>
    <p:extLst>
      <p:ext uri="{BB962C8B-B14F-4D97-AF65-F5344CB8AC3E}">
        <p14:creationId xmlns:p14="http://schemas.microsoft.com/office/powerpoint/2010/main" val="47827669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3DED-9439-A94E-E7FD-240CF134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0C96C005-6016-25E9-22E0-BC56A089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read&amp;write</a:t>
            </a:r>
            <a:r>
              <a:rPr lang="zh-CN" altLang="en-US" dirty="0"/>
              <a:t>调用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54CCF6-2393-7367-86F0-CC51C472D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65526BD-8833-6657-D54B-1F8AD90C7D8E}"/>
              </a:ext>
            </a:extLst>
          </p:cNvPr>
          <p:cNvSpPr txBox="1"/>
          <p:nvPr/>
        </p:nvSpPr>
        <p:spPr>
          <a:xfrm>
            <a:off x="357352" y="944437"/>
            <a:ext cx="3474420" cy="1869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dirty="0"/>
              <a:t># </a:t>
            </a:r>
            <a:r>
              <a:rPr lang="en-US" altLang="zh-CN" sz="1050" dirty="0">
                <a:highlight>
                  <a:srgbClr val="FFFF00"/>
                </a:highlight>
              </a:rPr>
              <a:t>serial</a:t>
            </a:r>
            <a:r>
              <a:rPr lang="en-US" altLang="zh-CN" sz="1050" dirty="0"/>
              <a:t>/</a:t>
            </a:r>
            <a:r>
              <a:rPr lang="en-US" altLang="zh-CN" sz="1050" dirty="0" err="1"/>
              <a:t>serialposix.py</a:t>
            </a:r>
            <a:r>
              <a:rPr lang="en-US" altLang="zh-CN" sz="1050" dirty="0"/>
              <a:t>: </a:t>
            </a:r>
            <a:r>
              <a:rPr lang="en-US" altLang="zh-CN" sz="1050" dirty="0" err="1"/>
              <a:t>Serial.read</a:t>
            </a:r>
            <a:r>
              <a:rPr lang="en-US" altLang="zh-CN" sz="1050" dirty="0"/>
              <a:t>()</a:t>
            </a:r>
            <a:r>
              <a:rPr lang="zh-CN" altLang="en-US" sz="1050" dirty="0"/>
              <a:t>一个循环到读完</a:t>
            </a:r>
            <a:endParaRPr lang="en-US" altLang="zh-CN" sz="1050" dirty="0"/>
          </a:p>
          <a:p>
            <a:r>
              <a:rPr lang="zh-CN" altLang="en-US" sz="1050" dirty="0"/>
              <a:t>def read(self, size=1):</a:t>
            </a:r>
          </a:p>
          <a:p>
            <a:r>
              <a:rPr lang="zh-CN" altLang="en-US" sz="1050" dirty="0"/>
              <a:t>    while len(read) &lt; size:</a:t>
            </a:r>
          </a:p>
          <a:p>
            <a:r>
              <a:rPr lang="zh-CN" altLang="en-US" sz="1050" dirty="0"/>
              <a:t>        # ① select 等待 fd 可读</a:t>
            </a:r>
          </a:p>
          <a:p>
            <a:r>
              <a:rPr lang="zh-CN" altLang="en-US" sz="1050" dirty="0"/>
              <a:t>        ready, _, _ </a:t>
            </a:r>
            <a:r>
              <a:rPr lang="zh-CN" altLang="en-US" sz="1050" dirty="0">
                <a:highlight>
                  <a:srgbClr val="FFFF00"/>
                </a:highlight>
              </a:rPr>
              <a:t>= select.select</a:t>
            </a:r>
            <a:r>
              <a:rPr lang="zh-CN" altLang="en-US" sz="1050" dirty="0"/>
              <a:t>(</a:t>
            </a:r>
          </a:p>
          <a:p>
            <a:r>
              <a:rPr lang="zh-CN" altLang="en-US" sz="1050" dirty="0"/>
              <a:t>            [self.fd, self.pipe_abort_read_r], [], [],</a:t>
            </a:r>
          </a:p>
          <a:p>
            <a:r>
              <a:rPr lang="zh-CN" altLang="en-US" sz="1050" dirty="0"/>
              <a:t>            timeout.time_left())</a:t>
            </a:r>
          </a:p>
          <a:p>
            <a:r>
              <a:rPr lang="zh-CN" altLang="en-US" sz="1050" dirty="0"/>
              <a:t>        # ② os.read() 读取数据</a:t>
            </a:r>
          </a:p>
          <a:p>
            <a:r>
              <a:rPr lang="zh-CN" altLang="en-US" sz="1050" dirty="0"/>
              <a:t>        buf = </a:t>
            </a:r>
            <a:r>
              <a:rPr lang="zh-CN" altLang="en-US" sz="1050" dirty="0">
                <a:highlight>
                  <a:srgbClr val="FFFF00"/>
                </a:highlight>
              </a:rPr>
              <a:t>os.read(self.fd, size - len(read))</a:t>
            </a:r>
          </a:p>
          <a:p>
            <a:r>
              <a:rPr lang="zh-CN" altLang="en-US" sz="1050" dirty="0"/>
              <a:t>        read.extend(buf)</a:t>
            </a:r>
          </a:p>
          <a:p>
            <a:r>
              <a:rPr lang="zh-CN" altLang="en-US" sz="1050" dirty="0"/>
              <a:t>    return bytes(read)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C6F450-F9A6-3164-AABD-F18B56892E77}"/>
              </a:ext>
            </a:extLst>
          </p:cNvPr>
          <p:cNvSpPr txBox="1"/>
          <p:nvPr/>
        </p:nvSpPr>
        <p:spPr>
          <a:xfrm>
            <a:off x="3553097" y="887662"/>
            <a:ext cx="4746172" cy="133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cpython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/Modules/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posixmodule.c</a:t>
            </a:r>
            <a:endParaRPr lang="en-US" altLang="zh-CN" sz="1000" b="0" dirty="0">
              <a:solidFill>
                <a:srgbClr val="96969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创建一个 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length 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字节的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PyBytes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对象作为</a:t>
            </a:r>
            <a:r>
              <a:rPr lang="zh-CN" altLang="en-US" sz="1000" b="0" dirty="0">
                <a:solidFill>
                  <a:srgbClr val="96969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接收缓冲区</a:t>
            </a:r>
            <a:endParaRPr lang="zh-CN" altLang="en-US" sz="1000" b="0" dirty="0">
              <a:solidFill>
                <a:srgbClr val="333333"/>
              </a:solidFill>
              <a:effectLst/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PyBytesWriter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writer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PyBytesWriter_Create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zh-CN" altLang="en-US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调用 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Py_read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10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0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, count)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Py_ssize_t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n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Py_read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PyBytesWriter_GetData</a:t>
            </a:r>
            <a:r>
              <a:rPr lang="en-US" altLang="zh-CN" sz="100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writer</a:t>
            </a:r>
            <a:r>
              <a:rPr lang="en-US" altLang="zh-CN" sz="100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),</a:t>
            </a:r>
            <a:r>
              <a:rPr lang="en-US" altLang="zh-CN" sz="100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6FC1F3F-0BC6-3864-5C0C-15A428C22332}"/>
              </a:ext>
            </a:extLst>
          </p:cNvPr>
          <p:cNvSpPr txBox="1"/>
          <p:nvPr/>
        </p:nvSpPr>
        <p:spPr>
          <a:xfrm>
            <a:off x="3244850" y="2084183"/>
            <a:ext cx="4636406" cy="1180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1100" b="0" dirty="0">
                <a:solidFill>
                  <a:srgbClr val="96969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glibc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-2.42/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sysdeps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unix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sysv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linux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read.c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ssize_t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libc_read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size_t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nbytes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nbytes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60F004-8620-F8BD-C1C8-F4B327693F8D}"/>
              </a:ext>
            </a:extLst>
          </p:cNvPr>
          <p:cNvSpPr txBox="1"/>
          <p:nvPr/>
        </p:nvSpPr>
        <p:spPr>
          <a:xfrm>
            <a:off x="7602581" y="824448"/>
            <a:ext cx="4746172" cy="1873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B052A1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SYSCALL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_DEFINE3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read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size_t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count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f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fdget_pos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ret 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vfs_read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count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0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altLang="zh-CN" sz="10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f_pos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fdput_pos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ret</a:t>
            </a: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;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8A45B5E7-3B57-16B5-0C66-379C8763EAF8}"/>
              </a:ext>
            </a:extLst>
          </p:cNvPr>
          <p:cNvCxnSpPr/>
          <p:nvPr/>
        </p:nvCxnSpPr>
        <p:spPr>
          <a:xfrm flipV="1">
            <a:off x="3065417" y="1402080"/>
            <a:ext cx="592183" cy="95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F5D33F7-3316-D00A-7F81-D6DF3B976A58}"/>
              </a:ext>
            </a:extLst>
          </p:cNvPr>
          <p:cNvCxnSpPr/>
          <p:nvPr/>
        </p:nvCxnSpPr>
        <p:spPr>
          <a:xfrm flipH="1">
            <a:off x="4284617" y="1761435"/>
            <a:ext cx="740229" cy="729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183C9A3F-F400-AE84-70C7-EFEDDC376CF5}"/>
              </a:ext>
            </a:extLst>
          </p:cNvPr>
          <p:cNvCxnSpPr>
            <a:cxnSpLocks/>
          </p:cNvCxnSpPr>
          <p:nvPr/>
        </p:nvCxnSpPr>
        <p:spPr>
          <a:xfrm flipV="1">
            <a:off x="5860869" y="944437"/>
            <a:ext cx="1854925" cy="1869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FD7098B-C602-A6EF-154D-B7F20A53CDC3}"/>
              </a:ext>
            </a:extLst>
          </p:cNvPr>
          <p:cNvSpPr txBox="1"/>
          <p:nvPr/>
        </p:nvSpPr>
        <p:spPr>
          <a:xfrm>
            <a:off x="38280" y="3414266"/>
            <a:ext cx="4246337" cy="187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serial/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serialposix.py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Serial.write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to_bytes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length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timeout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Timeout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self._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write_timeout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os.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write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←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系统调用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10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is_infinite</a:t>
            </a:r>
            <a:r>
              <a:rPr lang="en-US" altLang="zh-CN" sz="105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select.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select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d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n: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;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tx_len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n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length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837DD34-D3EA-BE27-3C66-C5F601311D37}"/>
              </a:ext>
            </a:extLst>
          </p:cNvPr>
          <p:cNvSpPr txBox="1"/>
          <p:nvPr/>
        </p:nvSpPr>
        <p:spPr>
          <a:xfrm>
            <a:off x="757646" y="5785672"/>
            <a:ext cx="9242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进入内核后 </a:t>
            </a:r>
            <a:r>
              <a:rPr lang="en-US" altLang="zh-CN" dirty="0" err="1"/>
              <a:t>vfs_write</a:t>
            </a:r>
            <a:r>
              <a:rPr lang="en-US" altLang="zh-CN" dirty="0"/>
              <a:t>() → </a:t>
            </a:r>
            <a:r>
              <a:rPr lang="en-US" altLang="zh-CN" dirty="0" err="1"/>
              <a:t>tty_write</a:t>
            </a:r>
            <a:r>
              <a:rPr lang="en-US" altLang="zh-CN" dirty="0"/>
              <a:t>() → </a:t>
            </a:r>
            <a:r>
              <a:rPr lang="en-US" altLang="zh-CN" dirty="0" err="1"/>
              <a:t>n_tty_write</a:t>
            </a:r>
            <a:r>
              <a:rPr lang="en-US" altLang="zh-CN" dirty="0"/>
              <a:t>() → </a:t>
            </a:r>
            <a:r>
              <a:rPr lang="en-US" altLang="zh-CN" dirty="0" err="1"/>
              <a:t>uart_write</a:t>
            </a:r>
            <a:r>
              <a:rPr lang="en-US" altLang="zh-CN" dirty="0"/>
              <a:t>()</a:t>
            </a:r>
            <a:r>
              <a:rPr lang="zh-CN" altLang="en-US" dirty="0"/>
              <a:t>再分配给串口读</a:t>
            </a:r>
            <a:r>
              <a:rPr lang="en-US" altLang="zh-CN" dirty="0"/>
              <a:t>/</a:t>
            </a:r>
            <a:r>
              <a:rPr lang="zh-CN" altLang="en-US" dirty="0"/>
              <a:t>写</a:t>
            </a:r>
            <a:endParaRPr lang="en-US" altLang="zh-CN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6091A4A-5D2B-5D73-57A5-1B4074331738}"/>
              </a:ext>
            </a:extLst>
          </p:cNvPr>
          <p:cNvSpPr txBox="1"/>
          <p:nvPr/>
        </p:nvSpPr>
        <p:spPr>
          <a:xfrm>
            <a:off x="4025395" y="3310073"/>
            <a:ext cx="5525872" cy="2236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SYSCALL_DEFINE3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dirty="0">
                <a:solidFill>
                  <a:srgbClr val="428226"/>
                </a:solidFill>
                <a:latin typeface="Menlo" panose="020B0609030804020204" pitchFamily="49" charset="0"/>
              </a:rPr>
              <a:t>	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dirty="0">
                <a:solidFill>
                  <a:srgbClr val="1A1A1A"/>
                </a:solidFill>
                <a:latin typeface="Menlo" panose="020B0609030804020204" pitchFamily="49" charset="0"/>
              </a:rPr>
              <a:t>	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const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dirty="0">
                <a:solidFill>
                  <a:srgbClr val="428226"/>
                </a:solidFill>
                <a:latin typeface="Menlo" panose="020B0609030804020204" pitchFamily="49" charset="0"/>
              </a:rPr>
              <a:t>	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size_t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count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f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fdget_pos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2">
              <a:lnSpc>
                <a:spcPts val="1350"/>
              </a:lnSpc>
            </a:pP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ret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vfs_write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buf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count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1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f_pos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fdput_pos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ret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;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28759672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2C9C0-C1E3-C2DD-0CE5-12150628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C09AFCE7-3F96-855D-7950-2E6DEE14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en-US" altLang="zh-CN" dirty="0" err="1"/>
              <a:t>ioctl</a:t>
            </a:r>
            <a:r>
              <a:rPr lang="zh-CN" altLang="en-US" dirty="0"/>
              <a:t>调用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0137EC-EDB8-F5A2-5FF9-195AB74AB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6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1CCB43-4AA7-25BC-4466-D838401E2DC1}"/>
              </a:ext>
            </a:extLst>
          </p:cNvPr>
          <p:cNvSpPr txBox="1"/>
          <p:nvPr/>
        </p:nvSpPr>
        <p:spPr>
          <a:xfrm>
            <a:off x="278675" y="972930"/>
            <a:ext cx="6096000" cy="815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serial/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serialposix.py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Serial.flush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flush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):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.is_open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: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PortNotOpenError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termios.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tcdrain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←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等待输出缓冲区排空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D48B3D-1BEB-7C97-FDF0-056DBB272B09}"/>
              </a:ext>
            </a:extLst>
          </p:cNvPr>
          <p:cNvSpPr txBox="1"/>
          <p:nvPr/>
        </p:nvSpPr>
        <p:spPr>
          <a:xfrm>
            <a:off x="3944983" y="881223"/>
            <a:ext cx="52512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__</a:t>
            </a:r>
            <a:r>
              <a:rPr lang="en-US" altLang="zh-CN" sz="105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libc_tcdrain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/* With an argument of 1, TCSBRK for output to be drain. */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fd</a:t>
            </a:r>
            <a:r>
              <a:rPr lang="en-US" altLang="zh-CN" sz="105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TCSBRK</a:t>
            </a:r>
            <a:r>
              <a:rPr lang="en-US" altLang="zh-CN" sz="1050" b="0" dirty="0">
                <a:solidFill>
                  <a:srgbClr val="1A1A1A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3778B7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1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← 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本质是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ioctl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ED0978-5EC8-CAD5-7070-586EABA94E52}"/>
              </a:ext>
            </a:extLst>
          </p:cNvPr>
          <p:cNvSpPr txBox="1"/>
          <p:nvPr/>
        </p:nvSpPr>
        <p:spPr>
          <a:xfrm>
            <a:off x="357351" y="2224279"/>
            <a:ext cx="3587632" cy="205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9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9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linux</a:t>
            </a:r>
            <a:r>
              <a:rPr lang="en-US" altLang="zh-CN" sz="9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/fs/</a:t>
            </a:r>
            <a:r>
              <a:rPr lang="en-US" altLang="zh-CN" sz="9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ioctl.c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SYSCALL_DEFINE3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900" dirty="0">
                <a:solidFill>
                  <a:srgbClr val="428226"/>
                </a:solidFill>
                <a:latin typeface="Menlo" panose="020B0609030804020204" pitchFamily="49" charset="0"/>
              </a:rPr>
              <a:t>	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cmd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900" dirty="0">
                <a:solidFill>
                  <a:srgbClr val="428226"/>
                </a:solidFill>
                <a:latin typeface="Menlo" panose="020B0609030804020204" pitchFamily="49" charset="0"/>
              </a:rPr>
              <a:t>	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long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{	// </a:t>
            </a:r>
            <a:r>
              <a:rPr lang="zh-CN" altLang="en-US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通过 </a:t>
            </a:r>
            <a:r>
              <a:rPr lang="en-US" altLang="zh-CN" sz="9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找到 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struct file*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f 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fdget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(!</a:t>
            </a:r>
            <a:r>
              <a:rPr lang="en-US" altLang="zh-CN" sz="9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9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EBADF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error 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vfs_ioctl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9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90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file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cmd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9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 err="1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fdput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 lvl="1">
              <a:lnSpc>
                <a:spcPts val="1350"/>
              </a:lnSpc>
            </a:pPr>
            <a:r>
              <a:rPr lang="en-US" altLang="zh-CN" sz="9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altLang="zh-CN" sz="9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error</a:t>
            </a: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;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9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}</a:t>
            </a:r>
            <a:endParaRPr lang="en-US" altLang="zh-CN" sz="9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CBCBD4-DD70-800A-1078-2152667FFB90}"/>
              </a:ext>
            </a:extLst>
          </p:cNvPr>
          <p:cNvSpPr txBox="1"/>
          <p:nvPr/>
        </p:nvSpPr>
        <p:spPr>
          <a:xfrm>
            <a:off x="278675" y="4367219"/>
            <a:ext cx="7070951" cy="115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en-US" altLang="zh-CN" sz="110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ioctl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的三个参数含义：**</a:t>
            </a:r>
            <a:endParaRPr lang="zh-CN" altLang="en-US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参数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类型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含义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|------|------|------|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`</a:t>
            </a:r>
            <a:r>
              <a:rPr lang="en-US" altLang="zh-CN" sz="11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fd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 | `unsigned int` |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文件描述符，指向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TTY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设备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`</a:t>
            </a:r>
            <a:r>
              <a:rPr lang="en-US" altLang="zh-CN" sz="11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cmd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 | `unsigned int` | 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操作码**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（如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`0x5409` = TCSBRK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），告诉内核执行</a:t>
            </a:r>
            <a:r>
              <a:rPr lang="zh-CN" altLang="en-US" sz="1100" b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哪个操作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 `</a:t>
            </a:r>
            <a:r>
              <a:rPr lang="en-US" altLang="zh-CN" sz="1100" b="0" dirty="0" err="1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 | `unsigned long` | 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**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操作数**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（含义完全</a:t>
            </a:r>
            <a:r>
              <a:rPr lang="zh-CN" altLang="en-US" sz="1100" b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取决于 </a:t>
            </a:r>
            <a:r>
              <a:rPr lang="en-US" altLang="zh-CN" sz="1100" b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Menlo" panose="020B0609030804020204" pitchFamily="49" charset="0"/>
              </a:rPr>
              <a:t>cmd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|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DB5E2A-7547-25CB-8193-CB67EEE7FE45}"/>
              </a:ext>
            </a:extLst>
          </p:cNvPr>
          <p:cNvSpPr txBox="1"/>
          <p:nvPr/>
        </p:nvSpPr>
        <p:spPr>
          <a:xfrm>
            <a:off x="5373189" y="18549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全称 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"Terminal Control Send Break"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C9002C-4C2C-348D-78F4-239A0997707F}"/>
              </a:ext>
            </a:extLst>
          </p:cNvPr>
          <p:cNvSpPr txBox="1"/>
          <p:nvPr/>
        </p:nvSpPr>
        <p:spPr>
          <a:xfrm>
            <a:off x="4920344" y="2285666"/>
            <a:ext cx="63920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BREAK </a:t>
            </a:r>
            <a:r>
              <a:rPr lang="zh-CN" altLang="en-US" dirty="0"/>
              <a:t>是 </a:t>
            </a:r>
            <a:r>
              <a:rPr lang="en-US" altLang="zh-CN" dirty="0"/>
              <a:t>UART </a:t>
            </a:r>
            <a:r>
              <a:rPr lang="zh-CN" altLang="en-US" dirty="0"/>
              <a:t>的电气特性：</a:t>
            </a:r>
            <a:endParaRPr lang="en-US" altLang="zh-CN" dirty="0"/>
          </a:p>
          <a:p>
            <a:r>
              <a:rPr lang="zh-CN" altLang="en-US" dirty="0"/>
              <a:t>持续拉低 </a:t>
            </a:r>
            <a:r>
              <a:rPr lang="en-US" altLang="zh-CN" dirty="0"/>
              <a:t>TX </a:t>
            </a:r>
            <a:r>
              <a:rPr lang="zh-CN" altLang="en-US" dirty="0"/>
              <a:t>线超过一个字节时间，用来同步或标记</a:t>
            </a:r>
            <a:endParaRPr lang="en-US" altLang="zh-CN" dirty="0"/>
          </a:p>
          <a:p>
            <a:r>
              <a:rPr lang="en-US" altLang="zh-CN" dirty="0" err="1"/>
              <a:t>arg</a:t>
            </a:r>
            <a:r>
              <a:rPr lang="en-US" altLang="zh-CN" dirty="0"/>
              <a:t> ≠ 0 </a:t>
            </a:r>
            <a:r>
              <a:rPr lang="zh-CN" altLang="en-US" dirty="0"/>
              <a:t>时会</a:t>
            </a:r>
            <a:r>
              <a:rPr lang="zh-CN" altLang="en-US" dirty="0">
                <a:highlight>
                  <a:srgbClr val="FFFF00"/>
                </a:highlight>
              </a:rPr>
              <a:t>等待输出排空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en-US" altLang="zh-CN" dirty="0"/>
          </a:p>
          <a:p>
            <a:r>
              <a:rPr lang="zh-CN" altLang="en-US" dirty="0"/>
              <a:t>这就实现了</a:t>
            </a:r>
            <a:r>
              <a:rPr lang="en-US" altLang="zh-CN" dirty="0" err="1"/>
              <a:t>serial.flush</a:t>
            </a:r>
            <a:r>
              <a:rPr lang="zh-CN" altLang="en-US" dirty="0"/>
              <a:t>的效果，就是等串口写完仅此而已</a:t>
            </a:r>
          </a:p>
          <a:p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20DC1C-07C3-1463-6AC8-5CCDE36F84C5}"/>
              </a:ext>
            </a:extLst>
          </p:cNvPr>
          <p:cNvSpPr txBox="1"/>
          <p:nvPr/>
        </p:nvSpPr>
        <p:spPr>
          <a:xfrm>
            <a:off x="3698958" y="381321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616161"/>
                </a:solidFill>
                <a:effectLst/>
                <a:latin typeface="-apple-system"/>
              </a:rPr>
              <a:t>ioctl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就是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“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设备控制命令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”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，给设备发特定指令。比如说在</a:t>
            </a:r>
            <a:r>
              <a:rPr lang="en-US" altLang="zh-CN" b="0" i="0" dirty="0" err="1">
                <a:solidFill>
                  <a:srgbClr val="616161"/>
                </a:solidFill>
                <a:effectLst/>
                <a:latin typeface="-apple-system"/>
              </a:rPr>
              <a:t>linux</a:t>
            </a:r>
            <a:r>
              <a:rPr lang="zh-CN" altLang="en-US" b="0" i="0" dirty="0">
                <a:solidFill>
                  <a:srgbClr val="616161"/>
                </a:solidFill>
                <a:effectLst/>
                <a:latin typeface="-apple-system"/>
              </a:rPr>
              <a:t>里面</a:t>
            </a:r>
            <a:r>
              <a:rPr lang="en-US" altLang="zh-CN" b="0" i="0" dirty="0">
                <a:solidFill>
                  <a:srgbClr val="616161"/>
                </a:solidFill>
                <a:effectLst/>
                <a:latin typeface="-apple-system"/>
              </a:rPr>
              <a:t>GPU</a:t>
            </a:r>
            <a:r>
              <a:rPr lang="zh-CN" altLang="en-US" b="1" dirty="0"/>
              <a:t>图形驱动也靠这个。</a:t>
            </a:r>
            <a:endParaRPr lang="en-US" altLang="zh-CN" b="1" dirty="0"/>
          </a:p>
          <a:p>
            <a:r>
              <a:rPr lang="en-US" altLang="zh-CN" b="1" dirty="0"/>
              <a:t>OpenCV V4L2 (Video4Linux2)</a:t>
            </a:r>
            <a:r>
              <a:rPr lang="en-US" altLang="zh-CN" dirty="0"/>
              <a:t> </a:t>
            </a:r>
            <a:r>
              <a:rPr lang="zh-CN" altLang="en-US" dirty="0"/>
              <a:t>协议也用了这个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FE3141-DDF0-2322-E50A-59794F4FFDCE}"/>
              </a:ext>
            </a:extLst>
          </p:cNvPr>
          <p:cNvSpPr txBox="1"/>
          <p:nvPr/>
        </p:nvSpPr>
        <p:spPr>
          <a:xfrm>
            <a:off x="3585215" y="5618333"/>
            <a:ext cx="4106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// </a:t>
            </a:r>
            <a:r>
              <a:rPr lang="en-US" altLang="zh-CN" sz="1200" dirty="0" err="1"/>
              <a:t>opencv</a:t>
            </a:r>
            <a:r>
              <a:rPr lang="en-US" altLang="zh-CN" sz="1200" dirty="0"/>
              <a:t>/modules/</a:t>
            </a:r>
            <a:r>
              <a:rPr lang="en-US" altLang="zh-CN" sz="1200" dirty="0" err="1"/>
              <a:t>videoio</a:t>
            </a:r>
            <a:r>
              <a:rPr lang="en-US" altLang="zh-CN" sz="1200" dirty="0"/>
              <a:t>/</a:t>
            </a:r>
            <a:r>
              <a:rPr lang="en-US" altLang="zh-CN" sz="1200" dirty="0" err="1"/>
              <a:t>src</a:t>
            </a:r>
            <a:r>
              <a:rPr lang="en-US" altLang="zh-CN" sz="1200" dirty="0"/>
              <a:t>/cap_v4l.cpp</a:t>
            </a:r>
          </a:p>
          <a:p>
            <a:r>
              <a:rPr lang="en-US" altLang="zh-CN" sz="1200" dirty="0"/>
              <a:t>int result = </a:t>
            </a:r>
            <a:r>
              <a:rPr lang="en-US" altLang="zh-CN" sz="1200" dirty="0" err="1"/>
              <a:t>ioctl</a:t>
            </a:r>
            <a:r>
              <a:rPr lang="en-US" altLang="zh-CN" sz="1200" dirty="0"/>
              <a:t>(</a:t>
            </a:r>
            <a:r>
              <a:rPr lang="en-US" altLang="zh-CN" sz="1200" dirty="0" err="1"/>
              <a:t>deviceHandle</a:t>
            </a:r>
            <a:r>
              <a:rPr lang="en-US" altLang="zh-CN" sz="1200" dirty="0"/>
              <a:t>, </a:t>
            </a:r>
            <a:r>
              <a:rPr lang="en-US" altLang="zh-CN" sz="1200" dirty="0" err="1"/>
              <a:t>ioctlCode</a:t>
            </a:r>
            <a:r>
              <a:rPr lang="en-US" altLang="zh-CN" sz="1200" dirty="0"/>
              <a:t>, parameter);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6C99CA-C955-7539-3E37-04572765F244}"/>
              </a:ext>
            </a:extLst>
          </p:cNvPr>
          <p:cNvSpPr txBox="1"/>
          <p:nvPr/>
        </p:nvSpPr>
        <p:spPr>
          <a:xfrm>
            <a:off x="7691596" y="5567545"/>
            <a:ext cx="4440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VIDIOC_DQBUF</a:t>
            </a:r>
            <a:r>
              <a:rPr lang="zh-CN" altLang="en-US" dirty="0"/>
              <a:t>从队列取一个已填充的帧</a:t>
            </a:r>
          </a:p>
          <a:p>
            <a:r>
              <a:rPr lang="en-US" altLang="zh-CN" dirty="0"/>
              <a:t>VIDIOC_QBUF</a:t>
            </a:r>
            <a:r>
              <a:rPr lang="zh-CN" altLang="en-US" dirty="0"/>
              <a:t>把空 </a:t>
            </a:r>
            <a:r>
              <a:rPr lang="en-US" altLang="zh-CN" dirty="0"/>
              <a:t>buffer </a:t>
            </a:r>
            <a:r>
              <a:rPr lang="zh-CN" altLang="en-US" dirty="0"/>
              <a:t>还给内核</a:t>
            </a:r>
          </a:p>
        </p:txBody>
      </p:sp>
    </p:spTree>
    <p:extLst>
      <p:ext uri="{BB962C8B-B14F-4D97-AF65-F5344CB8AC3E}">
        <p14:creationId xmlns:p14="http://schemas.microsoft.com/office/powerpoint/2010/main" val="361472187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8D898-FE10-97A5-78A7-B311928A7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40B0AC07-E251-D980-0EF4-043F5F7C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</p:spPr>
        <p:txBody>
          <a:bodyPr/>
          <a:lstStyle/>
          <a:p>
            <a:r>
              <a:rPr lang="zh-CN" altLang="en-US" dirty="0"/>
              <a:t>系统调用接口设计范式</a:t>
            </a:r>
            <a:r>
              <a:rPr lang="en-US" altLang="zh-CN" dirty="0"/>
              <a:t>——pselct6</a:t>
            </a:r>
            <a:r>
              <a:rPr lang="zh-CN" altLang="en-US" dirty="0"/>
              <a:t>为例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E5C87A-B423-B785-C5FB-C8A6A5AF0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7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3EACBC-AB0F-3E19-045D-2438A5489F64}"/>
              </a:ext>
            </a:extLst>
          </p:cNvPr>
          <p:cNvSpPr txBox="1"/>
          <p:nvPr/>
        </p:nvSpPr>
        <p:spPr>
          <a:xfrm>
            <a:off x="1423289" y="2566318"/>
            <a:ext cx="3816436" cy="1697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r 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SYSCALL_CANCEL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pselect6_time64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nfds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arg1: int → ARM64 x0</a:t>
            </a:r>
            <a:r>
              <a:rPr lang="zh-CN" altLang="en-US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最大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readfds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arg2: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* → ARM64 x1</a:t>
            </a:r>
            <a:r>
              <a:rPr lang="zh-CN" altLang="en-US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位图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writefds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arg3: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* → ARM64 x2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exceptfds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arg4: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* → ARM64 x3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pts64</a:t>
            </a: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arg5: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timespec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* → ARM64 x4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// arg6: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sigmask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10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ptr</a:t>
            </a:r>
            <a:r>
              <a:rPr lang="en-US" altLang="zh-CN" sz="110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 → ARM64 x5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>
              <a:lnSpc>
                <a:spcPts val="1350"/>
              </a:lnSpc>
              <a:buNone/>
            </a:pPr>
            <a:r>
              <a:rPr lang="zh-CN" altLang="en-US" sz="1100" dirty="0">
                <a:solidFill>
                  <a:srgbClr val="1A1A1A"/>
                </a:solidFill>
                <a:latin typeface="Menlo" panose="020B0609030804020204" pitchFamily="49" charset="0"/>
              </a:rPr>
              <a:t>通过最大</a:t>
            </a:r>
            <a:r>
              <a:rPr lang="en-US" altLang="zh-CN" sz="1100" dirty="0" err="1">
                <a:solidFill>
                  <a:srgbClr val="1A1A1A"/>
                </a:solidFill>
                <a:latin typeface="Menlo" panose="020B0609030804020204" pitchFamily="49" charset="0"/>
              </a:rPr>
              <a:t>fd</a:t>
            </a:r>
            <a:r>
              <a:rPr lang="en-US" altLang="zh-CN" sz="1100" dirty="0">
                <a:solidFill>
                  <a:srgbClr val="1A1A1A"/>
                </a:solidFill>
                <a:latin typeface="Menlo" panose="020B0609030804020204" pitchFamily="49" charset="0"/>
              </a:rPr>
              <a:t>+</a:t>
            </a:r>
            <a:r>
              <a:rPr lang="zh-CN" altLang="en-US" sz="1100" dirty="0">
                <a:solidFill>
                  <a:srgbClr val="1A1A1A"/>
                </a:solidFill>
                <a:latin typeface="Menlo" panose="020B0609030804020204" pitchFamily="49" charset="0"/>
              </a:rPr>
              <a:t>位图就能确定所有要</a:t>
            </a:r>
            <a:r>
              <a:rPr lang="en-US" altLang="zh-CN" sz="1100" dirty="0">
                <a:solidFill>
                  <a:srgbClr val="1A1A1A"/>
                </a:solidFill>
                <a:latin typeface="Menlo" panose="020B0609030804020204" pitchFamily="49" charset="0"/>
              </a:rPr>
              <a:t>select</a:t>
            </a:r>
            <a:r>
              <a:rPr lang="zh-CN" altLang="en-US" sz="1100" dirty="0">
                <a:solidFill>
                  <a:srgbClr val="1A1A1A"/>
                </a:solidFill>
                <a:latin typeface="Menlo" panose="020B0609030804020204" pitchFamily="49" charset="0"/>
              </a:rPr>
              <a:t>的文件</a:t>
            </a:r>
            <a:endParaRPr lang="en-US" altLang="zh-CN" sz="11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31C0A0-4270-C86A-F6A5-36E07F372E00}"/>
              </a:ext>
            </a:extLst>
          </p:cNvPr>
          <p:cNvSpPr txBox="1"/>
          <p:nvPr/>
        </p:nvSpPr>
        <p:spPr>
          <a:xfrm>
            <a:off x="5487920" y="2567857"/>
            <a:ext cx="4902926" cy="1695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SYSCALL_DEFINE6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pselect6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n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inp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outp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fd_set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exp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struct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kernel_timespec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tsp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dirty="0">
                <a:solidFill>
                  <a:srgbClr val="969696"/>
                </a:solidFill>
                <a:latin typeface="Menlo" panose="020B0609030804020204" pitchFamily="49" charset="0"/>
              </a:rPr>
              <a:t> </a:t>
            </a:r>
          </a:p>
          <a:p>
            <a:pPr>
              <a:lnSpc>
                <a:spcPts val="1350"/>
              </a:lnSpc>
            </a:pPr>
            <a:r>
              <a:rPr lang="en-US" altLang="zh-CN" sz="1050" dirty="0">
                <a:solidFill>
                  <a:srgbClr val="969696"/>
                </a:solidFill>
                <a:latin typeface="Menlo" panose="020B0609030804020204" pitchFamily="49" charset="0"/>
              </a:rPr>
              <a:t>// </a:t>
            </a:r>
            <a:r>
              <a:rPr lang="zh-CN" altLang="en-US" sz="1050" dirty="0">
                <a:solidFill>
                  <a:srgbClr val="969696"/>
                </a:solidFill>
                <a:latin typeface="Menlo" panose="020B0609030804020204" pitchFamily="49" charset="0"/>
              </a:rPr>
              <a:t>里面是一个</a:t>
            </a:r>
            <a:r>
              <a:rPr lang="en-US" altLang="zh-CN" sz="1050" dirty="0">
                <a:solidFill>
                  <a:srgbClr val="969696"/>
                </a:solidFill>
                <a:latin typeface="Menlo" panose="020B0609030804020204" pitchFamily="49" charset="0"/>
              </a:rPr>
              <a:t>u64s+</a:t>
            </a:r>
            <a:r>
              <a:rPr lang="zh-CN" altLang="en-US" sz="1050" dirty="0">
                <a:solidFill>
                  <a:srgbClr val="969696"/>
                </a:solidFill>
                <a:latin typeface="Menlo" panose="020B0609030804020204" pitchFamily="49" charset="0"/>
              </a:rPr>
              <a:t>一个</a:t>
            </a:r>
            <a:r>
              <a:rPr lang="en-US" altLang="zh-CN" sz="1050" dirty="0">
                <a:solidFill>
                  <a:srgbClr val="969696"/>
                </a:solidFill>
                <a:latin typeface="Menlo" panose="020B0609030804020204" pitchFamily="49" charset="0"/>
              </a:rPr>
              <a:t>ns</a:t>
            </a:r>
            <a:r>
              <a:rPr lang="zh-CN" altLang="en-US" sz="1050" dirty="0">
                <a:solidFill>
                  <a:srgbClr val="969696"/>
                </a:solidFill>
                <a:latin typeface="Menlo" panose="020B0609030804020204" pitchFamily="49" charset="0"/>
              </a:rPr>
              <a:t>来确定内核时间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__user </a:t>
            </a:r>
            <a:r>
              <a:rPr lang="en-US" altLang="zh-CN" sz="1050" b="0" dirty="0">
                <a:solidFill>
                  <a:srgbClr val="B052A1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sig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//</a:t>
            </a:r>
            <a:r>
              <a:rPr lang="en-US" altLang="zh-CN" sz="1050" b="0" dirty="0" err="1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sigmask</a:t>
            </a:r>
            <a:r>
              <a:rPr lang="zh-CN" altLang="en-US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信号掩码记录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“</a:t>
            </a:r>
            <a:r>
              <a:rPr lang="zh-CN" altLang="en-US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哪些信号被该进程屏蔽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zh-CN" altLang="en-US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阻塞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”</a:t>
            </a:r>
            <a:r>
              <a:rPr lang="zh-CN" altLang="en-US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，好像是历史遗留问题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9717FA-1E60-1DBB-6A21-21D37593682A}"/>
              </a:ext>
            </a:extLst>
          </p:cNvPr>
          <p:cNvSpPr txBox="1"/>
          <p:nvPr/>
        </p:nvSpPr>
        <p:spPr>
          <a:xfrm>
            <a:off x="5713123" y="4919560"/>
            <a:ext cx="6096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zh-CN" altLang="en-US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标量值（</a:t>
            </a:r>
            <a:r>
              <a:rPr lang="en-US" altLang="zh-CN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scalar</a:t>
            </a:r>
            <a:r>
              <a:rPr lang="zh-CN" altLang="en-US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-US" altLang="zh-CN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不需要</a:t>
            </a:r>
            <a:r>
              <a:rPr lang="en-US" altLang="zh-CN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__user</a:t>
            </a: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：</a:t>
            </a:r>
            <a:endParaRPr lang="en-US" altLang="zh-CN" sz="120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altLang="zh-CN" sz="1200" dirty="0"/>
              <a:t>- int n</a:t>
            </a:r>
            <a:r>
              <a:rPr lang="zh-CN" altLang="en-US" sz="1200" dirty="0"/>
              <a:t>（</a:t>
            </a:r>
            <a:r>
              <a:rPr lang="en-US" altLang="zh-CN" sz="1200" dirty="0" err="1"/>
              <a:t>fd</a:t>
            </a:r>
            <a:r>
              <a:rPr lang="en-US" altLang="zh-CN" sz="1200" dirty="0"/>
              <a:t> </a:t>
            </a:r>
            <a:r>
              <a:rPr lang="zh-CN" altLang="en-US" sz="1200" dirty="0"/>
              <a:t>数量）</a:t>
            </a:r>
            <a:r>
              <a:rPr lang="en-US" altLang="zh-CN" sz="1200" dirty="0"/>
              <a:t>—— </a:t>
            </a:r>
            <a:r>
              <a:rPr lang="zh-CN" altLang="en-US" sz="1200" dirty="0"/>
              <a:t>直接放寄存器，内核直接用</a:t>
            </a:r>
          </a:p>
          <a:p>
            <a:pPr>
              <a:lnSpc>
                <a:spcPts val="1350"/>
              </a:lnSpc>
              <a:buNone/>
            </a:pP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所有</a:t>
            </a:r>
            <a:r>
              <a:rPr lang="zh-CN" altLang="en-US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指针类型</a:t>
            </a: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（指向用户态缓冲区的地址），</a:t>
            </a:r>
            <a:r>
              <a:rPr lang="zh-CN" altLang="en-US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都应该标</a:t>
            </a:r>
            <a:r>
              <a:rPr lang="en-US" altLang="zh-CN" sz="12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__user</a:t>
            </a:r>
            <a:r>
              <a:rPr lang="zh-CN" altLang="en-US" sz="12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BA2455-27D1-A6B4-A740-4253F6231874}"/>
              </a:ext>
            </a:extLst>
          </p:cNvPr>
          <p:cNvSpPr txBox="1"/>
          <p:nvPr/>
        </p:nvSpPr>
        <p:spPr>
          <a:xfrm>
            <a:off x="513806" y="4571260"/>
            <a:ext cx="4232366" cy="97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内核定义时：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`__user` 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是给静态分析工具看的</a:t>
            </a:r>
            <a:endParaRPr lang="en-US" altLang="zh-CN" sz="1100" b="0" dirty="0">
              <a:solidFill>
                <a:srgbClr val="A56416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`__user`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是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Linux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内核的 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地址空间标注（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address-space annotation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，主要作用：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altLang="zh-CN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Sparse </a:t>
            </a:r>
            <a:r>
              <a:rPr lang="zh-CN" altLang="en-US" sz="110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静态检查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：告知 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sparse "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这个指针指向用户态地址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，</a:t>
            </a:r>
            <a:r>
              <a:rPr lang="en-US" altLang="zh-CN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sparse </a:t>
            </a:r>
            <a:r>
              <a:rPr lang="zh-CN" altLang="en-US" sz="1100" b="0" dirty="0">
                <a:solidFill>
                  <a:srgbClr val="333333"/>
                </a:solidFill>
                <a:effectLst/>
                <a:latin typeface="Menlo" panose="020B0609030804020204" pitchFamily="49" charset="0"/>
              </a:rPr>
              <a:t>检查你是否直接解引用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984A36-8DAC-5B4F-08C4-DF05CB767B53}"/>
              </a:ext>
            </a:extLst>
          </p:cNvPr>
          <p:cNvSpPr txBox="1"/>
          <p:nvPr/>
        </p:nvSpPr>
        <p:spPr>
          <a:xfrm>
            <a:off x="448975" y="5631248"/>
            <a:ext cx="436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必须</a:t>
            </a:r>
            <a:r>
              <a:rPr lang="zh-CN" altLang="en-US" dirty="0">
                <a:highlight>
                  <a:srgbClr val="FFFF00"/>
                </a:highlight>
              </a:rPr>
              <a:t>通过 </a:t>
            </a:r>
            <a:r>
              <a:rPr lang="en-US" altLang="zh-CN" dirty="0">
                <a:highlight>
                  <a:srgbClr val="FFFF00"/>
                </a:highlight>
              </a:rPr>
              <a:t>`</a:t>
            </a:r>
            <a:r>
              <a:rPr lang="en-US" altLang="zh-CN" dirty="0" err="1">
                <a:highlight>
                  <a:srgbClr val="FFFF00"/>
                </a:highlight>
              </a:rPr>
              <a:t>get_user</a:t>
            </a:r>
            <a:r>
              <a:rPr lang="en-US" altLang="zh-CN" dirty="0">
                <a:highlight>
                  <a:srgbClr val="FFFF00"/>
                </a:highlight>
              </a:rPr>
              <a:t>` / `</a:t>
            </a:r>
            <a:r>
              <a:rPr lang="en-US" altLang="zh-CN" dirty="0" err="1">
                <a:highlight>
                  <a:srgbClr val="FFFF00"/>
                </a:highlight>
              </a:rPr>
              <a:t>copy_from_user</a:t>
            </a:r>
            <a:r>
              <a:rPr lang="en-US" altLang="zh-CN" dirty="0">
                <a:highlight>
                  <a:srgbClr val="FFFF00"/>
                </a:highlight>
              </a:rPr>
              <a:t>`</a:t>
            </a:r>
          </a:p>
          <a:p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90B83D-9A18-7B8C-F97B-FD93F8A547FD}"/>
              </a:ext>
            </a:extLst>
          </p:cNvPr>
          <p:cNvSpPr txBox="1"/>
          <p:nvPr/>
        </p:nvSpPr>
        <p:spPr>
          <a:xfrm>
            <a:off x="1423289" y="1132001"/>
            <a:ext cx="41763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ready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_ </a:t>
            </a:r>
            <a:r>
              <a:rPr lang="en-US" altLang="zh-CN" sz="1050" b="0" dirty="0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050" b="0" dirty="0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428226"/>
                </a:solidFill>
                <a:effectLst/>
                <a:latin typeface="Menlo" panose="020B0609030804020204" pitchFamily="49" charset="0"/>
              </a:rPr>
              <a:t>select.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</a:t>
            </a:r>
            <a:endParaRPr lang="en-US" altLang="zh-CN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self.fd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self.pipe_abort_read_r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],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读事件监视列表）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[],</a:t>
            </a:r>
            <a:r>
              <a:rPr lang="zh-CN" altLang="en-US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wlist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（写事件监视列表，空）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[],</a:t>
            </a:r>
            <a:r>
              <a:rPr lang="zh-CN" altLang="en-US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050" b="0" dirty="0" err="1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xlist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（异常事件监视列表，空）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 err="1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timeout.</a:t>
            </a:r>
            <a:r>
              <a:rPr lang="en-US" altLang="zh-CN" sz="1050" b="0" dirty="0" err="1">
                <a:solidFill>
                  <a:srgbClr val="A56416"/>
                </a:solidFill>
                <a:effectLst/>
                <a:latin typeface="Menlo" panose="020B0609030804020204" pitchFamily="49" charset="0"/>
              </a:rPr>
              <a:t>time_left</a:t>
            </a: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()</a:t>
            </a:r>
            <a:r>
              <a:rPr lang="en-US" altLang="zh-CN" sz="1050" b="0" dirty="0">
                <a:solidFill>
                  <a:srgbClr val="3778B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# timeout</a:t>
            </a:r>
            <a:r>
              <a:rPr lang="zh-CN" altLang="en-US" sz="1050" b="0" dirty="0">
                <a:solidFill>
                  <a:srgbClr val="969696"/>
                </a:solidFill>
                <a:effectLst/>
                <a:latin typeface="Menlo" panose="020B0609030804020204" pitchFamily="49" charset="0"/>
              </a:rPr>
              <a:t>（超时，秒为单位）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050" b="0" dirty="0">
                <a:solidFill>
                  <a:srgbClr val="1A1A1A"/>
                </a:solidFill>
                <a:effectLst/>
                <a:latin typeface="Menlo" panose="020B0609030804020204" pitchFamily="49" charset="0"/>
              </a:rPr>
              <a:t>)</a:t>
            </a:r>
            <a:endParaRPr lang="zh-CN" altLang="en-US" sz="1050" b="0" dirty="0">
              <a:solidFill>
                <a:srgbClr val="333333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E73738-803B-71F6-A0E1-5272A49C13F6}"/>
              </a:ext>
            </a:extLst>
          </p:cNvPr>
          <p:cNvSpPr txBox="1"/>
          <p:nvPr/>
        </p:nvSpPr>
        <p:spPr>
          <a:xfrm>
            <a:off x="226423" y="168946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serial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EE6B45-D889-244F-4DD2-141918088422}"/>
              </a:ext>
            </a:extLst>
          </p:cNvPr>
          <p:cNvSpPr txBox="1"/>
          <p:nvPr/>
        </p:nvSpPr>
        <p:spPr>
          <a:xfrm>
            <a:off x="409303" y="3317966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Glibc</a:t>
            </a:r>
          </a:p>
        </p:txBody>
      </p:sp>
    </p:spTree>
    <p:extLst>
      <p:ext uri="{BB962C8B-B14F-4D97-AF65-F5344CB8AC3E}">
        <p14:creationId xmlns:p14="http://schemas.microsoft.com/office/powerpoint/2010/main" val="189733198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2478</Words>
  <Application>Microsoft Macintosh PowerPoint</Application>
  <PresentationFormat>宽屏</PresentationFormat>
  <Paragraphs>320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-apple-system</vt:lpstr>
      <vt:lpstr>等线</vt:lpstr>
      <vt:lpstr>微软雅黑</vt:lpstr>
      <vt:lpstr>JetBrains Mono</vt:lpstr>
      <vt:lpstr>Arial</vt:lpstr>
      <vt:lpstr>Century Gothic</vt:lpstr>
      <vt:lpstr>Courier New</vt:lpstr>
      <vt:lpstr>Menlo</vt:lpstr>
      <vt:lpstr>内页​​</vt:lpstr>
      <vt:lpstr>全套软件栈</vt:lpstr>
      <vt:lpstr>机械臂（舵机）串口读写链路</vt:lpstr>
      <vt:lpstr>写：Pyserial到内核</vt:lpstr>
      <vt:lpstr>读：Pyserial到内核</vt:lpstr>
      <vt:lpstr>read&amp;write调用</vt:lpstr>
      <vt:lpstr>ioctl调用</vt:lpstr>
      <vt:lpstr>系统调用接口设计范式——pselct6为例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Vel</dc:creator>
  <cp:lastModifiedBy>- Vel</cp:lastModifiedBy>
  <cp:revision>9</cp:revision>
  <dcterms:created xsi:type="dcterms:W3CDTF">2026-03-31T02:10:04Z</dcterms:created>
  <dcterms:modified xsi:type="dcterms:W3CDTF">2026-04-16T08:05:20Z</dcterms:modified>
</cp:coreProperties>
</file>