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1824" r:id="rId2"/>
    <p:sldId id="2725" r:id="rId3"/>
    <p:sldId id="2726" r:id="rId4"/>
    <p:sldId id="2727" r:id="rId5"/>
    <p:sldId id="2736" r:id="rId6"/>
    <p:sldId id="2737" r:id="rId7"/>
    <p:sldId id="2738" r:id="rId8"/>
    <p:sldId id="2739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05"/>
    <p:restoredTop sz="96949"/>
  </p:normalViewPr>
  <p:slideViewPr>
    <p:cSldViewPr snapToGrid="0">
      <p:cViewPr varScale="1">
        <p:scale>
          <a:sx n="122" d="100"/>
          <a:sy n="122" d="100"/>
        </p:scale>
        <p:origin x="216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267CAB-343E-114C-ABB0-E02745723783}" type="datetimeFigureOut">
              <a:rPr kumimoji="1" lang="zh-CN" altLang="en-US" smtClean="0"/>
              <a:t>2026/4/17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DBF5E-240C-1440-AC0D-50979FBCA53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1365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6543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6578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056E5-04EA-5421-EC9A-F2474CCAA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0A9969-A9DE-E9C7-7519-6B9C77EA4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5293BD9-138D-6481-4020-EBB293D600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7327DD-4BF8-3D4B-4EF9-19FB24D6B8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80953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409DC-AF99-473E-45FF-F96F5474E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8D47289-1D4B-B623-8BF7-0E6A2489B4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8789630-6226-246B-DBD4-C7E95E2F0B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BDCED9-BA5A-ED0D-F33A-8922C07DCC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1298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0360C-923A-05DB-9D3E-BB2026507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627BCFF-88B8-97E1-0FE0-40DE5BECE9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62FFDD0-BB9F-5DEB-8D9E-42CBEE167E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232FC2-4821-4332-AD58-1D16561511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76196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751B2-29FB-470B-2340-E245E6D98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1B80580-28A6-6E7B-D3DB-D39444A0EE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987AD87-975C-6C39-C95E-ABC8FB33A3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D1E98A-C988-98D5-E04D-72BFFB50C8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98936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CA8C5-F51D-FA14-625E-C30F85579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B4429DB-FCBA-D8AE-F5F1-ACCF02FED4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387789-4D30-53C4-CC6B-F058D3FB31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306FD8-EEF7-77EA-2D1D-F2DABCE2F0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71633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5BF24-AC8F-3704-5DFC-94CA8506A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BE354F1-684C-E5A4-089A-5B8635996B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F4BA04E-AD7A-58A6-C1C8-C2F1885101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346C92-25ED-6E98-09B0-C2E13DAE80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9224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550089" y="863157"/>
            <a:ext cx="1031862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366474" y="-17822"/>
            <a:ext cx="0" cy="10794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85" name="组合 8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2" name="组合 10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831710452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85" name="组合 8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2" name="组合 10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7" name="标题 11">
            <a:extLst>
              <a:ext uri="{FF2B5EF4-FFF2-40B4-BE49-F238E27FC236}">
                <a16:creationId xmlns:a16="http://schemas.microsoft.com/office/drawing/2014/main" id="{F740B2F3-F46E-47AE-8C0D-F561C0D52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594270190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5" name="直接连接符 4"/>
          <p:cNvCxnSpPr/>
          <p:nvPr userDrawn="1"/>
        </p:nvCxnSpPr>
        <p:spPr>
          <a:xfrm>
            <a:off x="11155416" y="6133167"/>
            <a:ext cx="0" cy="75617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2625712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577850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-9524" y="122428"/>
            <a:ext cx="559928" cy="699303"/>
            <a:chOff x="-9524" y="122428"/>
            <a:chExt cx="559928" cy="699303"/>
          </a:xfrm>
        </p:grpSpPr>
        <p:sp>
          <p:nvSpPr>
            <p:cNvPr id="85" name="任意多边形: 形状 56">
              <a:extLst>
                <a:ext uri="{FF2B5EF4-FFF2-40B4-BE49-F238E27FC236}">
                  <a16:creationId xmlns:a16="http://schemas.microsoft.com/office/drawing/2014/main" id="{77A3E9FF-E8D6-4864-AD9A-BC3E704158E7}"/>
                </a:ext>
              </a:extLst>
            </p:cNvPr>
            <p:cNvSpPr/>
            <p:nvPr userDrawn="1"/>
          </p:nvSpPr>
          <p:spPr>
            <a:xfrm>
              <a:off x="-9524" y="122428"/>
              <a:ext cx="559928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任意多边形: 形状 57">
              <a:extLst>
                <a:ext uri="{FF2B5EF4-FFF2-40B4-BE49-F238E27FC236}">
                  <a16:creationId xmlns:a16="http://schemas.microsoft.com/office/drawing/2014/main" id="{0B39D90D-B980-4ADB-95FB-F043B008E76D}"/>
                </a:ext>
              </a:extLst>
            </p:cNvPr>
            <p:cNvSpPr/>
            <p:nvPr userDrawn="1"/>
          </p:nvSpPr>
          <p:spPr>
            <a:xfrm>
              <a:off x="417309" y="379233"/>
              <a:ext cx="96622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4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1375EC85-F9E6-44D2-9F15-53B5B6F75476}"/>
              </a:ext>
            </a:extLst>
          </p:cNvPr>
          <p:cNvCxnSpPr>
            <a:cxnSpLocks/>
          </p:cNvCxnSpPr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>
            <a:extLst>
              <a:ext uri="{FF2B5EF4-FFF2-40B4-BE49-F238E27FC236}">
                <a16:creationId xmlns:a16="http://schemas.microsoft.com/office/drawing/2014/main" id="{CE6666C3-355D-4A5C-A830-6BBD90D5F1FE}"/>
              </a:ext>
            </a:extLst>
          </p:cNvPr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84" name="组合 8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6" name="组合 10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1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7" name="组合 10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10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10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组合 9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985187618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84" name="组合 8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6" name="组合 10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1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7" name="组合 10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10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10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组合 9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6" name="标题 11">
            <a:extLst>
              <a:ext uri="{FF2B5EF4-FFF2-40B4-BE49-F238E27FC236}">
                <a16:creationId xmlns:a16="http://schemas.microsoft.com/office/drawing/2014/main" id="{C75E756C-98CD-4DE4-BB41-9C72D0D63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89882674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CE6666C3-355D-4A5C-A830-6BBD90D5F1FE}"/>
              </a:ext>
            </a:extLst>
          </p:cNvPr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428324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>
            <a:extLst>
              <a:ext uri="{FF2B5EF4-FFF2-40B4-BE49-F238E27FC236}">
                <a16:creationId xmlns:a16="http://schemas.microsoft.com/office/drawing/2014/main" id="{234BC7E1-028A-4463-99ED-1994A3ADEC14}"/>
              </a:ext>
            </a:extLst>
          </p:cNvPr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1BC6857-420C-4F20-ABBF-78DDE1D9F36B}"/>
              </a:ext>
            </a:extLst>
          </p:cNvPr>
          <p:cNvSpPr/>
          <p:nvPr userDrawn="1"/>
        </p:nvSpPr>
        <p:spPr>
          <a:xfrm>
            <a:off x="198120" y="302341"/>
            <a:ext cx="746398" cy="342128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949325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  <p:grpSp>
        <p:nvGrpSpPr>
          <p:cNvPr id="33" name="组合 3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4" name="组合 3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9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6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3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5" name="组合 3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7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2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0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546559373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4" name="组合 3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9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6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3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5" name="组合 3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7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2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0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547889606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366474" y="863157"/>
            <a:ext cx="10502238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368806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677950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标题 11">
            <a:extLst>
              <a:ext uri="{FF2B5EF4-FFF2-40B4-BE49-F238E27FC236}">
                <a16:creationId xmlns:a16="http://schemas.microsoft.com/office/drawing/2014/main" id="{B751A2AD-C679-48C2-AFF3-1AB781A3D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988819481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0185149" y="863157"/>
            <a:ext cx="168356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5111489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49863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33"/>
          <a:stretch/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1375EC85-F9E6-44D2-9F15-53B5B6F75476}"/>
              </a:ext>
            </a:extLst>
          </p:cNvPr>
          <p:cNvCxnSpPr>
            <a:cxnSpLocks/>
          </p:cNvCxnSpPr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-511603" y="253621"/>
            <a:ext cx="1221064" cy="438825"/>
            <a:chOff x="-529708" y="381991"/>
            <a:chExt cx="1221064" cy="438825"/>
          </a:xfrm>
        </p:grpSpPr>
        <p:sp>
          <p:nvSpPr>
            <p:cNvPr id="58" name="梯形 57">
              <a:extLst>
                <a:ext uri="{FF2B5EF4-FFF2-40B4-BE49-F238E27FC236}">
                  <a16:creationId xmlns:a16="http://schemas.microsoft.com/office/drawing/2014/main" id="{5065A524-15E6-4769-B9ED-7868E19ADB1E}"/>
                </a:ext>
              </a:extLst>
            </p:cNvPr>
            <p:cNvSpPr/>
            <p:nvPr userDrawn="1"/>
          </p:nvSpPr>
          <p:spPr>
            <a:xfrm rot="16200000">
              <a:off x="-107121" y="-40596"/>
              <a:ext cx="375890" cy="1221064"/>
            </a:xfrm>
            <a:prstGeom prst="trapezoid">
              <a:avLst>
                <a:gd name="adj" fmla="val 7230"/>
              </a:avLst>
            </a:prstGeom>
            <a:gradFill>
              <a:gsLst>
                <a:gs pos="100000">
                  <a:schemeClr val="accent1"/>
                </a:gs>
                <a:gs pos="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梯形 58">
              <a:extLst>
                <a:ext uri="{FF2B5EF4-FFF2-40B4-BE49-F238E27FC236}">
                  <a16:creationId xmlns:a16="http://schemas.microsoft.com/office/drawing/2014/main" id="{AC403C93-604F-4B72-B919-463ACA49C29B}"/>
                </a:ext>
              </a:extLst>
            </p:cNvPr>
            <p:cNvSpPr/>
            <p:nvPr userDrawn="1"/>
          </p:nvSpPr>
          <p:spPr>
            <a:xfrm rot="16200000">
              <a:off x="-79397" y="146495"/>
              <a:ext cx="267255" cy="1058332"/>
            </a:xfrm>
            <a:prstGeom prst="trapezoid">
              <a:avLst>
                <a:gd name="adj" fmla="val 72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梯形 59">
              <a:extLst>
                <a:ext uri="{FF2B5EF4-FFF2-40B4-BE49-F238E27FC236}">
                  <a16:creationId xmlns:a16="http://schemas.microsoft.com/office/drawing/2014/main" id="{AC403C93-604F-4B72-B919-463ACA49C29B}"/>
                </a:ext>
              </a:extLst>
            </p:cNvPr>
            <p:cNvSpPr/>
            <p:nvPr userDrawn="1"/>
          </p:nvSpPr>
          <p:spPr>
            <a:xfrm rot="16200000">
              <a:off x="-95133" y="158023"/>
              <a:ext cx="267255" cy="1058332"/>
            </a:xfrm>
            <a:prstGeom prst="trapezoid">
              <a:avLst>
                <a:gd name="adj" fmla="val 7230"/>
              </a:avLst>
            </a:prstGeom>
            <a:gradFill flip="none" rotWithShape="1">
              <a:gsLst>
                <a:gs pos="100000">
                  <a:schemeClr val="accent4"/>
                </a:gs>
                <a:gs pos="0">
                  <a:schemeClr val="accent4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1" name="组合 6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62" name="组合 6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7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0" name="组合 7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3" name="组合 6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6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625378028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组合 6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62" name="组合 6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7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0" name="组合 7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3" name="组合 6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6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6" name="标题 11">
            <a:extLst>
              <a:ext uri="{FF2B5EF4-FFF2-40B4-BE49-F238E27FC236}">
                <a16:creationId xmlns:a16="http://schemas.microsoft.com/office/drawing/2014/main" id="{C0F4148E-045B-44EE-8A4E-88B14DCC5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155167003"/>
      </p:ext>
    </p:extLst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本框 6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86" name="图片 8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33"/>
          <a:stretch/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668834"/>
      </p:ext>
    </p:extLst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 userDrawn="1"/>
        </p:nvSpPr>
        <p:spPr>
          <a:xfrm>
            <a:off x="442912" y="-82551"/>
            <a:ext cx="11306175" cy="9087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2490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  <p:grpSp>
        <p:nvGrpSpPr>
          <p:cNvPr id="46" name="组合 45"/>
          <p:cNvGrpSpPr/>
          <p:nvPr userDrawn="1"/>
        </p:nvGrpSpPr>
        <p:grpSpPr>
          <a:xfrm>
            <a:off x="637534" y="199773"/>
            <a:ext cx="463263" cy="481001"/>
            <a:chOff x="598941" y="128599"/>
            <a:chExt cx="463263" cy="481001"/>
          </a:xfrm>
        </p:grpSpPr>
        <p:sp>
          <p:nvSpPr>
            <p:cNvPr id="45" name="矩形 44"/>
            <p:cNvSpPr/>
            <p:nvPr userDrawn="1"/>
          </p:nvSpPr>
          <p:spPr>
            <a:xfrm>
              <a:off x="701671" y="249067"/>
              <a:ext cx="360533" cy="36053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 userDrawn="1"/>
          </p:nvSpPr>
          <p:spPr>
            <a:xfrm>
              <a:off x="701671" y="247801"/>
              <a:ext cx="275115" cy="256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 userDrawn="1"/>
          </p:nvSpPr>
          <p:spPr>
            <a:xfrm>
              <a:off x="598941" y="128599"/>
              <a:ext cx="360533" cy="3605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6" name="组合 35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7" name="组合 3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6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5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924212053"/>
      </p:ext>
    </p:extLst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7" name="组合 3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6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5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69" name="标题 11">
            <a:extLst>
              <a:ext uri="{FF2B5EF4-FFF2-40B4-BE49-F238E27FC236}">
                <a16:creationId xmlns:a16="http://schemas.microsoft.com/office/drawing/2014/main" id="{0D0682F6-A194-4FB3-8EF2-674B6164F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701635531"/>
      </p:ext>
    </p:extLst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9402184" y="-82800"/>
            <a:ext cx="2346903" cy="90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 userDrawn="1"/>
        </p:nvSpPr>
        <p:spPr>
          <a:xfrm>
            <a:off x="9402184" y="0"/>
            <a:ext cx="2346904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298606"/>
      </p:ext>
    </p:extLst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/>
          <p:cNvSpPr/>
          <p:nvPr userDrawn="1"/>
        </p:nvSpPr>
        <p:spPr>
          <a:xfrm>
            <a:off x="658714" y="482300"/>
            <a:ext cx="748201" cy="484094"/>
          </a:xfrm>
          <a:prstGeom prst="parallelogram">
            <a:avLst>
              <a:gd name="adj" fmla="val 71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 userDrawn="1"/>
        </p:nvSpPr>
        <p:spPr>
          <a:xfrm>
            <a:off x="442912" y="-82800"/>
            <a:ext cx="11306175" cy="84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1855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  <p:sp>
        <p:nvSpPr>
          <p:cNvPr id="43" name="矩形 42"/>
          <p:cNvSpPr/>
          <p:nvPr userDrawn="1"/>
        </p:nvSpPr>
        <p:spPr>
          <a:xfrm>
            <a:off x="648385" y="0"/>
            <a:ext cx="413819" cy="966395"/>
          </a:xfrm>
          <a:prstGeom prst="rect">
            <a:avLst/>
          </a:prstGeom>
          <a:ln>
            <a:noFill/>
          </a:ln>
          <a:effectLst>
            <a:outerShdw blurRad="127000" dist="25400" dir="5400000" sx="102000" sy="102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5" name="组合 3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5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2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3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9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6" name="组合 3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3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1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8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133624665"/>
      </p:ext>
    </p:extLst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5" name="组合 3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5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2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3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9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6" name="组合 3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3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1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8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64" name="标题 11">
            <a:extLst>
              <a:ext uri="{FF2B5EF4-FFF2-40B4-BE49-F238E27FC236}">
                <a16:creationId xmlns:a16="http://schemas.microsoft.com/office/drawing/2014/main" id="{FDDD1B7B-042D-4B1B-81C1-5A7085CDF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82028608"/>
      </p:ext>
    </p:extLst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385300" y="-82550"/>
            <a:ext cx="2363787" cy="845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385300" y="0"/>
            <a:ext cx="2363788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935412"/>
      </p:ext>
    </p:extLst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1550080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标题 11"/>
          <p:cNvSpPr>
            <a:spLocks noGrp="1"/>
          </p:cNvSpPr>
          <p:nvPr>
            <p:ph type="title"/>
          </p:nvPr>
        </p:nvSpPr>
        <p:spPr>
          <a:xfrm>
            <a:off x="541539" y="247495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  <p:grpSp>
        <p:nvGrpSpPr>
          <p:cNvPr id="37" name="组合 3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8" name="组合 3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6" name="组合 5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776177803"/>
      </p:ext>
    </p:extLst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37" name="组合 3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8" name="组合 3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6" name="组合 5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2" name="标题 11">
            <a:extLst>
              <a:ext uri="{FF2B5EF4-FFF2-40B4-BE49-F238E27FC236}">
                <a16:creationId xmlns:a16="http://schemas.microsoft.com/office/drawing/2014/main" id="{A87381B5-231A-44CC-994D-B480CB6C3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79741628"/>
      </p:ext>
    </p:extLst>
  </p:cSld>
  <p:clrMapOvr>
    <a:masterClrMapping/>
  </p:clrMapOvr>
  <p:transition spd="med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44922" y="6188075"/>
            <a:ext cx="72379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9488246" y="0"/>
            <a:ext cx="2380466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543587"/>
      </p:ext>
    </p:extLst>
  </p:cSld>
  <p:clrMapOvr>
    <a:masterClrMapping/>
  </p:clrMapOvr>
  <p:transition spd="med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1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5963"/>
          <a:stretch/>
        </p:blipFill>
        <p:spPr>
          <a:xfrm>
            <a:off x="7191376" y="133072"/>
            <a:ext cx="5028334" cy="653579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02F5BB1-3479-4B75-8121-C76027E92312}"/>
              </a:ext>
            </a:extLst>
          </p:cNvPr>
          <p:cNvSpPr/>
          <p:nvPr userDrawn="1"/>
        </p:nvSpPr>
        <p:spPr>
          <a:xfrm>
            <a:off x="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5" name="文本占位符 12">
            <a:extLst>
              <a:ext uri="{FF2B5EF4-FFF2-40B4-BE49-F238E27FC236}">
                <a16:creationId xmlns:a16="http://schemas.microsoft.com/office/drawing/2014/main" id="{F63B7C85-1073-4365-852C-DE0C04E61B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97615" y="4908366"/>
            <a:ext cx="7059690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FF2961-8E0B-4CFB-9897-39262A918722}"/>
              </a:ext>
            </a:extLst>
          </p:cNvPr>
          <p:cNvSpPr/>
          <p:nvPr userDrawn="1"/>
        </p:nvSpPr>
        <p:spPr>
          <a:xfrm>
            <a:off x="1152525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2F5BB1-3479-4B75-8121-C76027E92312}"/>
              </a:ext>
            </a:extLst>
          </p:cNvPr>
          <p:cNvSpPr/>
          <p:nvPr userDrawn="1"/>
        </p:nvSpPr>
        <p:spPr>
          <a:xfrm>
            <a:off x="292799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02F5BB1-3479-4B75-8121-C76027E92312}"/>
              </a:ext>
            </a:extLst>
          </p:cNvPr>
          <p:cNvSpPr/>
          <p:nvPr userDrawn="1"/>
        </p:nvSpPr>
        <p:spPr>
          <a:xfrm>
            <a:off x="11121340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F269877-3713-4708-B674-1A813AB36FFC}"/>
              </a:ext>
            </a:extLst>
          </p:cNvPr>
          <p:cNvSpPr txBox="1"/>
          <p:nvPr userDrawn="1"/>
        </p:nvSpPr>
        <p:spPr>
          <a:xfrm rot="16200000">
            <a:off x="10462781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BEIJING INSTITUTE OF TECHNOLOGY</a:t>
            </a: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4738" y="515429"/>
            <a:ext cx="2295327" cy="504694"/>
          </a:xfrm>
          <a:prstGeom prst="rect">
            <a:avLst/>
          </a:prstGeom>
        </p:spPr>
      </p:pic>
      <p:cxnSp>
        <p:nvCxnSpPr>
          <p:cNvPr id="42" name="直接连接符 41"/>
          <p:cNvCxnSpPr/>
          <p:nvPr userDrawn="1"/>
        </p:nvCxnSpPr>
        <p:spPr>
          <a:xfrm>
            <a:off x="2927998" y="1355988"/>
            <a:ext cx="0" cy="458984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 userDrawn="1"/>
        </p:nvCxnSpPr>
        <p:spPr>
          <a:xfrm>
            <a:off x="11522544" y="1400593"/>
            <a:ext cx="0" cy="454523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组合 68"/>
          <p:cNvGrpSpPr/>
          <p:nvPr userDrawn="1"/>
        </p:nvGrpSpPr>
        <p:grpSpPr>
          <a:xfrm>
            <a:off x="566553" y="2031917"/>
            <a:ext cx="1778298" cy="3243219"/>
            <a:chOff x="611818" y="2031917"/>
            <a:chExt cx="1709547" cy="3117834"/>
          </a:xfrm>
        </p:grpSpPr>
        <p:grpSp>
          <p:nvGrpSpPr>
            <p:cNvPr id="70" name="组合 69"/>
            <p:cNvGrpSpPr/>
            <p:nvPr/>
          </p:nvGrpSpPr>
          <p:grpSpPr>
            <a:xfrm>
              <a:off x="611818" y="2051403"/>
              <a:ext cx="567014" cy="3098348"/>
              <a:chOff x="11305242" y="2003776"/>
              <a:chExt cx="354194" cy="1935432"/>
            </a:xfrm>
            <a:solidFill>
              <a:schemeClr val="bg1">
                <a:alpha val="5000"/>
              </a:schemeClr>
            </a:solidFill>
          </p:grpSpPr>
          <p:sp>
            <p:nvSpPr>
              <p:cNvPr id="85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82341" y="3639427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92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3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11380191" y="2640087"/>
                <a:ext cx="214274" cy="229664"/>
                <a:chOff x="3792874" y="3156423"/>
                <a:chExt cx="331330" cy="355128"/>
              </a:xfrm>
              <a:grpFill/>
            </p:grpSpPr>
            <p:sp>
              <p:nvSpPr>
                <p:cNvPr id="89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0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1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71" name="组合 70"/>
            <p:cNvGrpSpPr/>
            <p:nvPr userDrawn="1"/>
          </p:nvGrpSpPr>
          <p:grpSpPr>
            <a:xfrm>
              <a:off x="1752713" y="2031917"/>
              <a:ext cx="568652" cy="3091276"/>
              <a:chOff x="1752714" y="2031919"/>
              <a:chExt cx="568653" cy="3091274"/>
            </a:xfrm>
          </p:grpSpPr>
          <p:grpSp>
            <p:nvGrpSpPr>
              <p:cNvPr id="72" name="组合 71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1769227" y="3776579"/>
                <a:ext cx="501270" cy="527572"/>
                <a:chOff x="6113463" y="3541713"/>
                <a:chExt cx="484188" cy="509588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83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4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3" name="组合 72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1752714" y="2031919"/>
                <a:ext cx="568653" cy="718220"/>
                <a:chOff x="6108700" y="2066926"/>
                <a:chExt cx="549275" cy="693738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81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2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4" name="组合 73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1855433" y="3075554"/>
                <a:ext cx="381292" cy="328704"/>
                <a:chOff x="6186488" y="2930526"/>
                <a:chExt cx="368300" cy="317500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78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9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0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5" name="组合 74"/>
              <p:cNvGrpSpPr/>
              <p:nvPr/>
            </p:nvGrpSpPr>
            <p:grpSpPr>
              <a:xfrm>
                <a:off x="1804180" y="4681015"/>
                <a:ext cx="442058" cy="442178"/>
                <a:chOff x="11893476" y="1994536"/>
                <a:chExt cx="277932" cy="278006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76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5308" cy="27343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7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76" y="2009127"/>
                  <a:ext cx="105167" cy="263415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  <p:sp>
        <p:nvSpPr>
          <p:cNvPr id="44" name="文本占位符 12">
            <a:extLst>
              <a:ext uri="{FF2B5EF4-FFF2-40B4-BE49-F238E27FC236}">
                <a16:creationId xmlns:a16="http://schemas.microsoft.com/office/drawing/2014/main" id="{562B6659-3604-4A5D-84A6-6A47FE1698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97616" y="1658264"/>
            <a:ext cx="7059689" cy="226755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5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en-US" altLang="zh-CN" dirty="0"/>
          </a:p>
          <a:p>
            <a:pPr lvl="0"/>
            <a:r>
              <a:rPr lang="zh-CN" altLang="en-US" dirty="0"/>
              <a:t>输入标题</a:t>
            </a:r>
          </a:p>
        </p:txBody>
      </p:sp>
    </p:spTree>
    <p:extLst>
      <p:ext uri="{BB962C8B-B14F-4D97-AF65-F5344CB8AC3E}">
        <p14:creationId xmlns:p14="http://schemas.microsoft.com/office/powerpoint/2010/main" val="11533912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07D9317-7C4B-477D-9FCD-CD5482370328}" type="datetimeFigureOut">
              <a:rPr lang="zh-CN" altLang="en-US"/>
              <a:pPr>
                <a:defRPr/>
              </a:pPr>
              <a:t>2026/4/17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C0B3BC9-7090-482A-AB63-1945A9C9F1E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1046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占位符 4">
            <a:extLst>
              <a:ext uri="{FF2B5EF4-FFF2-40B4-BE49-F238E27FC236}">
                <a16:creationId xmlns:a16="http://schemas.microsoft.com/office/drawing/2014/main" id="{ADC8450B-B7A8-4345-A581-E9097A6557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49208" y="4270263"/>
            <a:ext cx="7287114" cy="157852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答辩人：俞乐楠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导　师：宋林海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时　间：</a:t>
            </a:r>
            <a:fld id="{557380AF-A950-485A-9126-2F7168CD3CCC}" type="datetime1">
              <a:rPr lang="zh-CN" altLang="en-US" smtClean="0"/>
              <a:pPr>
                <a:lnSpc>
                  <a:spcPct val="150000"/>
                </a:lnSpc>
              </a:pPr>
              <a:t>2026/4/17</a:t>
            </a:fld>
            <a:endParaRPr lang="zh-CN" altLang="en-US" dirty="0"/>
          </a:p>
        </p:txBody>
      </p:sp>
      <p:sp>
        <p:nvSpPr>
          <p:cNvPr id="20" name="文本占位符 27">
            <a:extLst>
              <a:ext uri="{FF2B5EF4-FFF2-40B4-BE49-F238E27FC236}">
                <a16:creationId xmlns:a16="http://schemas.microsoft.com/office/drawing/2014/main" id="{CCDACD4C-1CA6-4E65-8D95-3D708C7F59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49208" y="1484311"/>
            <a:ext cx="7287114" cy="238680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zh-CN" sz="6000" b="1" dirty="0" err="1">
                <a:latin typeface="+mn-ea"/>
                <a:ea typeface="+mn-ea"/>
              </a:rPr>
              <a:t>Lerobot</a:t>
            </a:r>
            <a:r>
              <a:rPr lang="zh-CN" altLang="en-US" sz="6000" b="1" dirty="0">
                <a:latin typeface="+mn-ea"/>
                <a:ea typeface="+mn-ea"/>
              </a:rPr>
              <a:t>系统级别性能剖析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F02FAD8C-9DE1-4C82-A97E-3FC46FEADB6D}"/>
              </a:ext>
            </a:extLst>
          </p:cNvPr>
          <p:cNvCxnSpPr/>
          <p:nvPr/>
        </p:nvCxnSpPr>
        <p:spPr>
          <a:xfrm>
            <a:off x="3549208" y="4010868"/>
            <a:ext cx="7287114" cy="0"/>
          </a:xfrm>
          <a:prstGeom prst="line">
            <a:avLst/>
          </a:prstGeom>
          <a:ln w="28575" cmpd="sng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7327235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zh-CN" altLang="en-US" dirty="0"/>
              <a:t>不同</a:t>
            </a:r>
            <a:r>
              <a:rPr lang="en-US" altLang="zh-CN" dirty="0" err="1"/>
              <a:t>trunk_size</a:t>
            </a:r>
            <a:r>
              <a:rPr lang="zh-CN" altLang="en-US" dirty="0"/>
              <a:t>对于观测推理执行步骤的影响</a:t>
            </a:r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037CFF9-A525-4EAF-B3FE-037F2439D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>
                <a:solidFill>
                  <a:prstClr val="white"/>
                </a:solidFill>
              </a:rPr>
              <a:t>2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3F327AFB-859C-10B4-A277-59FE60A20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881223"/>
            <a:ext cx="6331131" cy="3165566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EA19CE54-A8D4-FD8A-0B2C-2E4B4264F7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2456" y="3762398"/>
            <a:ext cx="6191203" cy="3095602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C6A56CE6-0EAB-F04D-068B-D4604A251F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3831771"/>
            <a:ext cx="6052457" cy="3026229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8CB6F1B3-12A7-A709-F7BD-FCD5109AEE20}"/>
              </a:ext>
            </a:extLst>
          </p:cNvPr>
          <p:cNvSpPr txBox="1"/>
          <p:nvPr/>
        </p:nvSpPr>
        <p:spPr>
          <a:xfrm>
            <a:off x="1819657" y="5669336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换了个对数坐标轴，每帧平均绝对时间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0841775-3815-7B64-35CA-2ADCD80A403C}"/>
              </a:ext>
            </a:extLst>
          </p:cNvPr>
          <p:cNvSpPr txBox="1"/>
          <p:nvPr/>
        </p:nvSpPr>
        <p:spPr>
          <a:xfrm>
            <a:off x="3165564" y="1312556"/>
            <a:ext cx="20329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观测推理执行等待</a:t>
            </a:r>
            <a:endParaRPr kumimoji="1" lang="en-US" altLang="zh-CN" dirty="0"/>
          </a:p>
          <a:p>
            <a:r>
              <a:rPr kumimoji="1" lang="zh-CN" altLang="en-US" dirty="0"/>
              <a:t>在时间中的占比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03EDAC2-1950-8768-5E5E-EFC734BE04F4}"/>
              </a:ext>
            </a:extLst>
          </p:cNvPr>
          <p:cNvSpPr txBox="1"/>
          <p:nvPr/>
        </p:nvSpPr>
        <p:spPr>
          <a:xfrm>
            <a:off x="7250546" y="1010751"/>
            <a:ext cx="34972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Trunk_size</a:t>
            </a:r>
            <a:r>
              <a:rPr kumimoji="1" lang="en-US" altLang="zh-CN" dirty="0"/>
              <a:t> 20</a:t>
            </a:r>
            <a:r>
              <a:rPr kumimoji="1" lang="zh-CN" altLang="en-US" dirty="0"/>
              <a:t>还有概率完成任务</a:t>
            </a:r>
            <a:endParaRPr kumimoji="1" lang="en-US" altLang="zh-CN" dirty="0"/>
          </a:p>
          <a:p>
            <a:r>
              <a:rPr kumimoji="1" lang="zh-CN" altLang="en-US" dirty="0"/>
              <a:t>但是</a:t>
            </a:r>
            <a:r>
              <a:rPr kumimoji="1" lang="en-US" altLang="zh-CN" dirty="0"/>
              <a:t>10</a:t>
            </a:r>
            <a:r>
              <a:rPr kumimoji="1" lang="zh-CN" altLang="en-US" dirty="0"/>
              <a:t>已经基本无法完成任务了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E242BB2-A9FE-B7C4-FC8B-672D8B18EE48}"/>
              </a:ext>
            </a:extLst>
          </p:cNvPr>
          <p:cNvSpPr txBox="1"/>
          <p:nvPr/>
        </p:nvSpPr>
        <p:spPr>
          <a:xfrm>
            <a:off x="7056582" y="2235200"/>
            <a:ext cx="38190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Wait</a:t>
            </a:r>
            <a:r>
              <a:rPr kumimoji="1" lang="zh-CN" altLang="en-US" dirty="0"/>
              <a:t>：当这一帧没到</a:t>
            </a:r>
            <a:r>
              <a:rPr kumimoji="1" lang="en-US" altLang="zh-CN" dirty="0"/>
              <a:t>33ms</a:t>
            </a:r>
            <a:r>
              <a:rPr kumimoji="1" lang="zh-CN" altLang="en-US" dirty="0"/>
              <a:t>的时候，</a:t>
            </a:r>
            <a:endParaRPr kumimoji="1" lang="en-US" altLang="zh-CN" dirty="0"/>
          </a:p>
          <a:p>
            <a:r>
              <a:rPr kumimoji="1" lang="zh-CN" altLang="en-US" dirty="0"/>
              <a:t>就空等时间到</a:t>
            </a:r>
            <a:r>
              <a:rPr kumimoji="1" lang="en-US" altLang="zh-CN" dirty="0"/>
              <a:t>33</a:t>
            </a:r>
            <a:r>
              <a:rPr kumimoji="1" lang="zh-CN" altLang="en-US" dirty="0"/>
              <a:t>帧，为了帧对齐</a:t>
            </a:r>
          </a:p>
        </p:txBody>
      </p:sp>
    </p:spTree>
    <p:extLst>
      <p:ext uri="{BB962C8B-B14F-4D97-AF65-F5344CB8AC3E}">
        <p14:creationId xmlns:p14="http://schemas.microsoft.com/office/powerpoint/2010/main" val="370043850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43386-B869-1753-63F7-76794327F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E9DA1EA5-28B7-B120-2381-8BE7F5945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zh-CN" altLang="en-US" dirty="0"/>
              <a:t>关于</a:t>
            </a:r>
            <a:r>
              <a:rPr lang="en-US" altLang="zh-CN" dirty="0" err="1"/>
              <a:t>motor_bus</a:t>
            </a:r>
            <a:r>
              <a:rPr lang="zh-CN" altLang="en-US" dirty="0"/>
              <a:t>的</a:t>
            </a:r>
            <a:r>
              <a:rPr lang="en-US" altLang="zh-CN" dirty="0"/>
              <a:t>async</a:t>
            </a:r>
            <a:r>
              <a:rPr lang="zh-CN" altLang="en-US" dirty="0"/>
              <a:t>化</a:t>
            </a:r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0CD34D5-06DB-0BE4-E907-A441ECCA94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>
                <a:solidFill>
                  <a:prstClr val="white"/>
                </a:solidFill>
              </a:rPr>
              <a:t>2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4C86BCF-D815-237D-A1B2-6FC7035C10DC}"/>
              </a:ext>
            </a:extLst>
          </p:cNvPr>
          <p:cNvSpPr txBox="1"/>
          <p:nvPr/>
        </p:nvSpPr>
        <p:spPr>
          <a:xfrm>
            <a:off x="191097" y="1006763"/>
            <a:ext cx="5646285" cy="4006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异步读</a:t>
            </a:r>
            <a:r>
              <a:rPr lang="en-US" altLang="zh-CN" sz="1200" dirty="0"/>
              <a:t>_</a:t>
            </a:r>
            <a:r>
              <a:rPr lang="en-US" altLang="zh-CN" sz="1200" dirty="0" err="1"/>
              <a:t>async_read</a:t>
            </a:r>
            <a:r>
              <a:rPr lang="zh-CN" altLang="en-US" sz="1200" dirty="0"/>
              <a:t>，</a:t>
            </a:r>
            <a:r>
              <a:rPr kumimoji="1" lang="en-US" altLang="zh-CN" sz="1200" dirty="0"/>
              <a:t>TODO</a:t>
            </a:r>
            <a:r>
              <a:rPr kumimoji="1" lang="zh-CN" altLang="en-US" sz="1200" dirty="0"/>
              <a:t>里面有预留：</a:t>
            </a:r>
            <a:endParaRPr kumimoji="1" lang="en-US" altLang="zh-CN" sz="1200" dirty="0"/>
          </a:p>
          <a:p>
            <a:r>
              <a:rPr lang="zh-CN" altLang="en-US" sz="1200" dirty="0"/>
              <a:t>以牺牲 </a:t>
            </a:r>
            <a:r>
              <a:rPr lang="en-US" altLang="zh-CN" sz="1200" dirty="0"/>
              <a:t>1 </a:t>
            </a:r>
            <a:r>
              <a:rPr lang="zh-CN" altLang="en-US" sz="1200" dirty="0"/>
              <a:t>帧观测新鲜度换取吞吐</a:t>
            </a:r>
            <a:endParaRPr lang="en-US" altLang="zh-CN" sz="1200" dirty="0"/>
          </a:p>
          <a:p>
            <a:pPr>
              <a:lnSpc>
                <a:spcPts val="1350"/>
              </a:lnSpc>
              <a:buNone/>
            </a:pPr>
            <a:r>
              <a:rPr lang="en-US" altLang="zh-CN" sz="8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US" altLang="zh-CN" sz="8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TODO</a:t>
            </a:r>
            <a:r>
              <a:rPr lang="en-US" altLang="zh-CN" sz="8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8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aliberts</a:t>
            </a:r>
            <a:r>
              <a:rPr lang="en-US" altLang="zh-CN" sz="8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altLang="zh-CN" sz="8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pkooij</a:t>
            </a:r>
            <a:r>
              <a:rPr lang="en-US" altLang="zh-CN" sz="8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): Implementing something like this could get even much faster read times if need be.</a:t>
            </a:r>
            <a:endParaRPr lang="en-US" altLang="zh-CN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8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def _</a:t>
            </a:r>
            <a:r>
              <a:rPr lang="en-US" altLang="zh-CN" sz="8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async_read</a:t>
            </a:r>
            <a:r>
              <a:rPr lang="en-US" altLang="zh-CN" sz="8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(self, </a:t>
            </a:r>
            <a:r>
              <a:rPr lang="en-US" altLang="zh-CN" sz="8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motor_ids</a:t>
            </a:r>
            <a:r>
              <a:rPr lang="en-US" altLang="zh-CN" sz="8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: list[int], address: int, length: int):</a:t>
            </a:r>
            <a:endParaRPr lang="en-US" altLang="zh-CN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8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if </a:t>
            </a:r>
            <a:r>
              <a:rPr lang="en-US" altLang="zh-CN" sz="8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self.sync_reader.start_address</a:t>
            </a:r>
            <a:r>
              <a:rPr lang="en-US" altLang="zh-CN" sz="8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 != address or </a:t>
            </a:r>
            <a:r>
              <a:rPr lang="en-US" altLang="zh-CN" sz="8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self.sync_reader.data_length</a:t>
            </a:r>
            <a:r>
              <a:rPr lang="en-US" altLang="zh-CN" sz="8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 != length or ...:</a:t>
            </a:r>
            <a:endParaRPr lang="en-US" altLang="zh-CN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2">
              <a:lnSpc>
                <a:spcPts val="1350"/>
              </a:lnSpc>
            </a:pPr>
            <a:r>
              <a:rPr lang="en-US" altLang="zh-CN" sz="8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self._</a:t>
            </a:r>
            <a:r>
              <a:rPr lang="en-US" altLang="zh-CN" sz="8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setup_sync_reader</a:t>
            </a:r>
            <a:r>
              <a:rPr lang="en-US" altLang="zh-CN" sz="8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8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motor_ids</a:t>
            </a:r>
            <a:r>
              <a:rPr lang="en-US" altLang="zh-CN" sz="8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, address, length)</a:t>
            </a:r>
            <a:endParaRPr lang="en-US" altLang="zh-CN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8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else:</a:t>
            </a:r>
            <a:endParaRPr lang="en-US" altLang="zh-CN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2">
              <a:lnSpc>
                <a:spcPts val="1350"/>
              </a:lnSpc>
            </a:pPr>
            <a:r>
              <a:rPr lang="en-US" altLang="zh-CN" sz="8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US" altLang="zh-CN" sz="8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self.sync_reader.rxPacket</a:t>
            </a:r>
            <a:r>
              <a:rPr lang="en-US" altLang="zh-CN" sz="8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()</a:t>
            </a:r>
            <a:endParaRPr lang="en-US" altLang="zh-CN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2">
              <a:lnSpc>
                <a:spcPts val="1350"/>
              </a:lnSpc>
            </a:pPr>
            <a:r>
              <a:rPr lang="en-US" altLang="zh-CN" sz="8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US" altLang="zh-CN" sz="8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self.sync_reader.txPacket</a:t>
            </a:r>
            <a:r>
              <a:rPr lang="en-US" altLang="zh-CN" sz="8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()</a:t>
            </a:r>
            <a:endParaRPr lang="en-US" altLang="zh-CN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8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for id_ in </a:t>
            </a:r>
            <a:r>
              <a:rPr lang="en-US" altLang="zh-CN" sz="8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motor_ids</a:t>
            </a:r>
            <a:r>
              <a:rPr lang="en-US" altLang="zh-CN" sz="8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:</a:t>
            </a:r>
            <a:endParaRPr lang="en-US" altLang="zh-CN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2">
              <a:lnSpc>
                <a:spcPts val="1350"/>
              </a:lnSpc>
            </a:pPr>
            <a:r>
              <a:rPr lang="en-US" altLang="zh-CN" sz="8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value = </a:t>
            </a:r>
            <a:r>
              <a:rPr lang="en-US" altLang="zh-CN" sz="8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self.sync_reader.getData</a:t>
            </a:r>
            <a:r>
              <a:rPr lang="en-US" altLang="zh-CN" sz="8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(id_, address, length)</a:t>
            </a:r>
            <a:endParaRPr lang="en-US" altLang="zh-CN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r>
              <a:rPr lang="zh-CN" altLang="en-US" sz="1200" dirty="0"/>
              <a:t>是一个流水线，主线程第 </a:t>
            </a:r>
            <a:r>
              <a:rPr lang="en-US" altLang="zh-CN" sz="1200" dirty="0"/>
              <a:t>N </a:t>
            </a:r>
            <a:r>
              <a:rPr lang="zh-CN" altLang="en-US" sz="1200" dirty="0"/>
              <a:t>次调用 </a:t>
            </a:r>
            <a:r>
              <a:rPr lang="en-US" altLang="zh-CN" sz="1200" dirty="0"/>
              <a:t>`_</a:t>
            </a:r>
            <a:r>
              <a:rPr lang="en-US" altLang="zh-CN" sz="1200" dirty="0" err="1"/>
              <a:t>async_read</a:t>
            </a:r>
            <a:r>
              <a:rPr lang="en-US" altLang="zh-CN" sz="1200" dirty="0"/>
              <a:t>` </a:t>
            </a:r>
            <a:r>
              <a:rPr lang="zh-CN" altLang="en-US" sz="1200" dirty="0"/>
              <a:t>拿到的是**第 </a:t>
            </a:r>
            <a:r>
              <a:rPr lang="en-US" altLang="zh-CN" sz="1200" dirty="0"/>
              <a:t>N-1 </a:t>
            </a:r>
            <a:r>
              <a:rPr lang="zh-CN" altLang="en-US" sz="1200" dirty="0"/>
              <a:t>次请求时电机的状态**。</a:t>
            </a:r>
            <a:endParaRPr lang="en-US" altLang="zh-CN" sz="1200" dirty="0"/>
          </a:p>
          <a:p>
            <a:endParaRPr lang="en-US" altLang="zh-CN" sz="1200" dirty="0"/>
          </a:p>
          <a:p>
            <a:r>
              <a:rPr lang="zh-CN" altLang="en-US" sz="1200" dirty="0"/>
              <a:t>异步读 </a:t>
            </a:r>
            <a:r>
              <a:rPr lang="en-US" altLang="zh-CN" sz="1200" dirty="0"/>
              <a:t>= "</a:t>
            </a:r>
            <a:r>
              <a:rPr lang="zh-CN" altLang="en-US" sz="1200" b="1" dirty="0"/>
              <a:t>每次调用返回上次请求的结果</a:t>
            </a:r>
            <a:r>
              <a:rPr lang="en-US" altLang="zh-CN" sz="1200" dirty="0"/>
              <a:t>,</a:t>
            </a:r>
            <a:r>
              <a:rPr lang="zh-CN" altLang="en-US" sz="1200" dirty="0"/>
              <a:t>顺便发下次的请求</a:t>
            </a:r>
            <a:r>
              <a:rPr lang="en-US" altLang="zh-CN" sz="1200" dirty="0"/>
              <a:t>"</a:t>
            </a:r>
          </a:p>
          <a:p>
            <a:endParaRPr lang="zh-CN" altLang="en-US" dirty="0"/>
          </a:p>
          <a:p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17B3221-8DBD-C635-90EA-59EE43DCF140}"/>
              </a:ext>
            </a:extLst>
          </p:cNvPr>
          <p:cNvSpPr txBox="1"/>
          <p:nvPr/>
        </p:nvSpPr>
        <p:spPr>
          <a:xfrm>
            <a:off x="6292830" y="881223"/>
            <a:ext cx="5899170" cy="2857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/>
              <a:t>异步写，是不能做</a:t>
            </a:r>
            <a:endParaRPr kumimoji="1" lang="en-US" altLang="zh-CN" sz="1400" dirty="0"/>
          </a:p>
          <a:p>
            <a:pPr>
              <a:buNone/>
            </a:pPr>
            <a:r>
              <a:rPr kumimoji="1" lang="zh-CN" altLang="en-US" sz="1400" dirty="0"/>
              <a:t>原因</a:t>
            </a:r>
            <a:r>
              <a:rPr kumimoji="1" lang="en-US" altLang="zh-CN" sz="1400" dirty="0"/>
              <a:t>1:</a:t>
            </a:r>
            <a:r>
              <a:rPr lang="zh-CN" altLang="en-US" sz="14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串口是半双工共享资源（决定性因素）</a:t>
            </a:r>
            <a:endParaRPr kumimoji="1" lang="en-US" altLang="zh-CN" sz="1400" dirty="0"/>
          </a:p>
          <a:p>
            <a:r>
              <a:rPr lang="en-US" altLang="zh-CN" sz="1400" dirty="0" err="1"/>
              <a:t>Feetech</a:t>
            </a:r>
            <a:r>
              <a:rPr lang="en-US" altLang="zh-CN" sz="1400" dirty="0"/>
              <a:t> </a:t>
            </a:r>
            <a:r>
              <a:rPr lang="zh-CN" altLang="en-US" sz="1400" dirty="0"/>
              <a:t>舵机走的是 </a:t>
            </a:r>
            <a:r>
              <a:rPr lang="en-US" altLang="zh-CN" sz="1400" dirty="0"/>
              <a:t>TTL </a:t>
            </a:r>
            <a:r>
              <a:rPr lang="zh-CN" altLang="en-US" sz="1400" dirty="0"/>
              <a:t>半双工串行线，所有电机**共用一根物理总线**。</a:t>
            </a:r>
          </a:p>
          <a:p>
            <a:r>
              <a:rPr lang="zh-CN" altLang="en-US" sz="1400" dirty="0"/>
              <a:t>同一时刻总线上只能有一个事务在进行。</a:t>
            </a:r>
          </a:p>
          <a:p>
            <a:r>
              <a:rPr kumimoji="1" lang="zh-CN" altLang="en-US" sz="1400" dirty="0"/>
              <a:t>读</a:t>
            </a:r>
            <a:r>
              <a:rPr kumimoji="1" lang="en-US" altLang="zh-CN" sz="1400" dirty="0"/>
              <a:t>/</a:t>
            </a:r>
            <a:r>
              <a:rPr kumimoji="1" lang="zh-CN" altLang="en-US" sz="1400" dirty="0"/>
              <a:t>写异步的话会冲突</a:t>
            </a:r>
            <a:endParaRPr kumimoji="1" lang="en-US" altLang="zh-CN" sz="1400" dirty="0"/>
          </a:p>
          <a:p>
            <a:endParaRPr kumimoji="1" lang="en-US" altLang="zh-CN" sz="1400" dirty="0"/>
          </a:p>
          <a:p>
            <a:pPr>
              <a:lnSpc>
                <a:spcPts val="1350"/>
              </a:lnSpc>
              <a:buNone/>
            </a:pPr>
            <a:r>
              <a:rPr kumimoji="1" lang="en-US" altLang="zh-CN" sz="1400" dirty="0"/>
              <a:t>2.</a:t>
            </a:r>
            <a:r>
              <a:rPr lang="zh-CN" altLang="en-US" sz="14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读改写依赖链被打破</a:t>
            </a:r>
            <a:endParaRPr lang="zh-CN" altLang="en-US" sz="1400" dirty="0"/>
          </a:p>
          <a:p>
            <a:r>
              <a:rPr lang="zh-CN" altLang="en-US" sz="1400" dirty="0"/>
              <a:t>这是一条**强依赖链**：</a:t>
            </a:r>
            <a:r>
              <a:rPr lang="en-US" altLang="zh-CN" sz="1400" b="1" dirty="0"/>
              <a:t>read → </a:t>
            </a:r>
            <a:r>
              <a:rPr lang="zh-CN" altLang="en-US" sz="1400" b="1" dirty="0"/>
              <a:t>计算 → </a:t>
            </a:r>
            <a:r>
              <a:rPr lang="en-US" altLang="zh-CN" sz="1400" b="1" dirty="0"/>
              <a:t>write</a:t>
            </a:r>
            <a:r>
              <a:rPr lang="zh-CN" altLang="en-US" sz="1400" dirty="0"/>
              <a:t>。如果 </a:t>
            </a:r>
            <a:r>
              <a:rPr lang="en-US" altLang="zh-CN" sz="1400" dirty="0"/>
              <a:t>write </a:t>
            </a:r>
            <a:r>
              <a:rPr lang="zh-CN" altLang="en-US" sz="1400" dirty="0"/>
              <a:t>异步化：</a:t>
            </a:r>
          </a:p>
          <a:p>
            <a:r>
              <a:rPr lang="en-US" altLang="zh-CN" sz="1400" dirty="0"/>
              <a:t>- </a:t>
            </a:r>
            <a:r>
              <a:rPr lang="zh-CN" altLang="en-US" sz="1400" dirty="0">
                <a:highlight>
                  <a:srgbClr val="FFFF00"/>
                </a:highlight>
              </a:rPr>
              <a:t>下一帧读到的</a:t>
            </a:r>
            <a:r>
              <a:rPr lang="zh-CN" altLang="en-US" sz="1400" dirty="0"/>
              <a:t> </a:t>
            </a:r>
            <a:r>
              <a:rPr lang="en-US" altLang="zh-CN" sz="1400" dirty="0"/>
              <a:t>`</a:t>
            </a:r>
            <a:r>
              <a:rPr lang="en-US" altLang="zh-CN" sz="1400" dirty="0" err="1"/>
              <a:t>Present_Position</a:t>
            </a:r>
            <a:r>
              <a:rPr lang="en-US" altLang="zh-CN" sz="1400" dirty="0"/>
              <a:t>` </a:t>
            </a:r>
            <a:r>
              <a:rPr lang="zh-CN" altLang="en-US" sz="1400" dirty="0"/>
              <a:t>是电机正在执行前一个 </a:t>
            </a:r>
            <a:r>
              <a:rPr lang="en-US" altLang="zh-CN" sz="1400" dirty="0"/>
              <a:t>goal </a:t>
            </a:r>
            <a:r>
              <a:rPr lang="zh-CN" altLang="en-US" sz="1400" dirty="0"/>
              <a:t>的</a:t>
            </a:r>
            <a:r>
              <a:rPr lang="zh-CN" altLang="en-US" sz="1400" dirty="0">
                <a:highlight>
                  <a:srgbClr val="FFFF00"/>
                </a:highlight>
              </a:rPr>
              <a:t>中间状态</a:t>
            </a:r>
            <a:r>
              <a:rPr lang="zh-CN" altLang="en-US" sz="1400" dirty="0"/>
              <a:t>，</a:t>
            </a:r>
            <a:r>
              <a:rPr lang="en-US" altLang="zh-CN" sz="1400" dirty="0"/>
              <a:t>`</a:t>
            </a:r>
            <a:r>
              <a:rPr lang="en-US" altLang="zh-CN" sz="1400" dirty="0" err="1"/>
              <a:t>ensure_safe_goal_position</a:t>
            </a:r>
            <a:r>
              <a:rPr lang="en-US" altLang="zh-CN" sz="1400" dirty="0"/>
              <a:t>` </a:t>
            </a:r>
            <a:r>
              <a:rPr lang="zh-CN" altLang="en-US" sz="1400" dirty="0"/>
              <a:t>的限幅基准变得不确定。</a:t>
            </a:r>
          </a:p>
          <a:p>
            <a:r>
              <a:rPr lang="zh-CN" altLang="en-US" sz="1400" dirty="0"/>
              <a:t>也就是说，安全限幅的前提是</a:t>
            </a:r>
            <a:r>
              <a:rPr lang="en-US" altLang="zh-CN" sz="1400" dirty="0"/>
              <a:t>"</a:t>
            </a:r>
            <a:r>
              <a:rPr lang="zh-CN" altLang="en-US" sz="1400" dirty="0"/>
              <a:t>读</a:t>
            </a:r>
            <a:r>
              <a:rPr lang="en-US" altLang="zh-CN" sz="1400" dirty="0"/>
              <a:t>-</a:t>
            </a:r>
            <a:r>
              <a:rPr lang="zh-CN" altLang="en-US" sz="1400" dirty="0"/>
              <a:t>写</a:t>
            </a:r>
            <a:r>
              <a:rPr lang="en-US" altLang="zh-CN" sz="1400" dirty="0"/>
              <a:t>"</a:t>
            </a:r>
            <a:r>
              <a:rPr lang="zh-CN" altLang="en-US" sz="1400" dirty="0"/>
              <a:t>严格串行。异步写一旦引入，整个安全机制的正确性假设就塌了。</a:t>
            </a:r>
          </a:p>
          <a:p>
            <a:endParaRPr kumimoji="1" lang="zh-CN" altLang="en-US" sz="1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D8E7D8F-0425-78F9-BCBC-44B4ED1108B7}"/>
              </a:ext>
            </a:extLst>
          </p:cNvPr>
          <p:cNvSpPr txBox="1"/>
          <p:nvPr/>
        </p:nvSpPr>
        <p:spPr>
          <a:xfrm>
            <a:off x="191097" y="4158160"/>
            <a:ext cx="8628324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调用 </a:t>
            </a:r>
            <a:r>
              <a:rPr lang="en-US" altLang="zh-CN" sz="1400" dirty="0"/>
              <a:t>N-1:  [setup] ──► </a:t>
            </a:r>
            <a:r>
              <a:rPr lang="en-US" altLang="zh-CN" sz="1400" dirty="0" err="1"/>
              <a:t>txPacket</a:t>
            </a:r>
            <a:r>
              <a:rPr lang="en-US" altLang="zh-CN" sz="1400" dirty="0"/>
              <a:t>(</a:t>
            </a:r>
            <a:r>
              <a:rPr lang="zh-CN" altLang="en-US" sz="1400" dirty="0"/>
              <a:t>请求 </a:t>
            </a:r>
            <a:r>
              <a:rPr lang="en-US" altLang="zh-CN" sz="1400" dirty="0"/>
              <a:t>N-1) ──► </a:t>
            </a:r>
            <a:r>
              <a:rPr lang="zh-CN" altLang="en-US" sz="1400" dirty="0"/>
              <a:t>函数返回</a:t>
            </a:r>
            <a:r>
              <a:rPr lang="en-US" altLang="zh-CN" sz="1400" dirty="0"/>
              <a:t>(</a:t>
            </a:r>
            <a:r>
              <a:rPr lang="zh-CN" altLang="en-US" sz="1400" dirty="0"/>
              <a:t>但还没收回包</a:t>
            </a:r>
            <a:r>
              <a:rPr lang="en-US" altLang="zh-CN" sz="1400" dirty="0"/>
              <a:t>!)</a:t>
            </a:r>
            <a:r>
              <a:rPr lang="zh-CN" altLang="en-US" sz="1400" dirty="0"/>
              <a:t>，第一帧返回无效</a:t>
            </a:r>
            <a:r>
              <a:rPr lang="zh-CN" altLang="en-US" sz="1400" dirty="0">
                <a:highlight>
                  <a:srgbClr val="FFFF00"/>
                </a:highlight>
              </a:rPr>
              <a:t>直接跳过</a:t>
            </a:r>
            <a:r>
              <a:rPr lang="zh-CN" altLang="en-US" sz="1400" dirty="0"/>
              <a:t>了</a:t>
            </a:r>
            <a:endParaRPr lang="en-US" altLang="zh-CN" sz="1400" dirty="0"/>
          </a:p>
          <a:p>
            <a:pPr lvl="2"/>
            <a:r>
              <a:rPr lang="en-US" altLang="zh-CN" sz="1400" dirty="0"/>
              <a:t>                          │</a:t>
            </a:r>
          </a:p>
          <a:p>
            <a:pPr lvl="2"/>
            <a:r>
              <a:rPr lang="en-US" altLang="zh-CN" sz="1400" dirty="0"/>
              <a:t>                          │  (</a:t>
            </a:r>
            <a:r>
              <a:rPr lang="zh-CN" altLang="en-US" sz="1400" dirty="0"/>
              <a:t>电机在这期间准备回包</a:t>
            </a:r>
            <a:r>
              <a:rPr lang="en-US" altLang="zh-CN" sz="1400" dirty="0"/>
              <a:t>)</a:t>
            </a:r>
          </a:p>
          <a:p>
            <a:pPr lvl="2"/>
            <a:r>
              <a:rPr lang="en-US" altLang="zh-CN" sz="1400" dirty="0"/>
              <a:t>                          │</a:t>
            </a:r>
          </a:p>
          <a:p>
            <a:r>
              <a:rPr lang="zh-CN" altLang="en-US" sz="1400" dirty="0"/>
              <a:t>调用 </a:t>
            </a:r>
            <a:r>
              <a:rPr lang="en-US" altLang="zh-CN" sz="1400" dirty="0"/>
              <a:t>N  :  </a:t>
            </a:r>
            <a:r>
              <a:rPr lang="en-US" altLang="zh-CN" sz="1400" dirty="0" err="1"/>
              <a:t>rxPacket</a:t>
            </a:r>
            <a:r>
              <a:rPr lang="en-US" altLang="zh-CN" sz="1400" dirty="0"/>
              <a:t>(</a:t>
            </a:r>
            <a:r>
              <a:rPr lang="zh-CN" altLang="en-US" sz="1400" dirty="0"/>
              <a:t>收 </a:t>
            </a:r>
            <a:r>
              <a:rPr lang="en-US" altLang="zh-CN" sz="1400" dirty="0"/>
              <a:t>N-1 </a:t>
            </a:r>
            <a:r>
              <a:rPr lang="zh-CN" altLang="en-US" sz="1400" dirty="0"/>
              <a:t>的回包</a:t>
            </a:r>
            <a:r>
              <a:rPr lang="en-US" altLang="zh-CN" sz="1400" dirty="0"/>
              <a:t>) ──► </a:t>
            </a:r>
            <a:r>
              <a:rPr lang="en-US" altLang="zh-CN" sz="1400" dirty="0" err="1"/>
              <a:t>txPacket</a:t>
            </a:r>
            <a:r>
              <a:rPr lang="en-US" altLang="zh-CN" sz="1400" dirty="0"/>
              <a:t>(</a:t>
            </a:r>
            <a:r>
              <a:rPr lang="zh-CN" altLang="en-US" sz="1400" dirty="0"/>
              <a:t>请求 </a:t>
            </a:r>
            <a:r>
              <a:rPr lang="en-US" altLang="zh-CN" sz="1400" dirty="0"/>
              <a:t>N) ──► </a:t>
            </a:r>
            <a:r>
              <a:rPr lang="en-US" altLang="zh-CN" sz="1400" dirty="0" err="1"/>
              <a:t>getData</a:t>
            </a:r>
            <a:r>
              <a:rPr lang="en-US" altLang="zh-CN" sz="1400" dirty="0"/>
              <a:t> </a:t>
            </a:r>
            <a:r>
              <a:rPr lang="zh-CN" altLang="en-US" sz="1400" dirty="0"/>
              <a:t>返回 </a:t>
            </a:r>
            <a:r>
              <a:rPr lang="en-US" altLang="zh-CN" sz="1400" dirty="0"/>
              <a:t>"N-1 </a:t>
            </a:r>
            <a:r>
              <a:rPr lang="zh-CN" altLang="en-US" sz="1400" dirty="0"/>
              <a:t>的数据</a:t>
            </a:r>
            <a:r>
              <a:rPr lang="en-US" altLang="zh-CN" sz="1400" dirty="0"/>
              <a:t>"</a:t>
            </a:r>
          </a:p>
          <a:p>
            <a:pPr lvl="3"/>
            <a:r>
              <a:rPr lang="en-US" altLang="zh-CN" sz="1400" dirty="0"/>
              <a:t>                                         │</a:t>
            </a:r>
          </a:p>
          <a:p>
            <a:pPr lvl="3"/>
            <a:r>
              <a:rPr lang="en-US" altLang="zh-CN" sz="1400" dirty="0"/>
              <a:t>                                         │  (</a:t>
            </a:r>
            <a:r>
              <a:rPr lang="zh-CN" altLang="en-US" sz="1400" dirty="0"/>
              <a:t>电机在这期间准备回包</a:t>
            </a:r>
            <a:r>
              <a:rPr lang="en-US" altLang="zh-CN" sz="1400" dirty="0"/>
              <a:t>)</a:t>
            </a:r>
          </a:p>
          <a:p>
            <a:pPr lvl="3"/>
            <a:r>
              <a:rPr lang="en-US" altLang="zh-CN" sz="1400" dirty="0"/>
              <a:t>                                         │</a:t>
            </a:r>
          </a:p>
          <a:p>
            <a:r>
              <a:rPr lang="zh-CN" altLang="en-US" sz="1400" dirty="0"/>
              <a:t>调用 </a:t>
            </a:r>
            <a:r>
              <a:rPr lang="en-US" altLang="zh-CN" sz="1400" dirty="0"/>
              <a:t>N+1:  </a:t>
            </a:r>
            <a:r>
              <a:rPr lang="en-US" altLang="zh-CN" sz="1400" dirty="0" err="1"/>
              <a:t>rxPacket</a:t>
            </a:r>
            <a:r>
              <a:rPr lang="en-US" altLang="zh-CN" sz="1400" dirty="0"/>
              <a:t>(</a:t>
            </a:r>
            <a:r>
              <a:rPr lang="zh-CN" altLang="en-US" sz="1400" dirty="0"/>
              <a:t>收 </a:t>
            </a:r>
            <a:r>
              <a:rPr lang="en-US" altLang="zh-CN" sz="1400" dirty="0"/>
              <a:t>N </a:t>
            </a:r>
            <a:r>
              <a:rPr lang="zh-CN" altLang="en-US" sz="1400" dirty="0"/>
              <a:t>的回包</a:t>
            </a:r>
            <a:r>
              <a:rPr lang="en-US" altLang="zh-CN" sz="1400" dirty="0"/>
              <a:t>) ──► </a:t>
            </a:r>
            <a:r>
              <a:rPr lang="en-US" altLang="zh-CN" sz="1400" dirty="0" err="1"/>
              <a:t>txPacket</a:t>
            </a:r>
            <a:r>
              <a:rPr lang="en-US" altLang="zh-CN" sz="1400" dirty="0"/>
              <a:t>(</a:t>
            </a:r>
            <a:r>
              <a:rPr lang="zh-CN" altLang="en-US" sz="1400" dirty="0"/>
              <a:t>请求 </a:t>
            </a:r>
            <a:r>
              <a:rPr lang="en-US" altLang="zh-CN" sz="1400" dirty="0"/>
              <a:t>N+1) ──► </a:t>
            </a:r>
            <a:r>
              <a:rPr lang="en-US" altLang="zh-CN" sz="1400" dirty="0" err="1"/>
              <a:t>getData</a:t>
            </a:r>
            <a:r>
              <a:rPr lang="en-US" altLang="zh-CN" sz="1400" dirty="0"/>
              <a:t> </a:t>
            </a:r>
            <a:r>
              <a:rPr lang="zh-CN" altLang="en-US" sz="1400" dirty="0"/>
              <a:t>返回 </a:t>
            </a:r>
            <a:r>
              <a:rPr lang="en-US" altLang="zh-CN" sz="1400" dirty="0"/>
              <a:t>"N </a:t>
            </a:r>
            <a:r>
              <a:rPr lang="zh-CN" altLang="en-US" sz="1400" dirty="0"/>
              <a:t>的数据</a:t>
            </a:r>
            <a:r>
              <a:rPr lang="en-US" altLang="zh-CN" sz="1400" dirty="0"/>
              <a:t>"</a:t>
            </a:r>
          </a:p>
          <a:p>
            <a:br>
              <a:rPr lang="zh-CN" altLang="en-US" sz="1400" dirty="0"/>
            </a:br>
            <a:endParaRPr kumimoji="1" lang="zh-CN" altLang="en-US" sz="1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E03D93C-710D-6E3D-DF10-944F88DBA852}"/>
              </a:ext>
            </a:extLst>
          </p:cNvPr>
          <p:cNvSpPr txBox="1"/>
          <p:nvPr/>
        </p:nvSpPr>
        <p:spPr>
          <a:xfrm>
            <a:off x="7657690" y="4591782"/>
            <a:ext cx="4375685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_</a:t>
            </a:r>
            <a:r>
              <a:rPr lang="en-US" altLang="zh-CN" sz="1600" dirty="0" err="1"/>
              <a:t>async_read</a:t>
            </a:r>
            <a:r>
              <a:rPr lang="zh-CN" altLang="en-US" sz="1600" dirty="0">
                <a:highlight>
                  <a:srgbClr val="FFFF00"/>
                </a:highlight>
              </a:rPr>
              <a:t>暂未实现</a:t>
            </a:r>
            <a:r>
              <a:rPr lang="zh-CN" altLang="en-US" sz="1600" dirty="0"/>
              <a:t>的原因：</a:t>
            </a:r>
            <a:endParaRPr lang="en-US" altLang="zh-CN" sz="1600" dirty="0"/>
          </a:p>
          <a:p>
            <a:r>
              <a:rPr lang="en-US" altLang="zh-CN" sz="1600" b="1" dirty="0"/>
              <a:t>SDK</a:t>
            </a:r>
            <a:r>
              <a:rPr lang="zh-CN" altLang="en-US" sz="1600" b="1" dirty="0"/>
              <a:t>内：</a:t>
            </a:r>
            <a:r>
              <a:rPr lang="en-US" altLang="zh-CN" sz="1600" b="1" dirty="0" err="1"/>
              <a:t>txPacket</a:t>
            </a:r>
            <a:r>
              <a:rPr lang="en-US" altLang="zh-CN" sz="1600" b="1" dirty="0"/>
              <a:t> </a:t>
            </a:r>
            <a:r>
              <a:rPr lang="zh-CN" altLang="en-US" sz="1600" b="1" dirty="0"/>
              <a:t>加锁后不自释放</a:t>
            </a:r>
          </a:p>
          <a:p>
            <a:r>
              <a:rPr lang="en-US" altLang="zh-CN" sz="1600" dirty="0" err="1"/>
              <a:t>txPacket</a:t>
            </a:r>
            <a:r>
              <a:rPr lang="en-US" altLang="zh-CN" sz="1600" dirty="0"/>
              <a:t> </a:t>
            </a:r>
            <a:r>
              <a:rPr lang="zh-CN" altLang="en-US" sz="1600" dirty="0"/>
              <a:t>发完之后 </a:t>
            </a:r>
            <a:r>
              <a:rPr lang="en-US" altLang="zh-CN" sz="1600" b="1" dirty="0" err="1"/>
              <a:t>is_using</a:t>
            </a:r>
            <a:r>
              <a:rPr lang="en-US" altLang="zh-CN" sz="1600" b="1" dirty="0"/>
              <a:t> = True </a:t>
            </a:r>
            <a:r>
              <a:rPr lang="zh-CN" altLang="en-US" sz="1600" b="1" dirty="0"/>
              <a:t>一直挂着</a:t>
            </a:r>
            <a:endParaRPr lang="en-US" altLang="zh-CN" sz="1600" b="1" dirty="0"/>
          </a:p>
          <a:p>
            <a:r>
              <a:rPr lang="zh-CN" altLang="en-US" b="1" dirty="0"/>
              <a:t>等待</a:t>
            </a:r>
            <a:r>
              <a:rPr lang="en-US" altLang="zh-CN" b="1" dirty="0"/>
              <a:t>Rx</a:t>
            </a:r>
            <a:r>
              <a:rPr lang="zh-CN" altLang="en-US" b="1" dirty="0"/>
              <a:t>，所以</a:t>
            </a:r>
            <a:r>
              <a:rPr lang="en-US" altLang="zh-CN" b="1" dirty="0" err="1"/>
              <a:t>txRxPacket</a:t>
            </a:r>
            <a:r>
              <a:rPr kumimoji="1" lang="zh-CN" altLang="en-US" sz="1600" b="1" dirty="0"/>
              <a:t>是安全的</a:t>
            </a:r>
            <a:endParaRPr kumimoji="1" lang="en-US" altLang="zh-CN" sz="1600" b="1" dirty="0"/>
          </a:p>
          <a:p>
            <a:r>
              <a:rPr kumimoji="1" lang="zh-CN" altLang="en-US" sz="1600" b="1" dirty="0"/>
              <a:t>但是如果这帧内不读，这帧也没法写。。。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3788196702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E83EF-01E5-09D9-CC2E-34B17E59B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6970FAC9-3A4A-2331-BDCA-630502DBB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en-US" altLang="zh-CN" dirty="0"/>
              <a:t>async inference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7F38451-1822-7060-D5F3-3FE79B00D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3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5ACA96-B9E7-622A-EE33-D729B921D070}"/>
              </a:ext>
            </a:extLst>
          </p:cNvPr>
          <p:cNvSpPr txBox="1"/>
          <p:nvPr/>
        </p:nvSpPr>
        <p:spPr>
          <a:xfrm>
            <a:off x="277586" y="968610"/>
            <a:ext cx="6097554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┌──────────── Robot Client (</a:t>
            </a:r>
            <a:r>
              <a:rPr lang="zh-CN" altLang="en-US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主线程</a:t>
            </a:r>
            <a:r>
              <a:rPr lang="en-US" altLang="zh-CN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) ────────────┐    ┌─── Policy Server ───┐</a:t>
            </a:r>
          </a:p>
          <a:p>
            <a:pPr algn="l">
              <a:buNone/>
            </a:pPr>
            <a:r>
              <a:rPr lang="en-US" altLang="zh-CN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│                                                │    │                      │</a:t>
            </a:r>
          </a:p>
          <a:p>
            <a:pPr algn="l">
              <a:buNone/>
            </a:pPr>
            <a:r>
              <a:rPr lang="en-US" altLang="zh-CN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│  </a:t>
            </a:r>
            <a:r>
              <a:rPr lang="en-US" altLang="zh-CN" sz="900" b="0" i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control_loop</a:t>
            </a:r>
            <a:r>
              <a:rPr lang="en-US" altLang="zh-CN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():                               │    │                      │</a:t>
            </a:r>
          </a:p>
          <a:p>
            <a:pPr algn="l">
              <a:buNone/>
            </a:pPr>
            <a:r>
              <a:rPr lang="en-US" altLang="zh-CN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│    while running:                              │    │                      │</a:t>
            </a:r>
          </a:p>
          <a:p>
            <a:pPr algn="l">
              <a:buNone/>
            </a:pPr>
            <a:r>
              <a:rPr lang="en-US" altLang="zh-CN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│      ① if </a:t>
            </a:r>
            <a:r>
              <a:rPr lang="en-US" altLang="zh-CN" sz="900" b="0" i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action_queue</a:t>
            </a:r>
            <a:r>
              <a:rPr lang="en-US" altLang="zh-CN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zh-CN" altLang="en-US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有东西</a:t>
            </a:r>
            <a:r>
              <a:rPr lang="en-US" altLang="zh-CN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:                 │    │                      │</a:t>
            </a:r>
          </a:p>
          <a:p>
            <a:pPr algn="l">
              <a:buNone/>
            </a:pPr>
            <a:r>
              <a:rPr lang="en-US" altLang="zh-CN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│           </a:t>
            </a:r>
            <a:r>
              <a:rPr lang="zh-CN" altLang="en-US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从队列里 </a:t>
            </a:r>
            <a:r>
              <a:rPr lang="en-US" altLang="zh-CN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pop </a:t>
            </a:r>
            <a:r>
              <a:rPr lang="zh-CN" altLang="en-US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一个 </a:t>
            </a:r>
            <a:r>
              <a:rPr lang="en-US" altLang="zh-CN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action → </a:t>
            </a:r>
            <a:r>
              <a:rPr lang="zh-CN" altLang="en-US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执行      │    │                      │</a:t>
            </a:r>
          </a:p>
          <a:p>
            <a:pPr algn="l">
              <a:buNone/>
            </a:pPr>
            <a:r>
              <a:rPr lang="zh-CN" altLang="en-US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│                                                │    │                      │</a:t>
            </a:r>
          </a:p>
          <a:p>
            <a:pPr algn="l">
              <a:buNone/>
            </a:pPr>
            <a:r>
              <a:rPr lang="zh-CN" altLang="en-US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│      </a:t>
            </a:r>
            <a:r>
              <a:rPr lang="en-US" altLang="zh-CN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② if </a:t>
            </a:r>
            <a:r>
              <a:rPr lang="zh-CN" altLang="en-US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队列剩余比例 ≤ </a:t>
            </a:r>
            <a:r>
              <a:rPr lang="en-US" altLang="zh-CN" sz="900" b="0" i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chunk_size_threshold</a:t>
            </a:r>
            <a:r>
              <a:rPr lang="en-US" altLang="zh-CN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: │    │                      │</a:t>
            </a:r>
          </a:p>
          <a:p>
            <a:pPr algn="l">
              <a:buNone/>
            </a:pPr>
            <a:r>
              <a:rPr lang="en-US" altLang="zh-CN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│           </a:t>
            </a:r>
            <a:r>
              <a:rPr lang="zh-CN" altLang="en-US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采观测 ──── </a:t>
            </a:r>
            <a:r>
              <a:rPr lang="en-US" altLang="zh-CN" sz="900" b="0" i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gRPC</a:t>
            </a:r>
            <a:r>
              <a:rPr lang="en-US" altLang="zh-CN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send ──────────────►│    │  </a:t>
            </a:r>
            <a:r>
              <a:rPr lang="zh-CN" altLang="en-US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收到观测             │</a:t>
            </a:r>
          </a:p>
          <a:p>
            <a:pPr algn="l">
              <a:buNone/>
            </a:pPr>
            <a:r>
              <a:rPr lang="zh-CN" altLang="en-US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│           </a:t>
            </a:r>
            <a:r>
              <a:rPr lang="en-US" altLang="zh-CN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zh-CN" altLang="en-US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主线程不等待</a:t>
            </a:r>
            <a:r>
              <a:rPr lang="en-US" altLang="zh-CN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zh-CN" altLang="en-US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继续回到 </a:t>
            </a:r>
            <a:r>
              <a:rPr lang="en-US" altLang="zh-CN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①)           │    │    ↓                │</a:t>
            </a:r>
          </a:p>
          <a:p>
            <a:pPr algn="l">
              <a:buNone/>
            </a:pPr>
            <a:r>
              <a:rPr lang="en-US" altLang="zh-CN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│                                                │    │  </a:t>
            </a:r>
            <a:r>
              <a:rPr lang="en-US" altLang="zh-CN" sz="900" b="0" i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policy.predict</a:t>
            </a:r>
            <a:r>
              <a:rPr lang="en-US" altLang="zh-CN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()   │</a:t>
            </a:r>
          </a:p>
          <a:p>
            <a:pPr algn="l">
              <a:buNone/>
            </a:pPr>
            <a:r>
              <a:rPr lang="en-US" altLang="zh-CN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│      ③ sleep </a:t>
            </a:r>
            <a:r>
              <a:rPr lang="zh-CN" altLang="en-US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到下一个 </a:t>
            </a:r>
            <a:r>
              <a:rPr lang="en-US" altLang="zh-CN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tick (</a:t>
            </a:r>
            <a:r>
              <a:rPr lang="zh-CN" altLang="en-US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保持 </a:t>
            </a:r>
            <a:r>
              <a:rPr lang="en-US" altLang="zh-CN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FPS)          │    │  (~2s)              │</a:t>
            </a:r>
          </a:p>
          <a:p>
            <a:pPr algn="l">
              <a:buNone/>
            </a:pPr>
            <a:r>
              <a:rPr lang="en-US" altLang="zh-CN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│                                                │    │    ↓                │</a:t>
            </a:r>
          </a:p>
          <a:p>
            <a:pPr algn="l">
              <a:buNone/>
            </a:pPr>
            <a:r>
              <a:rPr lang="en-US" altLang="zh-CN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│  </a:t>
            </a:r>
            <a:r>
              <a:rPr lang="zh-CN" altLang="en-US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后台线程 </a:t>
            </a:r>
            <a:r>
              <a:rPr lang="en-US" altLang="zh-CN" sz="900" b="0" i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receive_actions</a:t>
            </a:r>
            <a:r>
              <a:rPr lang="en-US" altLang="zh-CN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():                   │◄───│  </a:t>
            </a:r>
            <a:r>
              <a:rPr lang="zh-CN" altLang="en-US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返回 </a:t>
            </a:r>
            <a:r>
              <a:rPr lang="en-US" altLang="zh-CN" sz="900" b="0" i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action_chunk</a:t>
            </a:r>
            <a:r>
              <a:rPr lang="en-US" altLang="zh-CN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 │</a:t>
            </a:r>
          </a:p>
          <a:p>
            <a:pPr algn="l">
              <a:buNone/>
            </a:pPr>
            <a:r>
              <a:rPr lang="en-US" altLang="zh-CN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│    while running:                              │    │                      │</a:t>
            </a:r>
          </a:p>
          <a:p>
            <a:pPr algn="l">
              <a:buNone/>
            </a:pPr>
            <a:r>
              <a:rPr lang="en-US" altLang="zh-CN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│      </a:t>
            </a:r>
            <a:r>
              <a:rPr lang="zh-CN" altLang="en-US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从 </a:t>
            </a:r>
            <a:r>
              <a:rPr lang="en-US" altLang="zh-CN" sz="900" b="0" i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gRPC</a:t>
            </a:r>
            <a:r>
              <a:rPr lang="en-US" altLang="zh-CN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zh-CN" altLang="en-US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收 </a:t>
            </a:r>
            <a:r>
              <a:rPr lang="en-US" altLang="zh-CN" sz="900" b="0" i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action_chunk</a:t>
            </a:r>
            <a:r>
              <a:rPr lang="en-US" altLang="zh-CN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                 │    │                      │</a:t>
            </a:r>
          </a:p>
          <a:p>
            <a:pPr algn="l">
              <a:buNone/>
            </a:pPr>
            <a:r>
              <a:rPr lang="en-US" altLang="zh-CN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│      aggregate </a:t>
            </a:r>
            <a:r>
              <a:rPr lang="zh-CN" altLang="en-US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到 </a:t>
            </a:r>
            <a:r>
              <a:rPr lang="en-US" altLang="zh-CN" sz="900" b="0" i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action_queue</a:t>
            </a:r>
            <a:r>
              <a:rPr lang="en-US" altLang="zh-CN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zh-CN" altLang="en-US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可做平均融合</a:t>
            </a:r>
            <a:r>
              <a:rPr lang="en-US" altLang="zh-CN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)   │    │                      │</a:t>
            </a:r>
          </a:p>
          <a:p>
            <a:pPr algn="l">
              <a:buNone/>
            </a:pPr>
            <a:r>
              <a:rPr lang="en-US" altLang="zh-CN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│                                                │    │                      │</a:t>
            </a:r>
          </a:p>
          <a:p>
            <a:pPr algn="l">
              <a:buNone/>
            </a:pPr>
            <a:r>
              <a:rPr lang="en-US" altLang="zh-CN" sz="9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└────────────────────────────────────────────────┘    └──────────────────────┘</a:t>
            </a:r>
            <a:endParaRPr lang="zh-CN" altLang="en-US" sz="900" b="0" i="0" dirty="0">
              <a:solidFill>
                <a:srgbClr val="616161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B38E4A5-33BE-7959-01A4-30CEB04D9E37}"/>
              </a:ext>
            </a:extLst>
          </p:cNvPr>
          <p:cNvSpPr txBox="1"/>
          <p:nvPr/>
        </p:nvSpPr>
        <p:spPr>
          <a:xfrm>
            <a:off x="277586" y="3692433"/>
            <a:ext cx="609755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12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while </a:t>
            </a:r>
            <a:r>
              <a:rPr lang="en-US" altLang="zh-CN" sz="1200" b="0" i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self.running</a:t>
            </a:r>
            <a:r>
              <a:rPr lang="en-US" altLang="zh-CN" sz="12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 algn="l">
              <a:buNone/>
            </a:pPr>
            <a:r>
              <a:rPr lang="en-US" altLang="zh-CN" sz="12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   # ① </a:t>
            </a:r>
            <a:r>
              <a:rPr lang="zh-CN" altLang="en-US" sz="12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执行</a:t>
            </a:r>
            <a:r>
              <a:rPr lang="en-US" altLang="zh-CN" sz="12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zh-CN" altLang="en-US" sz="12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有 </a:t>
            </a:r>
            <a:r>
              <a:rPr lang="en-US" altLang="zh-CN" sz="12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action </a:t>
            </a:r>
            <a:r>
              <a:rPr lang="zh-CN" altLang="en-US" sz="12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就从队列里 </a:t>
            </a:r>
            <a:r>
              <a:rPr lang="en-US" altLang="zh-CN" sz="12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pop </a:t>
            </a:r>
            <a:r>
              <a:rPr lang="zh-CN" altLang="en-US" sz="12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一个执行</a:t>
            </a:r>
          </a:p>
          <a:p>
            <a:pPr algn="l">
              <a:buNone/>
            </a:pPr>
            <a:r>
              <a:rPr lang="zh-CN" altLang="en-US" sz="12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zh-CN" sz="12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if </a:t>
            </a:r>
            <a:r>
              <a:rPr lang="en-US" altLang="zh-CN" sz="1200" b="0" i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self.actions_available</a:t>
            </a:r>
            <a:r>
              <a:rPr lang="en-US" altLang="zh-CN" sz="12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():</a:t>
            </a:r>
          </a:p>
          <a:p>
            <a:pPr algn="l">
              <a:buNone/>
            </a:pPr>
            <a:r>
              <a:rPr lang="en-US" altLang="zh-CN" sz="12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altLang="zh-CN" sz="1200" b="0" i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self.control_loop_action</a:t>
            </a:r>
            <a:r>
              <a:rPr lang="en-US" altLang="zh-CN" sz="12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(verbose)</a:t>
            </a:r>
          </a:p>
          <a:p>
            <a:pPr algn="l">
              <a:buNone/>
            </a:pPr>
            <a:endParaRPr lang="en-US" altLang="zh-CN" sz="1200" b="0" i="0" dirty="0">
              <a:solidFill>
                <a:srgbClr val="A31515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altLang="zh-CN" sz="12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   # ② </a:t>
            </a:r>
            <a:r>
              <a:rPr lang="zh-CN" altLang="en-US" sz="12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触发下一次推理</a:t>
            </a:r>
            <a:r>
              <a:rPr lang="en-US" altLang="zh-CN" sz="12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zh-CN" altLang="en-US" sz="12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队列剩余 ≤ 阈值时</a:t>
            </a:r>
            <a:r>
              <a:rPr lang="en-US" altLang="zh-CN" sz="12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zh-CN" altLang="en-US" sz="12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发观测给 </a:t>
            </a:r>
            <a:r>
              <a:rPr lang="en-US" altLang="zh-CN" sz="12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server</a:t>
            </a:r>
          </a:p>
          <a:p>
            <a:pPr algn="l">
              <a:buNone/>
            </a:pPr>
            <a:r>
              <a:rPr lang="en-US" altLang="zh-CN" sz="12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   if self._</a:t>
            </a:r>
            <a:r>
              <a:rPr lang="en-US" altLang="zh-CN" sz="1200" b="0" i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ready_to_send_observation</a:t>
            </a:r>
            <a:r>
              <a:rPr lang="en-US" altLang="zh-CN" sz="12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():</a:t>
            </a:r>
          </a:p>
          <a:p>
            <a:pPr algn="l">
              <a:buNone/>
            </a:pPr>
            <a:r>
              <a:rPr lang="en-US" altLang="zh-CN" sz="12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altLang="zh-CN" sz="1200" b="0" i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self.control_loop_observation</a:t>
            </a:r>
            <a:r>
              <a:rPr lang="en-US" altLang="zh-CN" sz="12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(task, verbose)</a:t>
            </a:r>
          </a:p>
          <a:p>
            <a:pPr algn="l">
              <a:buNone/>
            </a:pPr>
            <a:endParaRPr lang="en-US" altLang="zh-CN" sz="1200" b="0" i="0" dirty="0">
              <a:solidFill>
                <a:srgbClr val="A31515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altLang="zh-CN" sz="12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zh-CN" sz="1200" b="0" i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time.sleep</a:t>
            </a:r>
            <a:r>
              <a:rPr lang="en-US" altLang="zh-CN" sz="12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(max(0, </a:t>
            </a:r>
            <a:r>
              <a:rPr lang="en-US" altLang="zh-CN" sz="1200" b="0" i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self.config.environment_dt</a:t>
            </a:r>
            <a:r>
              <a:rPr lang="en-US" altLang="zh-CN" sz="1200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- elapsed))</a:t>
            </a:r>
            <a:endParaRPr lang="en-US" altLang="zh-CN" sz="1200" b="0" i="0" dirty="0">
              <a:solidFill>
                <a:srgbClr val="616161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3D7F727-EBFD-B025-424C-32620D5FD0DD}"/>
              </a:ext>
            </a:extLst>
          </p:cNvPr>
          <p:cNvSpPr txBox="1"/>
          <p:nvPr/>
        </p:nvSpPr>
        <p:spPr>
          <a:xfrm>
            <a:off x="5642688" y="1288944"/>
            <a:ext cx="609755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A31515"/>
                </a:solidFill>
                <a:latin typeface="Courier New" panose="02070309020205020404" pitchFamily="49" charset="0"/>
              </a:rPr>
              <a:t>两个核心思想</a:t>
            </a:r>
            <a:endParaRPr lang="en-US" altLang="zh-CN" b="1" i="0" dirty="0">
              <a:solidFill>
                <a:srgbClr val="A31515"/>
              </a:solidFill>
              <a:effectLst/>
              <a:latin typeface="Courier New" panose="02070309020205020404" pitchFamily="49" charset="0"/>
            </a:endParaRPr>
          </a:p>
          <a:p>
            <a:pPr marL="342900" indent="-342900">
              <a:buAutoNum type="arabicPeriod"/>
            </a:pPr>
            <a:r>
              <a:rPr lang="en-US" altLang="zh-CN" b="1" i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chunk_size_threshold</a:t>
            </a:r>
            <a:r>
              <a:rPr lang="en-US" altLang="zh-CN" b="1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=0.5</a:t>
            </a:r>
            <a:r>
              <a:rPr lang="en-US" altLang="zh-CN" b="1" i="0" dirty="0">
                <a:solidFill>
                  <a:srgbClr val="616161"/>
                </a:solidFill>
                <a:effectLst/>
                <a:latin typeface="-apple-system"/>
              </a:rPr>
              <a:t> —— </a:t>
            </a:r>
            <a:r>
              <a:rPr lang="zh-CN" altLang="en-US" b="1" i="0" dirty="0">
                <a:solidFill>
                  <a:srgbClr val="616161"/>
                </a:solidFill>
                <a:effectLst/>
                <a:highlight>
                  <a:srgbClr val="FFFF00"/>
                </a:highlight>
                <a:latin typeface="-apple-system"/>
              </a:rPr>
              <a:t>不等队列空就提前触发推理</a:t>
            </a:r>
            <a:endParaRPr lang="en-US" altLang="zh-CN" b="1" dirty="0">
              <a:solidFill>
                <a:srgbClr val="616161"/>
              </a:solidFill>
              <a:highlight>
                <a:srgbClr val="FFFF00"/>
              </a:highlight>
              <a:latin typeface="-apple-system"/>
            </a:endParaRPr>
          </a:p>
          <a:p>
            <a:r>
              <a:rPr lang="en-US" altLang="zh-CN" dirty="0"/>
              <a:t>s=100</a:t>
            </a:r>
            <a:r>
              <a:rPr lang="zh-CN" altLang="en-US" dirty="0"/>
              <a:t>、阈值 </a:t>
            </a:r>
            <a:r>
              <a:rPr lang="en-US" altLang="zh-CN" dirty="0"/>
              <a:t>0.5 </a:t>
            </a:r>
            <a:r>
              <a:rPr lang="zh-CN" altLang="en-US" dirty="0"/>
              <a:t>时</a:t>
            </a:r>
            <a:r>
              <a:rPr lang="en-US" altLang="zh-CN" dirty="0"/>
              <a:t>,</a:t>
            </a:r>
            <a:r>
              <a:rPr lang="zh-CN" altLang="en-US" b="1" dirty="0"/>
              <a:t>队列剩 </a:t>
            </a:r>
            <a:r>
              <a:rPr lang="en-US" altLang="zh-CN" b="1" dirty="0"/>
              <a:t>50 </a:t>
            </a:r>
            <a:r>
              <a:rPr lang="zh-CN" altLang="en-US" b="1" dirty="0"/>
              <a:t>个 </a:t>
            </a:r>
            <a:r>
              <a:rPr lang="en-US" altLang="zh-CN" b="1" dirty="0"/>
              <a:t>action </a:t>
            </a:r>
            <a:r>
              <a:rPr lang="zh-CN" altLang="en-US" b="1" dirty="0"/>
              <a:t>就开始推新的 </a:t>
            </a:r>
            <a:r>
              <a:rPr lang="en-US" altLang="zh-CN" b="1" dirty="0"/>
              <a:t>chunk</a:t>
            </a:r>
            <a:r>
              <a:rPr lang="zh-CN" altLang="en-US" dirty="0"/>
              <a:t>。这 </a:t>
            </a:r>
            <a:r>
              <a:rPr lang="en-US" altLang="zh-CN" dirty="0"/>
              <a:t>50 </a:t>
            </a:r>
            <a:r>
              <a:rPr lang="zh-CN" altLang="en-US" dirty="0"/>
              <a:t>个 </a:t>
            </a:r>
            <a:r>
              <a:rPr lang="en-US" altLang="zh-CN" dirty="0"/>
              <a:t>action </a:t>
            </a:r>
            <a:r>
              <a:rPr lang="zh-CN" altLang="en-US" dirty="0"/>
              <a:t>执行需要 </a:t>
            </a:r>
            <a:r>
              <a:rPr lang="en-US" altLang="zh-CN" dirty="0"/>
              <a:t>~1.6s(30 FPS),</a:t>
            </a:r>
            <a:r>
              <a:rPr lang="zh-CN" altLang="en-US" dirty="0"/>
              <a:t>正好覆盖 </a:t>
            </a:r>
            <a:r>
              <a:rPr lang="en-US" altLang="zh-CN" dirty="0"/>
              <a:t>~2s </a:t>
            </a:r>
            <a:r>
              <a:rPr lang="zh-CN" altLang="en-US" dirty="0"/>
              <a:t>的推理时间</a:t>
            </a:r>
            <a:r>
              <a:rPr lang="en-US" altLang="zh-CN" dirty="0"/>
              <a:t>,</a:t>
            </a:r>
            <a:r>
              <a:rPr lang="zh-CN" altLang="en-US" dirty="0"/>
              <a:t>刚好能让新 </a:t>
            </a:r>
            <a:r>
              <a:rPr lang="en-US" altLang="zh-CN" dirty="0"/>
              <a:t>chunk </a:t>
            </a:r>
            <a:r>
              <a:rPr lang="zh-CN" altLang="en-US" dirty="0"/>
              <a:t>到货前旧 </a:t>
            </a:r>
            <a:r>
              <a:rPr lang="en-US" altLang="zh-CN" dirty="0"/>
              <a:t>chunk </a:t>
            </a:r>
            <a:r>
              <a:rPr lang="zh-CN" altLang="en-US" dirty="0"/>
              <a:t>还没耗尽。这正是你说的</a:t>
            </a:r>
            <a:r>
              <a:rPr lang="en-US" altLang="zh-CN" dirty="0"/>
              <a:t>"</a:t>
            </a:r>
            <a:r>
              <a:rPr lang="zh-CN" altLang="en-US" dirty="0"/>
              <a:t>执行的这段时间让他推理</a:t>
            </a:r>
            <a:r>
              <a:rPr lang="en-US" altLang="zh-CN" dirty="0"/>
              <a:t>"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dirty="0"/>
              <a:t>2.</a:t>
            </a:r>
            <a:r>
              <a:rPr lang="en-US" altLang="zh-CN" b="1" dirty="0"/>
              <a:t> </a:t>
            </a:r>
            <a:r>
              <a:rPr lang="en-US" altLang="zh-CN" b="1" dirty="0" err="1"/>
              <a:t>emporal</a:t>
            </a:r>
            <a:r>
              <a:rPr lang="en-US" altLang="zh-CN" b="1" dirty="0"/>
              <a:t> ensemble —— </a:t>
            </a:r>
            <a:r>
              <a:rPr lang="zh-CN" altLang="en-US" b="1" dirty="0"/>
              <a:t>多个 </a:t>
            </a:r>
            <a:r>
              <a:rPr lang="en-US" altLang="zh-CN" b="1" dirty="0"/>
              <a:t>chunk </a:t>
            </a:r>
            <a:r>
              <a:rPr lang="zh-CN" altLang="en-US" b="1" dirty="0"/>
              <a:t>对同一时间戳的预测做加权平均，</a:t>
            </a:r>
            <a:r>
              <a:rPr lang="zh-CN" altLang="en-US" dirty="0">
                <a:highlight>
                  <a:srgbClr val="FFFF00"/>
                </a:highlight>
              </a:rPr>
              <a:t>新 </a:t>
            </a:r>
            <a:r>
              <a:rPr lang="en-US" altLang="zh-CN" dirty="0">
                <a:highlight>
                  <a:srgbClr val="FFFF00"/>
                </a:highlight>
              </a:rPr>
              <a:t>chunk </a:t>
            </a:r>
            <a:r>
              <a:rPr lang="zh-CN" altLang="en-US" dirty="0">
                <a:highlight>
                  <a:srgbClr val="FFFF00"/>
                </a:highlight>
              </a:rPr>
              <a:t>到达时</a:t>
            </a:r>
            <a:r>
              <a:rPr lang="en-US" altLang="zh-CN" dirty="0">
                <a:highlight>
                  <a:srgbClr val="FFFF00"/>
                </a:highlight>
              </a:rPr>
              <a:t>,</a:t>
            </a:r>
            <a:r>
              <a:rPr lang="zh-CN" altLang="en-US" dirty="0">
                <a:highlight>
                  <a:srgbClr val="FFFF00"/>
                </a:highlight>
              </a:rPr>
              <a:t>和队列里已有的 </a:t>
            </a:r>
            <a:r>
              <a:rPr lang="en-US" altLang="zh-CN" dirty="0">
                <a:highlight>
                  <a:srgbClr val="FFFF00"/>
                </a:highlight>
              </a:rPr>
              <a:t>action </a:t>
            </a:r>
            <a:r>
              <a:rPr lang="zh-CN" altLang="en-US" dirty="0">
                <a:highlight>
                  <a:srgbClr val="FFFF00"/>
                </a:highlight>
              </a:rPr>
              <a:t>按时间戳对齐</a:t>
            </a:r>
            <a:r>
              <a:rPr lang="en-US" altLang="zh-CN" dirty="0">
                <a:highlight>
                  <a:srgbClr val="FFFF00"/>
                </a:highlight>
              </a:rPr>
              <a:t>,</a:t>
            </a:r>
            <a:r>
              <a:rPr lang="zh-CN" altLang="en-US" dirty="0">
                <a:highlight>
                  <a:srgbClr val="FFFF00"/>
                </a:highlight>
              </a:rPr>
              <a:t>相同时间戳的动作用 </a:t>
            </a:r>
            <a:r>
              <a:rPr lang="en-US" altLang="zh-CN" dirty="0" err="1"/>
              <a:t>aggregate_fn</a:t>
            </a:r>
            <a:r>
              <a:rPr lang="en-US" altLang="zh-CN" dirty="0"/>
              <a:t>(</a:t>
            </a:r>
            <a:r>
              <a:rPr lang="zh-CN" altLang="en-US" dirty="0"/>
              <a:t>如 </a:t>
            </a:r>
            <a:r>
              <a:rPr lang="en-US" altLang="zh-CN" dirty="0" err="1"/>
              <a:t>weighted_average</a:t>
            </a:r>
            <a:r>
              <a:rPr lang="en-US" altLang="zh-CN" dirty="0"/>
              <a:t>)</a:t>
            </a:r>
            <a:r>
              <a:rPr lang="zh-CN" altLang="en-US" dirty="0"/>
              <a:t>融合。这是 </a:t>
            </a:r>
            <a:r>
              <a:rPr lang="en-US" altLang="zh-CN" dirty="0"/>
              <a:t>ACT </a:t>
            </a:r>
            <a:r>
              <a:rPr lang="zh-CN" altLang="en-US" dirty="0"/>
              <a:t>原论文里的 </a:t>
            </a:r>
            <a:r>
              <a:rPr lang="en-US" altLang="zh-CN" dirty="0"/>
              <a:t>temporal ensemble——</a:t>
            </a:r>
            <a:r>
              <a:rPr lang="zh-CN" altLang="en-US" dirty="0"/>
              <a:t>不同 </a:t>
            </a:r>
            <a:r>
              <a:rPr lang="en-US" altLang="zh-CN" dirty="0"/>
              <a:t>chunk </a:t>
            </a:r>
            <a:r>
              <a:rPr lang="zh-CN" altLang="en-US" dirty="0"/>
              <a:t>对同一未来时刻的预测取平均</a:t>
            </a:r>
            <a:r>
              <a:rPr lang="en-US" altLang="zh-CN" dirty="0"/>
              <a:t>,</a:t>
            </a:r>
            <a:r>
              <a:rPr lang="zh-CN" altLang="en-US" dirty="0"/>
              <a:t>能显著降低抖动。</a:t>
            </a:r>
            <a:endParaRPr lang="en-US" altLang="zh-CN" dirty="0"/>
          </a:p>
          <a:p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3686483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29F40-2AC8-7656-CFB5-C3350C70E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8CDAE7CB-8D26-BD2A-8A4E-61DBEB015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en-US" altLang="zh-CN" dirty="0"/>
              <a:t>async inference</a:t>
            </a:r>
            <a:r>
              <a:rPr lang="zh-CN" altLang="en-US" dirty="0"/>
              <a:t> 这一块已经可以跑通了</a:t>
            </a:r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8A8DBF8-F934-6E26-1D34-97E04390C0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3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B6E83F9-7034-1923-2923-B7DD30E74ABA}"/>
              </a:ext>
            </a:extLst>
          </p:cNvPr>
          <p:cNvSpPr txBox="1"/>
          <p:nvPr/>
        </p:nvSpPr>
        <p:spPr>
          <a:xfrm>
            <a:off x="1240221" y="584375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4" name="lgs_正常执行">
            <a:extLst>
              <a:ext uri="{FF2B5EF4-FFF2-40B4-BE49-F238E27FC236}">
                <a16:creationId xmlns:a16="http://schemas.microsoft.com/office/drawing/2014/main" id="{4A4BAF83-09DC-AD6C-1235-6D28DF9E13E1}"/>
              </a:ext>
            </a:extLst>
          </p:cNvPr>
          <p:cNvSpPr>
            <a:spLocks noGrp="1"/>
          </p:cNvSpPr>
          <p:nvPr/>
        </p:nvSpPr>
        <p:spPr>
          <a:xfrm>
            <a:off x="1143000" y="5867400"/>
            <a:ext cx="177800" cy="12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A14463D-F946-4F6A-7EB4-8C0B999A0BD5}"/>
              </a:ext>
            </a:extLst>
          </p:cNvPr>
          <p:cNvSpPr txBox="1"/>
          <p:nvPr/>
        </p:nvSpPr>
        <p:spPr>
          <a:xfrm>
            <a:off x="1384300" y="5715000"/>
            <a:ext cx="1973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推理出来的</a:t>
            </a:r>
            <a:r>
              <a:rPr kumimoji="1" lang="en-US" altLang="zh-CN" dirty="0"/>
              <a:t>100</a:t>
            </a:r>
            <a:r>
              <a:rPr kumimoji="1" lang="zh-CN" altLang="en-US" dirty="0"/>
              <a:t>帧</a:t>
            </a:r>
          </a:p>
        </p:txBody>
      </p:sp>
      <p:sp>
        <p:nvSpPr>
          <p:cNvPr id="200" name="bg0"/>
          <p:cNvSpPr>
            <a:spLocks noGrp="1"/>
          </p:cNvSpPr>
          <p:nvPr/>
        </p:nvSpPr>
        <p:spPr>
          <a:xfrm>
            <a:off x="355600" y="863600"/>
            <a:ext cx="11607800" cy="1397000"/>
          </a:xfrm>
          <a:prstGeom prst="rect">
            <a:avLst/>
          </a:prstGeom>
          <a:solidFill>
            <a:srgbClr val="EAF7EF"/>
          </a:solidFill>
          <a:ln w="9525">
            <a:solidFill>
              <a:srgbClr val="85C9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1" name="tt0"/>
          <p:cNvSpPr txBox="1">
            <a:spLocks noGrp="1"/>
          </p:cNvSpPr>
          <p:nvPr/>
        </p:nvSpPr>
        <p:spPr>
          <a:xfrm>
            <a:off x="406400" y="914400"/>
            <a:ext cx="6223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zh-CN" altLang="en-US" sz="1200" b="1" dirty="0">
                <a:solidFill>
                  <a:srgbClr val="006C39"/>
                </a:solidFill>
              </a:rPr>
              <a:t>情况 A  ·  T_infer = 1 s（30帧）</a:t>
            </a:r>
          </a:p>
        </p:txBody>
      </p:sp>
      <p:sp>
        <p:nvSpPr>
          <p:cNvPr id="202" name="bd0"/>
          <p:cNvSpPr txBox="1">
            <a:spLocks noGrp="1"/>
          </p:cNvSpPr>
          <p:nvPr/>
        </p:nvSpPr>
        <p:spPr>
          <a:xfrm>
            <a:off x="6794500" y="914400"/>
            <a:ext cx="5054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zh-CN" altLang="en-US" sz="1200" b="1" dirty="0">
                <a:solidFill>
                  <a:srgbClr val="006C39"/>
                </a:solidFill>
              </a:rPr>
              <a:t>✅  无 stall  ·  30 FPS</a:t>
            </a:r>
          </a:p>
        </p:txBody>
      </p:sp>
      <p:sp>
        <p:nvSpPr>
          <p:cNvPr id="203" name="el0"/>
          <p:cNvSpPr txBox="1">
            <a:spLocks noGrp="1"/>
          </p:cNvSpPr>
          <p:nvPr/>
        </p:nvSpPr>
        <p:spPr>
          <a:xfrm>
            <a:off x="381000" y="1168400"/>
            <a:ext cx="965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zh-CN" altLang="en-US" sz="900" b="1" dirty="0">
                <a:solidFill>
                  <a:srgbClr val="2D8653"/>
                </a:solidFill>
              </a:rPr>
              <a:t>执行</a:t>
            </a:r>
          </a:p>
        </p:txBody>
      </p:sp>
      <p:sp>
        <p:nvSpPr>
          <p:cNvPr id="204" name="il0"/>
          <p:cNvSpPr txBox="1">
            <a:spLocks noGrp="1"/>
          </p:cNvSpPr>
          <p:nvPr/>
        </p:nvSpPr>
        <p:spPr>
          <a:xfrm>
            <a:off x="381000" y="1460500"/>
            <a:ext cx="9652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zh-CN" altLang="en-US" sz="860" dirty="0">
                <a:solidFill>
                  <a:srgbClr val="3498DB"/>
                </a:solidFill>
              </a:rPr>
              <a:t>推理</a:t>
            </a:r>
          </a:p>
        </p:txBody>
      </p:sp>
      <p:sp>
        <p:nvSpPr>
          <p:cNvPr id="205" name="ex0_0"/>
          <p:cNvSpPr>
            <a:spLocks noGrp="1"/>
          </p:cNvSpPr>
          <p:nvPr/>
        </p:nvSpPr>
        <p:spPr>
          <a:xfrm>
            <a:off x="1371600" y="1143000"/>
            <a:ext cx="10541000" cy="203200"/>
          </a:xfrm>
          <a:prstGeom prst="rect">
            <a:avLst/>
          </a:prstGeom>
          <a:solidFill>
            <a:srgbClr val="2D86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6" name="en0"/>
          <p:cNvSpPr>
            <a:spLocks noGrp="1"/>
          </p:cNvSpPr>
          <p:nvPr/>
        </p:nvSpPr>
        <p:spPr>
          <a:xfrm>
            <a:off x="6056489" y="1143000"/>
            <a:ext cx="1171222" cy="203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7" name="enl0"/>
          <p:cNvSpPr txBox="1">
            <a:spLocks noGrp="1"/>
          </p:cNvSpPr>
          <p:nvPr/>
        </p:nvSpPr>
        <p:spPr>
          <a:xfrm>
            <a:off x="6056489" y="1371600"/>
            <a:ext cx="8890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zh-CN" altLang="en-US" sz="760" dirty="0">
                <a:solidFill>
                  <a:srgbClr val="E67E22"/>
                </a:solidFill>
              </a:rPr>
              <a:t>ensemble↑</a:t>
            </a:r>
          </a:p>
        </p:txBody>
      </p:sp>
      <p:sp>
        <p:nvSpPr>
          <p:cNvPr id="208" name="in0_50"/>
          <p:cNvSpPr>
            <a:spLocks noGrp="1"/>
          </p:cNvSpPr>
          <p:nvPr/>
        </p:nvSpPr>
        <p:spPr>
          <a:xfrm>
            <a:off x="4299656" y="1435100"/>
            <a:ext cx="1756833" cy="152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9" name="in0_100"/>
          <p:cNvSpPr>
            <a:spLocks noGrp="1"/>
          </p:cNvSpPr>
          <p:nvPr/>
        </p:nvSpPr>
        <p:spPr>
          <a:xfrm>
            <a:off x="7227711" y="1435100"/>
            <a:ext cx="1756833" cy="152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in0_150"/>
          <p:cNvSpPr>
            <a:spLocks noGrp="1"/>
          </p:cNvSpPr>
          <p:nvPr/>
        </p:nvSpPr>
        <p:spPr>
          <a:xfrm>
            <a:off x="10155767" y="1435100"/>
            <a:ext cx="1756833" cy="152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ax0"/>
          <p:cNvSpPr>
            <a:spLocks noGrp="1"/>
          </p:cNvSpPr>
          <p:nvPr/>
        </p:nvSpPr>
        <p:spPr>
          <a:xfrm>
            <a:off x="1371600" y="1371600"/>
            <a:ext cx="1054100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tk0_0"/>
          <p:cNvSpPr>
            <a:spLocks noGrp="1"/>
          </p:cNvSpPr>
          <p:nvPr/>
        </p:nvSpPr>
        <p:spPr>
          <a:xfrm>
            <a:off x="1371600" y="1371600"/>
            <a:ext cx="12700" cy="762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3" name="tl0_0"/>
          <p:cNvSpPr txBox="1">
            <a:spLocks noGrp="1"/>
          </p:cNvSpPr>
          <p:nvPr/>
        </p:nvSpPr>
        <p:spPr>
          <a:xfrm>
            <a:off x="1231900" y="1625600"/>
            <a:ext cx="3048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zh-CN" altLang="en-US" sz="820" dirty="0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214" name="tk0_50"/>
          <p:cNvSpPr>
            <a:spLocks noGrp="1"/>
          </p:cNvSpPr>
          <p:nvPr/>
        </p:nvSpPr>
        <p:spPr>
          <a:xfrm>
            <a:off x="4299656" y="1371600"/>
            <a:ext cx="12700" cy="762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5" name="tl0_50"/>
          <p:cNvSpPr txBox="1">
            <a:spLocks noGrp="1"/>
          </p:cNvSpPr>
          <p:nvPr/>
        </p:nvSpPr>
        <p:spPr>
          <a:xfrm>
            <a:off x="4159956" y="1625600"/>
            <a:ext cx="3048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zh-CN" altLang="en-US" sz="820" dirty="0">
                <a:solidFill>
                  <a:srgbClr val="666666"/>
                </a:solidFill>
              </a:rPr>
              <a:t>50</a:t>
            </a:r>
          </a:p>
        </p:txBody>
      </p:sp>
      <p:sp>
        <p:nvSpPr>
          <p:cNvPr id="216" name="tk0_80"/>
          <p:cNvSpPr>
            <a:spLocks noGrp="1"/>
          </p:cNvSpPr>
          <p:nvPr/>
        </p:nvSpPr>
        <p:spPr>
          <a:xfrm>
            <a:off x="6056489" y="1371600"/>
            <a:ext cx="12700" cy="762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7" name="tl0_80"/>
          <p:cNvSpPr txBox="1">
            <a:spLocks noGrp="1"/>
          </p:cNvSpPr>
          <p:nvPr/>
        </p:nvSpPr>
        <p:spPr>
          <a:xfrm>
            <a:off x="5916789" y="1625600"/>
            <a:ext cx="3048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zh-CN" altLang="en-US" sz="820" dirty="0">
                <a:solidFill>
                  <a:srgbClr val="666666"/>
                </a:solidFill>
              </a:rPr>
              <a:t>80</a:t>
            </a:r>
          </a:p>
        </p:txBody>
      </p:sp>
      <p:sp>
        <p:nvSpPr>
          <p:cNvPr id="218" name="tk0_100"/>
          <p:cNvSpPr>
            <a:spLocks noGrp="1"/>
          </p:cNvSpPr>
          <p:nvPr/>
        </p:nvSpPr>
        <p:spPr>
          <a:xfrm>
            <a:off x="7227711" y="1371600"/>
            <a:ext cx="12700" cy="762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9" name="tl0_100"/>
          <p:cNvSpPr txBox="1">
            <a:spLocks noGrp="1"/>
          </p:cNvSpPr>
          <p:nvPr/>
        </p:nvSpPr>
        <p:spPr>
          <a:xfrm>
            <a:off x="7088011" y="1625600"/>
            <a:ext cx="3048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zh-CN" altLang="en-US" sz="820" dirty="0">
                <a:solidFill>
                  <a:srgbClr val="666666"/>
                </a:solidFill>
              </a:rPr>
              <a:t>100</a:t>
            </a:r>
          </a:p>
        </p:txBody>
      </p:sp>
      <p:sp>
        <p:nvSpPr>
          <p:cNvPr id="220" name="tk0_130"/>
          <p:cNvSpPr>
            <a:spLocks noGrp="1"/>
          </p:cNvSpPr>
          <p:nvPr/>
        </p:nvSpPr>
        <p:spPr>
          <a:xfrm>
            <a:off x="8984544" y="1371600"/>
            <a:ext cx="12700" cy="762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tl0_130"/>
          <p:cNvSpPr txBox="1">
            <a:spLocks noGrp="1"/>
          </p:cNvSpPr>
          <p:nvPr/>
        </p:nvSpPr>
        <p:spPr>
          <a:xfrm>
            <a:off x="8844844" y="1625600"/>
            <a:ext cx="3048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zh-CN" altLang="en-US" sz="820" dirty="0">
                <a:solidFill>
                  <a:srgbClr val="666666"/>
                </a:solidFill>
              </a:rPr>
              <a:t>130</a:t>
            </a:r>
          </a:p>
        </p:txBody>
      </p:sp>
      <p:sp>
        <p:nvSpPr>
          <p:cNvPr id="222" name="tk0_150"/>
          <p:cNvSpPr>
            <a:spLocks noGrp="1"/>
          </p:cNvSpPr>
          <p:nvPr/>
        </p:nvSpPr>
        <p:spPr>
          <a:xfrm>
            <a:off x="10155767" y="1371600"/>
            <a:ext cx="12700" cy="762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3" name="tl0_150"/>
          <p:cNvSpPr txBox="1">
            <a:spLocks noGrp="1"/>
          </p:cNvSpPr>
          <p:nvPr/>
        </p:nvSpPr>
        <p:spPr>
          <a:xfrm>
            <a:off x="10016067" y="1625600"/>
            <a:ext cx="3048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zh-CN" altLang="en-US" sz="820" dirty="0">
                <a:solidFill>
                  <a:srgbClr val="666666"/>
                </a:solidFill>
              </a:rPr>
              <a:t>150</a:t>
            </a:r>
          </a:p>
        </p:txBody>
      </p:sp>
      <p:sp>
        <p:nvSpPr>
          <p:cNvPr id="224" name="tk0_180"/>
          <p:cNvSpPr>
            <a:spLocks noGrp="1"/>
          </p:cNvSpPr>
          <p:nvPr/>
        </p:nvSpPr>
        <p:spPr>
          <a:xfrm>
            <a:off x="11912600" y="1371600"/>
            <a:ext cx="12700" cy="762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5" name="tl0_180"/>
          <p:cNvSpPr txBox="1">
            <a:spLocks noGrp="1"/>
          </p:cNvSpPr>
          <p:nvPr/>
        </p:nvSpPr>
        <p:spPr>
          <a:xfrm>
            <a:off x="11772900" y="1625600"/>
            <a:ext cx="3048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zh-CN" altLang="en-US" sz="820" dirty="0">
                <a:solidFill>
                  <a:srgbClr val="666666"/>
                </a:solidFill>
              </a:rPr>
              <a:t>180</a:t>
            </a:r>
          </a:p>
        </p:txBody>
      </p:sp>
      <p:sp>
        <p:nvSpPr>
          <p:cNvPr id="226" name="tr0_50"/>
          <p:cNvSpPr>
            <a:spLocks noGrp="1"/>
          </p:cNvSpPr>
          <p:nvPr/>
        </p:nvSpPr>
        <p:spPr>
          <a:xfrm>
            <a:off x="4299656" y="1143000"/>
            <a:ext cx="10160" cy="20320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7" name="tr0_100"/>
          <p:cNvSpPr>
            <a:spLocks noGrp="1"/>
          </p:cNvSpPr>
          <p:nvPr/>
        </p:nvSpPr>
        <p:spPr>
          <a:xfrm>
            <a:off x="7227711" y="1143000"/>
            <a:ext cx="10160" cy="20320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8" name="tr0_150"/>
          <p:cNvSpPr>
            <a:spLocks noGrp="1"/>
          </p:cNvSpPr>
          <p:nvPr/>
        </p:nvSpPr>
        <p:spPr>
          <a:xfrm>
            <a:off x="10155767" y="1143000"/>
            <a:ext cx="10160" cy="20320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9" name="tn0_50"/>
          <p:cNvSpPr txBox="1">
            <a:spLocks noGrp="1"/>
          </p:cNvSpPr>
          <p:nvPr/>
        </p:nvSpPr>
        <p:spPr>
          <a:xfrm>
            <a:off x="3969456" y="990600"/>
            <a:ext cx="7366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zh-CN" altLang="en-US" sz="840" dirty="0">
                <a:solidFill>
                  <a:srgbClr val="888888"/>
                </a:solidFill>
              </a:rPr>
              <a:t>触发▼</a:t>
            </a:r>
          </a:p>
        </p:txBody>
      </p:sp>
      <p:sp>
        <p:nvSpPr>
          <p:cNvPr id="230" name="tn0_100"/>
          <p:cNvSpPr txBox="1">
            <a:spLocks noGrp="1"/>
          </p:cNvSpPr>
          <p:nvPr/>
        </p:nvSpPr>
        <p:spPr>
          <a:xfrm>
            <a:off x="6897511" y="990600"/>
            <a:ext cx="7366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zh-CN" altLang="en-US" sz="840" dirty="0">
                <a:solidFill>
                  <a:srgbClr val="888888"/>
                </a:solidFill>
              </a:rPr>
              <a:t>触发▼</a:t>
            </a:r>
          </a:p>
        </p:txBody>
      </p:sp>
      <p:sp>
        <p:nvSpPr>
          <p:cNvPr id="231" name="bg1"/>
          <p:cNvSpPr>
            <a:spLocks noGrp="1"/>
          </p:cNvSpPr>
          <p:nvPr/>
        </p:nvSpPr>
        <p:spPr>
          <a:xfrm>
            <a:off x="355600" y="2387600"/>
            <a:ext cx="11607800" cy="1397000"/>
          </a:xfrm>
          <a:prstGeom prst="rect">
            <a:avLst/>
          </a:prstGeom>
          <a:solidFill>
            <a:srgbClr val="FFFBEE"/>
          </a:solidFill>
          <a:ln w="9525">
            <a:solidFill>
              <a:srgbClr val="E8C96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2" name="tt1"/>
          <p:cNvSpPr txBox="1">
            <a:spLocks noGrp="1"/>
          </p:cNvSpPr>
          <p:nvPr/>
        </p:nvSpPr>
        <p:spPr>
          <a:xfrm>
            <a:off x="406400" y="2438400"/>
            <a:ext cx="6223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zh-CN" altLang="en-US" sz="1200" b="1" dirty="0">
                <a:solidFill>
                  <a:srgbClr val="A13F0B"/>
                </a:solidFill>
              </a:rPr>
              <a:t>情况 B  ·  T_infer = 1.67 s（50帧）</a:t>
            </a:r>
          </a:p>
        </p:txBody>
      </p:sp>
      <p:sp>
        <p:nvSpPr>
          <p:cNvPr id="233" name="bd1"/>
          <p:cNvSpPr txBox="1">
            <a:spLocks noGrp="1"/>
          </p:cNvSpPr>
          <p:nvPr/>
        </p:nvSpPr>
        <p:spPr>
          <a:xfrm>
            <a:off x="6794500" y="2438400"/>
            <a:ext cx="5054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zh-CN" altLang="en-US" sz="1200" b="1" dirty="0">
                <a:solidFill>
                  <a:srgbClr val="A13F0B"/>
                </a:solidFill>
              </a:rPr>
              <a:t>⚠️  临界 / 无 ensemble  ·  ≈30 FPS</a:t>
            </a:r>
          </a:p>
        </p:txBody>
      </p:sp>
      <p:sp>
        <p:nvSpPr>
          <p:cNvPr id="234" name="el1"/>
          <p:cNvSpPr txBox="1">
            <a:spLocks noGrp="1"/>
          </p:cNvSpPr>
          <p:nvPr/>
        </p:nvSpPr>
        <p:spPr>
          <a:xfrm>
            <a:off x="381000" y="2692400"/>
            <a:ext cx="965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zh-CN" altLang="en-US" sz="900" b="1" dirty="0">
                <a:solidFill>
                  <a:srgbClr val="2D8653"/>
                </a:solidFill>
              </a:rPr>
              <a:t>执行</a:t>
            </a:r>
          </a:p>
        </p:txBody>
      </p:sp>
      <p:sp>
        <p:nvSpPr>
          <p:cNvPr id="235" name="il1"/>
          <p:cNvSpPr txBox="1">
            <a:spLocks noGrp="1"/>
          </p:cNvSpPr>
          <p:nvPr/>
        </p:nvSpPr>
        <p:spPr>
          <a:xfrm>
            <a:off x="381000" y="2984500"/>
            <a:ext cx="9652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zh-CN" altLang="en-US" sz="860" dirty="0">
                <a:solidFill>
                  <a:srgbClr val="3498DB"/>
                </a:solidFill>
              </a:rPr>
              <a:t>推理</a:t>
            </a:r>
          </a:p>
        </p:txBody>
      </p:sp>
      <p:sp>
        <p:nvSpPr>
          <p:cNvPr id="236" name="ex1_0"/>
          <p:cNvSpPr>
            <a:spLocks noGrp="1"/>
          </p:cNvSpPr>
          <p:nvPr/>
        </p:nvSpPr>
        <p:spPr>
          <a:xfrm>
            <a:off x="1371600" y="2667000"/>
            <a:ext cx="10541000" cy="203200"/>
          </a:xfrm>
          <a:prstGeom prst="rect">
            <a:avLst/>
          </a:prstGeom>
          <a:solidFill>
            <a:srgbClr val="2D86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7" name="in1_50"/>
          <p:cNvSpPr>
            <a:spLocks noGrp="1"/>
          </p:cNvSpPr>
          <p:nvPr/>
        </p:nvSpPr>
        <p:spPr>
          <a:xfrm>
            <a:off x="4299656" y="2959100"/>
            <a:ext cx="2877255" cy="152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238" name="in1_100"/>
          <p:cNvSpPr>
            <a:spLocks noGrp="1"/>
          </p:cNvSpPr>
          <p:nvPr/>
        </p:nvSpPr>
        <p:spPr>
          <a:xfrm>
            <a:off x="7227711" y="2959100"/>
            <a:ext cx="2928056" cy="152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9" name="ax1"/>
          <p:cNvSpPr>
            <a:spLocks noGrp="1"/>
          </p:cNvSpPr>
          <p:nvPr/>
        </p:nvSpPr>
        <p:spPr>
          <a:xfrm>
            <a:off x="1371600" y="2895600"/>
            <a:ext cx="1054100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0" name="tk1_0"/>
          <p:cNvSpPr>
            <a:spLocks noGrp="1"/>
          </p:cNvSpPr>
          <p:nvPr/>
        </p:nvSpPr>
        <p:spPr>
          <a:xfrm>
            <a:off x="1371600" y="2895600"/>
            <a:ext cx="12700" cy="762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1" name="tl1_0"/>
          <p:cNvSpPr txBox="1">
            <a:spLocks noGrp="1"/>
          </p:cNvSpPr>
          <p:nvPr/>
        </p:nvSpPr>
        <p:spPr>
          <a:xfrm>
            <a:off x="1231900" y="3149600"/>
            <a:ext cx="3048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zh-CN" altLang="en-US" sz="820" dirty="0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242" name="tk1_50"/>
          <p:cNvSpPr>
            <a:spLocks noGrp="1"/>
          </p:cNvSpPr>
          <p:nvPr/>
        </p:nvSpPr>
        <p:spPr>
          <a:xfrm>
            <a:off x="4299656" y="2895600"/>
            <a:ext cx="12700" cy="762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3" name="tl1_50"/>
          <p:cNvSpPr txBox="1">
            <a:spLocks noGrp="1"/>
          </p:cNvSpPr>
          <p:nvPr/>
        </p:nvSpPr>
        <p:spPr>
          <a:xfrm>
            <a:off x="4159956" y="3149600"/>
            <a:ext cx="3048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zh-CN" altLang="en-US" sz="820" dirty="0">
                <a:solidFill>
                  <a:srgbClr val="666666"/>
                </a:solidFill>
              </a:rPr>
              <a:t>50</a:t>
            </a:r>
          </a:p>
        </p:txBody>
      </p:sp>
      <p:sp>
        <p:nvSpPr>
          <p:cNvPr id="244" name="tk1_100"/>
          <p:cNvSpPr>
            <a:spLocks noGrp="1"/>
          </p:cNvSpPr>
          <p:nvPr/>
        </p:nvSpPr>
        <p:spPr>
          <a:xfrm>
            <a:off x="7227711" y="2895600"/>
            <a:ext cx="12700" cy="762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5" name="tl1_100"/>
          <p:cNvSpPr txBox="1">
            <a:spLocks noGrp="1"/>
          </p:cNvSpPr>
          <p:nvPr/>
        </p:nvSpPr>
        <p:spPr>
          <a:xfrm>
            <a:off x="7088011" y="3149600"/>
            <a:ext cx="3048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zh-CN" altLang="en-US" sz="820" dirty="0">
                <a:solidFill>
                  <a:srgbClr val="666666"/>
                </a:solidFill>
              </a:rPr>
              <a:t>100</a:t>
            </a:r>
          </a:p>
        </p:txBody>
      </p:sp>
      <p:sp>
        <p:nvSpPr>
          <p:cNvPr id="246" name="tk1_150"/>
          <p:cNvSpPr>
            <a:spLocks noGrp="1"/>
          </p:cNvSpPr>
          <p:nvPr/>
        </p:nvSpPr>
        <p:spPr>
          <a:xfrm>
            <a:off x="10155767" y="2895600"/>
            <a:ext cx="12700" cy="762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7" name="tl1_150"/>
          <p:cNvSpPr txBox="1">
            <a:spLocks noGrp="1"/>
          </p:cNvSpPr>
          <p:nvPr/>
        </p:nvSpPr>
        <p:spPr>
          <a:xfrm>
            <a:off x="10016067" y="3149600"/>
            <a:ext cx="3048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zh-CN" altLang="en-US" sz="820" dirty="0">
                <a:solidFill>
                  <a:srgbClr val="666666"/>
                </a:solidFill>
              </a:rPr>
              <a:t>150</a:t>
            </a:r>
          </a:p>
        </p:txBody>
      </p:sp>
      <p:sp>
        <p:nvSpPr>
          <p:cNvPr id="248" name="tk1_180"/>
          <p:cNvSpPr>
            <a:spLocks noGrp="1"/>
          </p:cNvSpPr>
          <p:nvPr/>
        </p:nvSpPr>
        <p:spPr>
          <a:xfrm>
            <a:off x="11912600" y="2895600"/>
            <a:ext cx="12700" cy="762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9" name="tl1_180"/>
          <p:cNvSpPr txBox="1">
            <a:spLocks noGrp="1"/>
          </p:cNvSpPr>
          <p:nvPr/>
        </p:nvSpPr>
        <p:spPr>
          <a:xfrm>
            <a:off x="11772900" y="3149600"/>
            <a:ext cx="3048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zh-CN" altLang="en-US" sz="820" dirty="0">
                <a:solidFill>
                  <a:srgbClr val="666666"/>
                </a:solidFill>
              </a:rPr>
              <a:t>180</a:t>
            </a:r>
          </a:p>
        </p:txBody>
      </p:sp>
      <p:sp>
        <p:nvSpPr>
          <p:cNvPr id="250" name="tr1_50"/>
          <p:cNvSpPr>
            <a:spLocks noGrp="1"/>
          </p:cNvSpPr>
          <p:nvPr/>
        </p:nvSpPr>
        <p:spPr>
          <a:xfrm>
            <a:off x="4299656" y="2667000"/>
            <a:ext cx="10160" cy="20320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1" name="tr1_100"/>
          <p:cNvSpPr>
            <a:spLocks noGrp="1"/>
          </p:cNvSpPr>
          <p:nvPr/>
        </p:nvSpPr>
        <p:spPr>
          <a:xfrm>
            <a:off x="7227711" y="2667000"/>
            <a:ext cx="10160" cy="20320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2" name="tr1_150"/>
          <p:cNvSpPr>
            <a:spLocks noGrp="1"/>
          </p:cNvSpPr>
          <p:nvPr/>
        </p:nvSpPr>
        <p:spPr>
          <a:xfrm>
            <a:off x="10155767" y="2667000"/>
            <a:ext cx="10160" cy="20320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3" name="tn1_100"/>
          <p:cNvSpPr txBox="1">
            <a:spLocks noGrp="1"/>
          </p:cNvSpPr>
          <p:nvPr/>
        </p:nvSpPr>
        <p:spPr>
          <a:xfrm>
            <a:off x="6897511" y="2514600"/>
            <a:ext cx="7366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zh-CN" altLang="en-US" sz="840" dirty="0">
                <a:solidFill>
                  <a:srgbClr val="A13F0B"/>
                </a:solidFill>
              </a:rPr>
              <a:t>队列=0↓</a:t>
            </a:r>
          </a:p>
        </p:txBody>
      </p:sp>
      <p:sp>
        <p:nvSpPr>
          <p:cNvPr id="10" name="lgs_正常执行">
            <a:extLst>
              <a:ext uri="{FF2B5EF4-FFF2-40B4-BE49-F238E27FC236}">
                <a16:creationId xmlns:a16="http://schemas.microsoft.com/office/drawing/2014/main" id="{24E986EF-5AA2-35DB-0F12-1C7B13A95FF2}"/>
              </a:ext>
            </a:extLst>
          </p:cNvPr>
          <p:cNvSpPr>
            <a:spLocks noGrp="1"/>
          </p:cNvSpPr>
          <p:nvPr/>
        </p:nvSpPr>
        <p:spPr>
          <a:xfrm flipV="1">
            <a:off x="1384300" y="1781754"/>
            <a:ext cx="5867715" cy="940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gs_正常执行">
            <a:extLst>
              <a:ext uri="{FF2B5EF4-FFF2-40B4-BE49-F238E27FC236}">
                <a16:creationId xmlns:a16="http://schemas.microsoft.com/office/drawing/2014/main" id="{18968847-3DA3-28B3-A97A-F314EE0E647D}"/>
              </a:ext>
            </a:extLst>
          </p:cNvPr>
          <p:cNvSpPr>
            <a:spLocks noGrp="1"/>
          </p:cNvSpPr>
          <p:nvPr/>
        </p:nvSpPr>
        <p:spPr>
          <a:xfrm flipV="1">
            <a:off x="6044885" y="1978604"/>
            <a:ext cx="5867715" cy="940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lgs_正常执行">
            <a:extLst>
              <a:ext uri="{FF2B5EF4-FFF2-40B4-BE49-F238E27FC236}">
                <a16:creationId xmlns:a16="http://schemas.microsoft.com/office/drawing/2014/main" id="{31A83F70-40CC-DDAD-8755-13870F83C99A}"/>
              </a:ext>
            </a:extLst>
          </p:cNvPr>
          <p:cNvSpPr>
            <a:spLocks noGrp="1"/>
          </p:cNvSpPr>
          <p:nvPr/>
        </p:nvSpPr>
        <p:spPr>
          <a:xfrm flipV="1">
            <a:off x="8990018" y="1838904"/>
            <a:ext cx="5867715" cy="940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lgs_正常执行">
            <a:extLst>
              <a:ext uri="{FF2B5EF4-FFF2-40B4-BE49-F238E27FC236}">
                <a16:creationId xmlns:a16="http://schemas.microsoft.com/office/drawing/2014/main" id="{1FE29E0F-7426-1DA8-C39C-59EE2DAAEB72}"/>
              </a:ext>
            </a:extLst>
          </p:cNvPr>
          <p:cNvSpPr>
            <a:spLocks noGrp="1"/>
          </p:cNvSpPr>
          <p:nvPr/>
        </p:nvSpPr>
        <p:spPr>
          <a:xfrm flipV="1">
            <a:off x="1378498" y="3353958"/>
            <a:ext cx="5867715" cy="940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lgs_正常执行">
            <a:extLst>
              <a:ext uri="{FF2B5EF4-FFF2-40B4-BE49-F238E27FC236}">
                <a16:creationId xmlns:a16="http://schemas.microsoft.com/office/drawing/2014/main" id="{A71D72C8-2455-7FF2-0402-2F834F35F264}"/>
              </a:ext>
            </a:extLst>
          </p:cNvPr>
          <p:cNvSpPr>
            <a:spLocks noGrp="1"/>
          </p:cNvSpPr>
          <p:nvPr/>
        </p:nvSpPr>
        <p:spPr>
          <a:xfrm flipV="1">
            <a:off x="7243695" y="3508954"/>
            <a:ext cx="5867715" cy="940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B3815D6-E668-F2A0-8427-DE1CEC6586E3}"/>
              </a:ext>
            </a:extLst>
          </p:cNvPr>
          <p:cNvSpPr txBox="1"/>
          <p:nvPr/>
        </p:nvSpPr>
        <p:spPr>
          <a:xfrm>
            <a:off x="6221589" y="1804452"/>
            <a:ext cx="743081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dirty="0">
                <a:solidFill>
                  <a:srgbClr val="E67E22"/>
                </a:solidFill>
              </a:rPr>
              <a:t>E</a:t>
            </a:r>
            <a:r>
              <a:rPr lang="zh-CN" altLang="en-US" sz="800" dirty="0">
                <a:solidFill>
                  <a:srgbClr val="E67E22"/>
                </a:solidFill>
              </a:rPr>
              <a:t>nsemble加权融合</a:t>
            </a:r>
            <a:endParaRPr lang="zh-CN" altLang="en-US" dirty="0"/>
          </a:p>
        </p:txBody>
      </p:sp>
      <p:sp>
        <p:nvSpPr>
          <p:cNvPr id="2" name="tl2_170"/>
          <p:cNvSpPr txBox="1">
            <a:spLocks noGrp="1"/>
          </p:cNvSpPr>
          <p:nvPr/>
        </p:nvSpPr>
        <p:spPr>
          <a:xfrm>
            <a:off x="10663321" y="4673600"/>
            <a:ext cx="3048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zh-CN" altLang="en-US" sz="820" dirty="0">
                <a:solidFill>
                  <a:srgbClr val="666666"/>
                </a:solidFill>
              </a:rPr>
              <a:t>170</a:t>
            </a:r>
          </a:p>
        </p:txBody>
      </p:sp>
      <p:sp>
        <p:nvSpPr>
          <p:cNvPr id="6" name="tk2_190"/>
          <p:cNvSpPr>
            <a:spLocks noGrp="1"/>
          </p:cNvSpPr>
          <p:nvPr/>
        </p:nvSpPr>
        <p:spPr>
          <a:xfrm>
            <a:off x="11912600" y="4419600"/>
            <a:ext cx="12700" cy="762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tl2_190"/>
          <p:cNvSpPr txBox="1">
            <a:spLocks noGrp="1"/>
          </p:cNvSpPr>
          <p:nvPr/>
        </p:nvSpPr>
        <p:spPr>
          <a:xfrm>
            <a:off x="11772900" y="4673600"/>
            <a:ext cx="3048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zh-CN" altLang="en-US" sz="820" dirty="0">
                <a:solidFill>
                  <a:srgbClr val="666666"/>
                </a:solidFill>
              </a:rPr>
              <a:t>190</a:t>
            </a:r>
          </a:p>
        </p:txBody>
      </p:sp>
      <p:sp>
        <p:nvSpPr>
          <p:cNvPr id="15" name="tr2_50"/>
          <p:cNvSpPr>
            <a:spLocks noGrp="1"/>
          </p:cNvSpPr>
          <p:nvPr/>
        </p:nvSpPr>
        <p:spPr>
          <a:xfrm>
            <a:off x="4145547" y="4191000"/>
            <a:ext cx="10160" cy="20320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n2_50"/>
          <p:cNvSpPr txBox="1">
            <a:spLocks noGrp="1"/>
          </p:cNvSpPr>
          <p:nvPr/>
        </p:nvSpPr>
        <p:spPr>
          <a:xfrm>
            <a:off x="3789947" y="4038600"/>
            <a:ext cx="7874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zh-CN" altLang="en-US" sz="840" dirty="0">
                <a:solidFill>
                  <a:srgbClr val="888888"/>
                </a:solidFill>
              </a:rPr>
              <a:t>触发↓ O₅₀</a:t>
            </a:r>
          </a:p>
        </p:txBody>
      </p:sp>
      <p:sp>
        <p:nvSpPr>
          <p:cNvPr id="18" name="tn2_100"/>
          <p:cNvSpPr txBox="1">
            <a:spLocks noGrp="1"/>
          </p:cNvSpPr>
          <p:nvPr/>
        </p:nvSpPr>
        <p:spPr>
          <a:xfrm>
            <a:off x="6589295" y="4038600"/>
            <a:ext cx="7366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zh-CN" altLang="en-US" sz="840" dirty="0">
                <a:solidFill>
                  <a:srgbClr val="C0392B"/>
                </a:solidFill>
              </a:rPr>
              <a:t>↑队列空!</a:t>
            </a:r>
          </a:p>
        </p:txBody>
      </p:sp>
      <p:sp>
        <p:nvSpPr>
          <p:cNvPr id="19" name="tn2_120"/>
          <p:cNvSpPr txBox="1">
            <a:spLocks noGrp="1"/>
          </p:cNvSpPr>
          <p:nvPr/>
        </p:nvSpPr>
        <p:spPr>
          <a:xfrm>
            <a:off x="7648074" y="4038600"/>
            <a:ext cx="838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zh-CN" altLang="en-US" sz="840" dirty="0">
                <a:solidFill>
                  <a:srgbClr val="3498DB"/>
                </a:solidFill>
              </a:rPr>
              <a:t>P1到货+50帧</a:t>
            </a:r>
          </a:p>
        </p:txBody>
      </p:sp>
      <p:sp>
        <p:nvSpPr>
          <p:cNvPr id="20" name="tn2_170"/>
          <p:cNvSpPr txBox="1">
            <a:spLocks noGrp="1"/>
          </p:cNvSpPr>
          <p:nvPr/>
        </p:nvSpPr>
        <p:spPr>
          <a:xfrm>
            <a:off x="10472821" y="4038600"/>
            <a:ext cx="7366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zh-CN" altLang="en-US" sz="840" dirty="0">
                <a:solidFill>
                  <a:srgbClr val="C0392B"/>
                </a:solidFill>
              </a:rPr>
              <a:t>↑队列空!</a:t>
            </a:r>
          </a:p>
        </p:txBody>
      </p:sp>
      <p:sp>
        <p:nvSpPr>
          <p:cNvPr id="21" name="la_note"/>
          <p:cNvSpPr txBox="1">
            <a:spLocks noGrp="1"/>
          </p:cNvSpPr>
          <p:nvPr/>
        </p:nvSpPr>
        <p:spPr>
          <a:xfrm>
            <a:off x="6753058" y="5130800"/>
            <a:ext cx="1651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zh-CN" altLang="en-US" sz="820" dirty="0">
                <a:solidFill>
                  <a:srgbClr val="A13F0B"/>
                </a:solidFill>
              </a:rPr>
              <a:t>stall期 latest_action 冻结 → 不计入过期</a:t>
            </a:r>
          </a:p>
        </p:txBody>
      </p:sp>
      <p:sp>
        <p:nvSpPr>
          <p:cNvPr id="254" name="bg2"/>
          <p:cNvSpPr>
            <a:spLocks noGrp="1"/>
          </p:cNvSpPr>
          <p:nvPr/>
        </p:nvSpPr>
        <p:spPr>
          <a:xfrm>
            <a:off x="355600" y="3911600"/>
            <a:ext cx="11607800" cy="1397000"/>
          </a:xfrm>
          <a:prstGeom prst="rect">
            <a:avLst/>
          </a:prstGeom>
          <a:solidFill>
            <a:srgbClr val="FDECEA"/>
          </a:solidFill>
          <a:ln w="9525">
            <a:solidFill>
              <a:srgbClr val="E0909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5" name="tt2"/>
          <p:cNvSpPr txBox="1">
            <a:spLocks noGrp="1"/>
          </p:cNvSpPr>
          <p:nvPr/>
        </p:nvSpPr>
        <p:spPr>
          <a:xfrm>
            <a:off x="406400" y="3962400"/>
            <a:ext cx="6096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zh-CN" altLang="en-US" sz="1200" b="1" dirty="0">
                <a:solidFill>
                  <a:srgbClr val="C0392B"/>
                </a:solidFill>
              </a:rPr>
              <a:t>情况 C  ·  T_infer = 2.33 s（70帧）</a:t>
            </a:r>
          </a:p>
        </p:txBody>
      </p:sp>
      <p:sp>
        <p:nvSpPr>
          <p:cNvPr id="256" name="bd2"/>
          <p:cNvSpPr txBox="1">
            <a:spLocks noGrp="1"/>
          </p:cNvSpPr>
          <p:nvPr/>
        </p:nvSpPr>
        <p:spPr>
          <a:xfrm>
            <a:off x="6604000" y="3962400"/>
            <a:ext cx="52451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zh-CN" altLang="en-US" sz="1200" b="1" dirty="0">
                <a:solidFill>
                  <a:srgbClr val="C0392B"/>
                </a:solidFill>
              </a:rPr>
              <a:t>❌  stall 20帧/周期  ·  ≈ 21.4 FPS</a:t>
            </a:r>
          </a:p>
        </p:txBody>
      </p:sp>
      <p:sp>
        <p:nvSpPr>
          <p:cNvPr id="257" name="el2"/>
          <p:cNvSpPr txBox="1">
            <a:spLocks noGrp="1"/>
          </p:cNvSpPr>
          <p:nvPr/>
        </p:nvSpPr>
        <p:spPr>
          <a:xfrm>
            <a:off x="381000" y="4216400"/>
            <a:ext cx="965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zh-CN" altLang="en-US" sz="900" b="1" dirty="0">
                <a:solidFill>
                  <a:srgbClr val="2D8653"/>
                </a:solidFill>
              </a:rPr>
              <a:t>执行</a:t>
            </a:r>
          </a:p>
        </p:txBody>
      </p:sp>
      <p:sp>
        <p:nvSpPr>
          <p:cNvPr id="258" name="il2"/>
          <p:cNvSpPr txBox="1">
            <a:spLocks noGrp="1"/>
          </p:cNvSpPr>
          <p:nvPr/>
        </p:nvSpPr>
        <p:spPr>
          <a:xfrm>
            <a:off x="381000" y="4495800"/>
            <a:ext cx="9652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zh-CN" altLang="en-US" sz="860" dirty="0">
                <a:solidFill>
                  <a:srgbClr val="3498DB"/>
                </a:solidFill>
              </a:rPr>
              <a:t>推理</a:t>
            </a:r>
          </a:p>
        </p:txBody>
      </p:sp>
      <p:sp>
        <p:nvSpPr>
          <p:cNvPr id="259" name="ex2_A"/>
          <p:cNvSpPr>
            <a:spLocks noGrp="1"/>
          </p:cNvSpPr>
          <p:nvPr/>
        </p:nvSpPr>
        <p:spPr>
          <a:xfrm>
            <a:off x="1371600" y="4191000"/>
            <a:ext cx="5547895" cy="203200"/>
          </a:xfrm>
          <a:prstGeom prst="rect">
            <a:avLst/>
          </a:prstGeom>
          <a:solidFill>
            <a:srgbClr val="2D86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0" name="st2_1"/>
          <p:cNvSpPr>
            <a:spLocks noGrp="1"/>
          </p:cNvSpPr>
          <p:nvPr/>
        </p:nvSpPr>
        <p:spPr>
          <a:xfrm>
            <a:off x="6919495" y="4191000"/>
            <a:ext cx="1109579" cy="203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1" name="stx2_1"/>
          <p:cNvSpPr txBox="1">
            <a:spLocks noGrp="1"/>
          </p:cNvSpPr>
          <p:nvPr/>
        </p:nvSpPr>
        <p:spPr>
          <a:xfrm>
            <a:off x="6932195" y="4216400"/>
            <a:ext cx="1084179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zh-CN" altLang="en-US" sz="820" b="1" dirty="0">
                <a:solidFill>
                  <a:srgbClr val="FFFFFF"/>
                </a:solidFill>
              </a:rPr>
              <a:t>stall</a:t>
            </a:r>
          </a:p>
        </p:txBody>
      </p:sp>
      <p:sp>
        <p:nvSpPr>
          <p:cNvPr id="262" name="ex2_B"/>
          <p:cNvSpPr>
            <a:spLocks noGrp="1"/>
          </p:cNvSpPr>
          <p:nvPr/>
        </p:nvSpPr>
        <p:spPr>
          <a:xfrm>
            <a:off x="8029074" y="4191000"/>
            <a:ext cx="2773947" cy="203200"/>
          </a:xfrm>
          <a:prstGeom prst="rect">
            <a:avLst/>
          </a:prstGeom>
          <a:solidFill>
            <a:srgbClr val="2D86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3" name="st2_2"/>
          <p:cNvSpPr>
            <a:spLocks noGrp="1"/>
          </p:cNvSpPr>
          <p:nvPr/>
        </p:nvSpPr>
        <p:spPr>
          <a:xfrm>
            <a:off x="10803021" y="4191000"/>
            <a:ext cx="1109579" cy="203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4" name="stx2_2"/>
          <p:cNvSpPr txBox="1">
            <a:spLocks noGrp="1"/>
          </p:cNvSpPr>
          <p:nvPr/>
        </p:nvSpPr>
        <p:spPr>
          <a:xfrm>
            <a:off x="10815721" y="4216400"/>
            <a:ext cx="1084179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zh-CN" altLang="en-US" sz="820" b="1" dirty="0">
                <a:solidFill>
                  <a:srgbClr val="FFFFFF"/>
                </a:solidFill>
              </a:rPr>
              <a:t>stall</a:t>
            </a:r>
          </a:p>
        </p:txBody>
      </p:sp>
      <p:sp>
        <p:nvSpPr>
          <p:cNvPr id="265" name="caLbl"/>
          <p:cNvSpPr txBox="1">
            <a:spLocks noGrp="1"/>
          </p:cNvSpPr>
          <p:nvPr/>
        </p:nvSpPr>
        <p:spPr>
          <a:xfrm>
            <a:off x="1371600" y="4826000"/>
            <a:ext cx="5547895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zh-CN" altLang="en-US" sz="820" dirty="0">
                <a:solidFill>
                  <a:srgbClr val="2D8653"/>
                </a:solidFill>
              </a:rPr>
              <a:t>←  chunk A  100帧  →</a:t>
            </a:r>
          </a:p>
        </p:txBody>
      </p:sp>
      <p:sp>
        <p:nvSpPr>
          <p:cNvPr id="266" name="cbLbl"/>
          <p:cNvSpPr txBox="1">
            <a:spLocks noGrp="1"/>
          </p:cNvSpPr>
          <p:nvPr/>
        </p:nvSpPr>
        <p:spPr>
          <a:xfrm>
            <a:off x="8029074" y="4826000"/>
            <a:ext cx="2773947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zh-CN" altLang="en-US" sz="820" dirty="0">
                <a:solidFill>
                  <a:srgbClr val="2D8653"/>
                </a:solidFill>
              </a:rPr>
              <a:t>← B 50帧 →</a:t>
            </a:r>
          </a:p>
        </p:txBody>
      </p:sp>
      <p:sp>
        <p:nvSpPr>
          <p:cNvPr id="267" name="laNote"/>
          <p:cNvSpPr txBox="1">
            <a:spLocks noGrp="1"/>
          </p:cNvSpPr>
          <p:nvPr/>
        </p:nvSpPr>
        <p:spPr>
          <a:xfrm>
            <a:off x="6932195" y="4826000"/>
            <a:ext cx="1084179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zh-CN" altLang="en-US" sz="800" dirty="0">
                <a:solidFill>
                  <a:srgbClr val="A13F0B"/>
                </a:solidFill>
              </a:rPr>
              <a:t>冻结</a:t>
            </a:r>
          </a:p>
        </p:txBody>
      </p:sp>
      <p:sp>
        <p:nvSpPr>
          <p:cNvPr id="268" name="laNote2"/>
          <p:cNvSpPr txBox="1">
            <a:spLocks noGrp="1"/>
          </p:cNvSpPr>
          <p:nvPr/>
        </p:nvSpPr>
        <p:spPr>
          <a:xfrm>
            <a:off x="10815721" y="4826000"/>
            <a:ext cx="1084179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zh-CN" altLang="en-US" sz="800" dirty="0">
                <a:solidFill>
                  <a:srgbClr val="A13F0B"/>
                </a:solidFill>
              </a:rPr>
              <a:t>冻结</a:t>
            </a:r>
          </a:p>
        </p:txBody>
      </p:sp>
      <p:sp>
        <p:nvSpPr>
          <p:cNvPr id="269" name="in2_P1"/>
          <p:cNvSpPr>
            <a:spLocks noGrp="1"/>
          </p:cNvSpPr>
          <p:nvPr/>
        </p:nvSpPr>
        <p:spPr>
          <a:xfrm>
            <a:off x="4145547" y="4483100"/>
            <a:ext cx="3859480" cy="11254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0" name="in2_P2"/>
          <p:cNvSpPr>
            <a:spLocks noGrp="1"/>
          </p:cNvSpPr>
          <p:nvPr/>
        </p:nvSpPr>
        <p:spPr>
          <a:xfrm>
            <a:off x="8029074" y="4483100"/>
            <a:ext cx="3883526" cy="152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1" name="p1l"/>
          <p:cNvSpPr txBox="1">
            <a:spLocks noGrp="1"/>
          </p:cNvSpPr>
          <p:nvPr/>
        </p:nvSpPr>
        <p:spPr>
          <a:xfrm>
            <a:off x="4170947" y="4495800"/>
            <a:ext cx="3789475" cy="998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zh-CN" altLang="en-US" sz="820" dirty="0">
                <a:solidFill>
                  <a:srgbClr val="FFFFFF"/>
                </a:solidFill>
              </a:rPr>
              <a:t>P1（70帧）</a:t>
            </a:r>
          </a:p>
        </p:txBody>
      </p:sp>
      <p:sp>
        <p:nvSpPr>
          <p:cNvPr id="272" name="p2l"/>
          <p:cNvSpPr txBox="1">
            <a:spLocks noGrp="1"/>
          </p:cNvSpPr>
          <p:nvPr/>
        </p:nvSpPr>
        <p:spPr>
          <a:xfrm>
            <a:off x="8054474" y="4495800"/>
            <a:ext cx="3832726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zh-CN" altLang="en-US" sz="820" dirty="0">
                <a:solidFill>
                  <a:srgbClr val="FFFFFF"/>
                </a:solidFill>
              </a:rPr>
              <a:t>P2（70帧）</a:t>
            </a:r>
          </a:p>
        </p:txBody>
      </p:sp>
      <p:sp>
        <p:nvSpPr>
          <p:cNvPr id="273" name="ax2"/>
          <p:cNvSpPr>
            <a:spLocks noGrp="1"/>
          </p:cNvSpPr>
          <p:nvPr/>
        </p:nvSpPr>
        <p:spPr>
          <a:xfrm>
            <a:off x="1371600" y="4419600"/>
            <a:ext cx="1054100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4" name="tk2_0"/>
          <p:cNvSpPr>
            <a:spLocks noGrp="1"/>
          </p:cNvSpPr>
          <p:nvPr/>
        </p:nvSpPr>
        <p:spPr>
          <a:xfrm>
            <a:off x="1371600" y="4419600"/>
            <a:ext cx="12700" cy="762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5" name="tl2_0"/>
          <p:cNvSpPr txBox="1">
            <a:spLocks noGrp="1"/>
          </p:cNvSpPr>
          <p:nvPr/>
        </p:nvSpPr>
        <p:spPr>
          <a:xfrm>
            <a:off x="1231900" y="4660900"/>
            <a:ext cx="3048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zh-CN" altLang="en-US" sz="820" dirty="0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276" name="tk2_50"/>
          <p:cNvSpPr>
            <a:spLocks noGrp="1"/>
          </p:cNvSpPr>
          <p:nvPr/>
        </p:nvSpPr>
        <p:spPr>
          <a:xfrm>
            <a:off x="4145547" y="4419600"/>
            <a:ext cx="12700" cy="762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7" name="tl2_50"/>
          <p:cNvSpPr txBox="1">
            <a:spLocks noGrp="1"/>
          </p:cNvSpPr>
          <p:nvPr/>
        </p:nvSpPr>
        <p:spPr>
          <a:xfrm>
            <a:off x="4005847" y="4660900"/>
            <a:ext cx="3048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zh-CN" altLang="en-US" sz="820" dirty="0">
                <a:solidFill>
                  <a:srgbClr val="666666"/>
                </a:solidFill>
              </a:rPr>
              <a:t>50</a:t>
            </a:r>
          </a:p>
        </p:txBody>
      </p:sp>
      <p:sp>
        <p:nvSpPr>
          <p:cNvPr id="278" name="tk2_100"/>
          <p:cNvSpPr>
            <a:spLocks noGrp="1"/>
          </p:cNvSpPr>
          <p:nvPr/>
        </p:nvSpPr>
        <p:spPr>
          <a:xfrm>
            <a:off x="6919495" y="4419600"/>
            <a:ext cx="12700" cy="762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9" name="tl2_100"/>
          <p:cNvSpPr txBox="1">
            <a:spLocks noGrp="1"/>
          </p:cNvSpPr>
          <p:nvPr/>
        </p:nvSpPr>
        <p:spPr>
          <a:xfrm>
            <a:off x="6779795" y="4660900"/>
            <a:ext cx="3048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zh-CN" altLang="en-US" sz="820" dirty="0">
                <a:solidFill>
                  <a:srgbClr val="666666"/>
                </a:solidFill>
              </a:rPr>
              <a:t>100</a:t>
            </a:r>
          </a:p>
        </p:txBody>
      </p:sp>
      <p:sp>
        <p:nvSpPr>
          <p:cNvPr id="280" name="tk2_120"/>
          <p:cNvSpPr>
            <a:spLocks noGrp="1"/>
          </p:cNvSpPr>
          <p:nvPr/>
        </p:nvSpPr>
        <p:spPr>
          <a:xfrm>
            <a:off x="8029074" y="4419600"/>
            <a:ext cx="12700" cy="762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0" name="lgs_正常执行"/>
          <p:cNvSpPr>
            <a:spLocks noGrp="1"/>
          </p:cNvSpPr>
          <p:nvPr/>
        </p:nvSpPr>
        <p:spPr>
          <a:xfrm>
            <a:off x="1143000" y="5562600"/>
            <a:ext cx="177800" cy="127000"/>
          </a:xfrm>
          <a:prstGeom prst="rect">
            <a:avLst/>
          </a:prstGeom>
          <a:solidFill>
            <a:srgbClr val="2D86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1" name="lgt_正常执行"/>
          <p:cNvSpPr txBox="1">
            <a:spLocks noGrp="1"/>
          </p:cNvSpPr>
          <p:nvPr/>
        </p:nvSpPr>
        <p:spPr>
          <a:xfrm>
            <a:off x="1371600" y="5537200"/>
            <a:ext cx="18415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zh-CN" altLang="en-US" sz="900" dirty="0">
                <a:solidFill>
                  <a:srgbClr val="444444"/>
                </a:solidFill>
              </a:rPr>
              <a:t>正常执行</a:t>
            </a:r>
          </a:p>
        </p:txBody>
      </p:sp>
      <p:sp>
        <p:nvSpPr>
          <p:cNvPr id="292" name="lgs_stall(停顿)"/>
          <p:cNvSpPr>
            <a:spLocks noGrp="1"/>
          </p:cNvSpPr>
          <p:nvPr/>
        </p:nvSpPr>
        <p:spPr>
          <a:xfrm>
            <a:off x="3225800" y="5562600"/>
            <a:ext cx="177800" cy="127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3" name="lgt_stall(停顿)"/>
          <p:cNvSpPr txBox="1">
            <a:spLocks noGrp="1"/>
          </p:cNvSpPr>
          <p:nvPr/>
        </p:nvSpPr>
        <p:spPr>
          <a:xfrm>
            <a:off x="3454400" y="5537200"/>
            <a:ext cx="18415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zh-CN" altLang="en-US" sz="900" dirty="0">
                <a:solidFill>
                  <a:srgbClr val="444444"/>
                </a:solidFill>
              </a:rPr>
              <a:t>stall(停顿)</a:t>
            </a:r>
          </a:p>
        </p:txBody>
      </p:sp>
      <p:sp>
        <p:nvSpPr>
          <p:cNvPr id="294" name="lgs_推理(后台)"/>
          <p:cNvSpPr>
            <a:spLocks noGrp="1"/>
          </p:cNvSpPr>
          <p:nvPr/>
        </p:nvSpPr>
        <p:spPr>
          <a:xfrm>
            <a:off x="5308600" y="5562600"/>
            <a:ext cx="177800" cy="127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5" name="lgt_推理(后台)"/>
          <p:cNvSpPr txBox="1">
            <a:spLocks noGrp="1"/>
          </p:cNvSpPr>
          <p:nvPr/>
        </p:nvSpPr>
        <p:spPr>
          <a:xfrm>
            <a:off x="5537200" y="5537200"/>
            <a:ext cx="18415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zh-CN" altLang="en-US" sz="900" dirty="0">
                <a:solidFill>
                  <a:srgbClr val="444444"/>
                </a:solidFill>
              </a:rPr>
              <a:t>推理(后台)</a:t>
            </a:r>
          </a:p>
        </p:txBody>
      </p:sp>
      <p:sp>
        <p:nvSpPr>
          <p:cNvPr id="296" name="lgs_ensemble(情况A)"/>
          <p:cNvSpPr>
            <a:spLocks noGrp="1"/>
          </p:cNvSpPr>
          <p:nvPr/>
        </p:nvSpPr>
        <p:spPr>
          <a:xfrm>
            <a:off x="7391400" y="5562600"/>
            <a:ext cx="177800" cy="127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7" name="lgt_ensemble(情况A)"/>
          <p:cNvSpPr txBox="1">
            <a:spLocks noGrp="1"/>
          </p:cNvSpPr>
          <p:nvPr/>
        </p:nvSpPr>
        <p:spPr>
          <a:xfrm>
            <a:off x="7620000" y="5537200"/>
            <a:ext cx="18415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zh-CN" altLang="en-US" sz="900" dirty="0">
                <a:solidFill>
                  <a:srgbClr val="444444"/>
                </a:solidFill>
              </a:rPr>
              <a:t>ensemble(情况A)</a:t>
            </a:r>
          </a:p>
        </p:txBody>
      </p:sp>
      <p:sp>
        <p:nvSpPr>
          <p:cNvPr id="22" name="lgs_正常执行">
            <a:extLst>
              <a:ext uri="{FF2B5EF4-FFF2-40B4-BE49-F238E27FC236}">
                <a16:creationId xmlns:a16="http://schemas.microsoft.com/office/drawing/2014/main" id="{49050F54-49C2-F386-318B-A62D14FA8A0A}"/>
              </a:ext>
            </a:extLst>
          </p:cNvPr>
          <p:cNvSpPr>
            <a:spLocks noGrp="1"/>
          </p:cNvSpPr>
          <p:nvPr/>
        </p:nvSpPr>
        <p:spPr>
          <a:xfrm flipV="1">
            <a:off x="1384300" y="4972332"/>
            <a:ext cx="5561189" cy="457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lgs_正常执行">
            <a:extLst>
              <a:ext uri="{FF2B5EF4-FFF2-40B4-BE49-F238E27FC236}">
                <a16:creationId xmlns:a16="http://schemas.microsoft.com/office/drawing/2014/main" id="{7723F4C9-D05F-BEDB-B08C-BCC1409FBEE2}"/>
              </a:ext>
            </a:extLst>
          </p:cNvPr>
          <p:cNvSpPr>
            <a:spLocks noGrp="1"/>
          </p:cNvSpPr>
          <p:nvPr/>
        </p:nvSpPr>
        <p:spPr>
          <a:xfrm flipV="1">
            <a:off x="4145547" y="5083754"/>
            <a:ext cx="2779623" cy="139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lgs_正常执行">
            <a:extLst>
              <a:ext uri="{FF2B5EF4-FFF2-40B4-BE49-F238E27FC236}">
                <a16:creationId xmlns:a16="http://schemas.microsoft.com/office/drawing/2014/main" id="{C1195264-550B-67D7-C5A1-24C70F581E8D}"/>
              </a:ext>
            </a:extLst>
          </p:cNvPr>
          <p:cNvSpPr>
            <a:spLocks noGrp="1"/>
          </p:cNvSpPr>
          <p:nvPr/>
        </p:nvSpPr>
        <p:spPr>
          <a:xfrm flipV="1">
            <a:off x="8036098" y="5080000"/>
            <a:ext cx="2779623" cy="139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5226D1E-DF22-02B3-82DE-E274BE2E3DCE}"/>
              </a:ext>
            </a:extLst>
          </p:cNvPr>
          <p:cNvSpPr txBox="1"/>
          <p:nvPr/>
        </p:nvSpPr>
        <p:spPr>
          <a:xfrm>
            <a:off x="6897511" y="496393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冻结不走帧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F517234-2717-8B1E-2D00-BE9DF7176B8E}"/>
              </a:ext>
            </a:extLst>
          </p:cNvPr>
          <p:cNvSpPr txBox="1"/>
          <p:nvPr/>
        </p:nvSpPr>
        <p:spPr>
          <a:xfrm>
            <a:off x="7811815" y="4673600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120</a:t>
            </a:r>
            <a:endParaRPr kumimoji="1"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5EC084F-7A0C-3465-06EC-49BDA2CF0DC8}"/>
              </a:ext>
            </a:extLst>
          </p:cNvPr>
          <p:cNvSpPr txBox="1"/>
          <p:nvPr/>
        </p:nvSpPr>
        <p:spPr>
          <a:xfrm>
            <a:off x="10364385" y="4669573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170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0475068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1A47E-61CF-E793-CB74-E6FE61736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CD2EF392-BC7A-E309-9758-3F2F2CE9B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en-US" altLang="zh-CN" dirty="0"/>
              <a:t>ACT inference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8B0DBC6-93F4-2046-C305-D238737302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4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8507549-C765-425E-BF87-3B0BFE5A8901}"/>
              </a:ext>
            </a:extLst>
          </p:cNvPr>
          <p:cNvSpPr txBox="1"/>
          <p:nvPr/>
        </p:nvSpPr>
        <p:spPr>
          <a:xfrm>
            <a:off x="357352" y="1037690"/>
            <a:ext cx="4177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还是看源码吧 超级长，我就过了一遍。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71141046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2237D-ACC0-8E39-9C7F-28428FEE1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C8EDDD72-E605-AB02-FD95-90D3F9C33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zh-CN" altLang="en-US" dirty="0"/>
              <a:t>舵机</a:t>
            </a:r>
            <a:r>
              <a:rPr lang="en-US" altLang="zh-CN" dirty="0" err="1"/>
              <a:t>CallStack</a:t>
            </a:r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55B99E6-7F4B-9A7D-6135-43FF65301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5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C6880F5-C35C-20BB-9B52-FF55575AB9F4}"/>
              </a:ext>
            </a:extLst>
          </p:cNvPr>
          <p:cNvSpPr txBox="1"/>
          <p:nvPr/>
        </p:nvSpPr>
        <p:spPr>
          <a:xfrm>
            <a:off x="357352" y="1037690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这个应该比较清楚了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35277068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93037-8D9D-F34C-B529-486D6BF9A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C5F3EA1B-679C-D5C0-C314-E55EB21C7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en-US" altLang="zh-CN" dirty="0"/>
              <a:t>OpenCV</a:t>
            </a:r>
            <a:r>
              <a:rPr lang="zh-CN" altLang="en-US" dirty="0"/>
              <a:t> </a:t>
            </a:r>
            <a:r>
              <a:rPr lang="en-US" altLang="zh-CN" dirty="0" err="1"/>
              <a:t>CallStack</a:t>
            </a:r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0B45934-EB10-D506-C854-2983FBC7AA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>
                <a:solidFill>
                  <a:prstClr val="white"/>
                </a:solidFill>
              </a:rPr>
              <a:t>6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BFE5AF5-EF45-F81E-DDCC-CB265AB00C25}"/>
              </a:ext>
            </a:extLst>
          </p:cNvPr>
          <p:cNvSpPr txBox="1"/>
          <p:nvPr/>
        </p:nvSpPr>
        <p:spPr>
          <a:xfrm>
            <a:off x="357352" y="1037690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这个应该比较清楚了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0178533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内页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C72C8A1-D108-234A-9FBF-AD7A91729AE9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09cef189-98b8-40c4-99b7-6401a222b41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979</TotalTime>
  <Words>1339</Words>
  <Application>Microsoft Macintosh PowerPoint</Application>
  <PresentationFormat>宽屏</PresentationFormat>
  <Paragraphs>166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-apple-system</vt:lpstr>
      <vt:lpstr>等线</vt:lpstr>
      <vt:lpstr>微软雅黑</vt:lpstr>
      <vt:lpstr>Arial</vt:lpstr>
      <vt:lpstr>Century Gothic</vt:lpstr>
      <vt:lpstr>Courier New</vt:lpstr>
      <vt:lpstr>Menlo</vt:lpstr>
      <vt:lpstr>内页​​</vt:lpstr>
      <vt:lpstr>PowerPoint 演示文稿</vt:lpstr>
      <vt:lpstr>不同trunk_size对于观测推理执行步骤的影响</vt:lpstr>
      <vt:lpstr>关于motor_bus的async化</vt:lpstr>
      <vt:lpstr>async inference</vt:lpstr>
      <vt:lpstr>async inference 这一块已经可以跑通了</vt:lpstr>
      <vt:lpstr>ACT inference</vt:lpstr>
      <vt:lpstr>舵机CallStack</vt:lpstr>
      <vt:lpstr>OpenCV CallStack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- Vel</dc:creator>
  <cp:lastModifiedBy>- Vel</cp:lastModifiedBy>
  <cp:revision>5</cp:revision>
  <dcterms:created xsi:type="dcterms:W3CDTF">2026-04-15T03:11:43Z</dcterms:created>
  <dcterms:modified xsi:type="dcterms:W3CDTF">2026-04-17T08:49:08Z</dcterms:modified>
</cp:coreProperties>
</file>