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1824" r:id="rId2"/>
    <p:sldId id="2736" r:id="rId3"/>
    <p:sldId id="2725" r:id="rId4"/>
    <p:sldId id="2733" r:id="rId5"/>
    <p:sldId id="2734" r:id="rId6"/>
    <p:sldId id="2735" r:id="rId7"/>
    <p:sldId id="273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63"/>
    <p:restoredTop sz="81633"/>
  </p:normalViewPr>
  <p:slideViewPr>
    <p:cSldViewPr snapToGrid="0">
      <p:cViewPr varScale="1">
        <p:scale>
          <a:sx n="98" d="100"/>
          <a:sy n="98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EE76B-0B80-9A46-AEF2-380A11E76953}" type="datetimeFigureOut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82DDE-58C5-7440-A2B8-9FE3667D06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27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D2F8-64CF-2CB8-D35F-B167F5C7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1FA51F-C239-0A43-0E0E-14E12E96E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E338BF-D795-5963-A730-BE6444E44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0361-19F7-CBA5-7420-9739B20E9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0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6536-4E49-E7C9-5412-EC443CC8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D783F-9B8A-3C59-E76D-2B571E97E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D65A79-F5D9-795A-8A42-914EBDBC4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0F1F8C-2BA0-C11F-309A-CB23D8989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35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3603-5E3B-5F09-B218-5895D768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6E612-5FFA-470A-6901-CF7CEBFF1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C75BF-EA00-06C9-CE13-6F0587850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FC0D2-D554-AF8B-52DB-FCBE027FF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3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2F03-6DA4-FEBE-0BAA-71541F80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511E91-C3E0-104C-0D1F-F28C75A30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6F4D7A-F840-9C18-4AE2-271C6EC0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805653-FDC3-2A1A-E9B5-F6FAE6F92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139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0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0042345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193768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00576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8881707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46481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8207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7283858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929004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376486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82028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45349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37545581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9761479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73142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3185434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0076239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04381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1159162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418617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7746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9368824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49904062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9007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544277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48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答辩人：俞乐楠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师：宋林海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2026/4/15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 err="1">
                <a:latin typeface="+mn-ea"/>
                <a:ea typeface="+mn-ea"/>
              </a:rPr>
              <a:t>Lerobot</a:t>
            </a:r>
            <a:r>
              <a:rPr lang="zh-CN" altLang="en-US" sz="6000" b="1" dirty="0">
                <a:latin typeface="+mn-ea"/>
                <a:ea typeface="+mn-ea"/>
              </a:rPr>
              <a:t>系统级别性能剖析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0990-E94F-1ABC-E3E9-A7F76A76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96C0FAF-6059-32B8-55CA-F80EB41B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软件栈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404642-ADF6-433F-139F-7A7C3D2BB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1F5FDE0-BC4C-3585-33DA-F7235F3A680F}"/>
              </a:ext>
            </a:extLst>
          </p:cNvPr>
          <p:cNvGrpSpPr/>
          <p:nvPr/>
        </p:nvGrpSpPr>
        <p:grpSpPr>
          <a:xfrm>
            <a:off x="140673" y="954869"/>
            <a:ext cx="5514376" cy="4049733"/>
            <a:chOff x="414098" y="1404133"/>
            <a:chExt cx="5514376" cy="4049733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2FA3E3-30AF-3B1B-B9AB-13C7A2D4AFB5}"/>
                </a:ext>
              </a:extLst>
            </p:cNvPr>
            <p:cNvGrpSpPr/>
            <p:nvPr/>
          </p:nvGrpSpPr>
          <p:grpSpPr>
            <a:xfrm>
              <a:off x="414098" y="1404133"/>
              <a:ext cx="5511134" cy="1076325"/>
              <a:chOff x="1923060" y="976312"/>
              <a:chExt cx="5511134" cy="1076325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7FFF415-5C71-EB1A-5045-ED5441F8601C}"/>
                  </a:ext>
                </a:extLst>
              </p:cNvPr>
              <p:cNvSpPr/>
              <p:nvPr/>
            </p:nvSpPr>
            <p:spPr>
              <a:xfrm>
                <a:off x="1923060" y="976312"/>
                <a:ext cx="5511134" cy="107632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Lerobot</a:t>
                </a:r>
                <a:endParaRPr kumimoji="1" lang="en-US" altLang="zh-CN" dirty="0"/>
              </a:p>
              <a:p>
                <a:pPr algn="ctr"/>
                <a:endParaRPr kumimoji="1" lang="en-US" altLang="zh-CN" dirty="0"/>
              </a:p>
              <a:p>
                <a:pPr algn="ctr"/>
                <a:endParaRPr kumimoji="1" lang="zh-CN" altLang="en-US" dirty="0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0F63DA-0B7F-0DC7-FF0C-43B3FDF6761F}"/>
                  </a:ext>
                </a:extLst>
              </p:cNvPr>
              <p:cNvSpPr/>
              <p:nvPr/>
            </p:nvSpPr>
            <p:spPr>
              <a:xfrm>
                <a:off x="4155504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观测</a:t>
                </a: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AFEFDEA-8185-4D66-6F27-DC7B162D1BFB}"/>
                  </a:ext>
                </a:extLst>
              </p:cNvPr>
              <p:cNvSpPr/>
              <p:nvPr/>
            </p:nvSpPr>
            <p:spPr>
              <a:xfrm>
                <a:off x="6344592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推理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F3B0FA3-7D25-710C-FDA8-C270043D49A2}"/>
                  </a:ext>
                </a:extLst>
              </p:cNvPr>
              <p:cNvSpPr/>
              <p:nvPr/>
            </p:nvSpPr>
            <p:spPr>
              <a:xfrm>
                <a:off x="2747467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执行</a:t>
                </a: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41C685-3C4D-EA73-AE22-65F1D6103B65}"/>
                </a:ext>
              </a:extLst>
            </p:cNvPr>
            <p:cNvSpPr/>
            <p:nvPr/>
          </p:nvSpPr>
          <p:spPr>
            <a:xfrm>
              <a:off x="4530321" y="2632321"/>
              <a:ext cx="1398153" cy="42862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pytorch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2FC40DB-2E97-5AB4-AD37-81852EE7CE60}"/>
                </a:ext>
              </a:extLst>
            </p:cNvPr>
            <p:cNvSpPr/>
            <p:nvPr/>
          </p:nvSpPr>
          <p:spPr>
            <a:xfrm>
              <a:off x="2983663" y="2632322"/>
              <a:ext cx="1406958" cy="15896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Opencv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相机库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25D60D7-E536-1EDE-77AA-DFDEEE30AE83}"/>
                </a:ext>
              </a:extLst>
            </p:cNvPr>
            <p:cNvSpPr txBox="1"/>
            <p:nvPr/>
          </p:nvSpPr>
          <p:spPr>
            <a:xfrm>
              <a:off x="414098" y="2632323"/>
              <a:ext cx="2429865" cy="4286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/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dirty="0"/>
                <a:t>scservo_sdk舵机驱动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7B79C68-C8C4-EDE0-15B9-5E8438FEAE18}"/>
                </a:ext>
              </a:extLst>
            </p:cNvPr>
            <p:cNvSpPr txBox="1"/>
            <p:nvPr/>
          </p:nvSpPr>
          <p:spPr>
            <a:xfrm>
              <a:off x="414098" y="3212814"/>
              <a:ext cx="2429865" cy="4286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 err="1"/>
                <a:t>pyserial</a:t>
              </a:r>
              <a:r>
                <a:rPr lang="zh-CN" altLang="en-US" dirty="0"/>
                <a:t>串口驱动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E51A41D-1B17-A38F-DB5D-2DAC9173E48B}"/>
                </a:ext>
              </a:extLst>
            </p:cNvPr>
            <p:cNvSpPr txBox="1"/>
            <p:nvPr/>
          </p:nvSpPr>
          <p:spPr>
            <a:xfrm>
              <a:off x="414098" y="3793305"/>
              <a:ext cx="2429864" cy="42862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 err="1"/>
                <a:t>cpython</a:t>
              </a:r>
              <a:r>
                <a:rPr lang="zh-CN" altLang="en-US" dirty="0"/>
                <a:t>封装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1936B63-B161-558E-3533-55F4311D11AC}"/>
                </a:ext>
              </a:extLst>
            </p:cNvPr>
            <p:cNvSpPr txBox="1"/>
            <p:nvPr/>
          </p:nvSpPr>
          <p:spPr>
            <a:xfrm>
              <a:off x="4527078" y="3212808"/>
              <a:ext cx="1398153" cy="10091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GCC</a:t>
              </a:r>
              <a:r>
                <a:rPr lang="zh-CN" altLang="en-US" dirty="0"/>
                <a:t>的</a:t>
              </a:r>
              <a:r>
                <a:rPr lang="en-US" altLang="zh-CN" dirty="0" err="1"/>
                <a:t>libstdc</a:t>
              </a:r>
              <a:r>
                <a:rPr lang="en-US" altLang="zh-CN" dirty="0"/>
                <a:t>++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3C21A6-DA98-1389-E96E-62F7D832FCFA}"/>
                </a:ext>
              </a:extLst>
            </p:cNvPr>
            <p:cNvSpPr/>
            <p:nvPr/>
          </p:nvSpPr>
          <p:spPr>
            <a:xfrm>
              <a:off x="414098" y="4409272"/>
              <a:ext cx="5511134" cy="4286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glibc</a:t>
              </a:r>
              <a:endParaRPr kumimoji="1"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22FD65A-D512-AF75-B6A4-3C92EAD5F9CA}"/>
                </a:ext>
              </a:extLst>
            </p:cNvPr>
            <p:cNvSpPr/>
            <p:nvPr/>
          </p:nvSpPr>
          <p:spPr>
            <a:xfrm>
              <a:off x="414098" y="5025240"/>
              <a:ext cx="5511134" cy="4286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kernel</a:t>
              </a:r>
              <a:endParaRPr kumimoji="1" lang="zh-CN" altLang="en-US" dirty="0"/>
            </a:p>
          </p:txBody>
        </p: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E24190DF-E02C-DF8F-F5A7-58A825721AE3}"/>
                </a:ext>
              </a:extLst>
            </p:cNvPr>
            <p:cNvCxnSpPr>
              <a:stCxn id="5" idx="2"/>
              <a:endCxn id="12" idx="0"/>
            </p:cNvCxnSpPr>
            <p:nvPr/>
          </p:nvCxnSpPr>
          <p:spPr>
            <a:xfrm>
              <a:off x="1629030" y="2143896"/>
              <a:ext cx="1" cy="4884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3339AF52-9D1E-69E9-E1AB-98A601AEC3A1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>
              <a:off x="3037067" y="2143896"/>
              <a:ext cx="650075" cy="4884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8142DF4F-EA92-6ECA-9D08-7E2940C8DA2A}"/>
                </a:ext>
              </a:extLst>
            </p:cNvPr>
            <p:cNvCxnSpPr>
              <a:stCxn id="3" idx="2"/>
              <a:endCxn id="12" idx="0"/>
            </p:cNvCxnSpPr>
            <p:nvPr/>
          </p:nvCxnSpPr>
          <p:spPr>
            <a:xfrm flipH="1">
              <a:off x="1629031" y="2143896"/>
              <a:ext cx="1408036" cy="4884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2E3C6FFA-93AC-5A6C-32A6-FC8EFB501473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5226155" y="2143896"/>
              <a:ext cx="3243" cy="4884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FrameExplain">
            <a:extLst>
              <a:ext uri="{FF2B5EF4-FFF2-40B4-BE49-F238E27FC236}">
                <a16:creationId xmlns:a16="http://schemas.microsoft.com/office/drawing/2014/main" id="{EFC4B6B8-BE3F-52AF-B86B-EB4E64A73171}"/>
              </a:ext>
            </a:extLst>
          </p:cNvPr>
          <p:cNvSpPr/>
          <p:nvPr/>
        </p:nvSpPr>
        <p:spPr>
          <a:xfrm>
            <a:off x="6262253" y="940458"/>
            <a:ext cx="5334000" cy="21335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spcAft>
                <a:spcPts val="200"/>
              </a:spcAft>
              <a:buNone/>
            </a:pPr>
            <a:r>
              <a:rPr lang="en-US" altLang="zh-CN" sz="1600" b="1" dirty="0">
                <a:solidFill>
                  <a:srgbClr val="006C39"/>
                </a:solidFill>
                <a:latin typeface="Century Gothic"/>
              </a:rPr>
              <a:t>1 Episode = </a:t>
            </a:r>
            <a:r>
              <a:rPr lang="zh-CN" altLang="en-US" sz="1600" b="1" dirty="0">
                <a:solidFill>
                  <a:srgbClr val="006C39"/>
                </a:solidFill>
                <a:latin typeface="Century Gothic"/>
              </a:rPr>
              <a:t>一段完整任务录制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从机器人开始执行任务到完成（或超时），所有 Frame 的集合。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例如"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抓取方块</a:t>
            </a:r>
            <a:r>
              <a:rPr lang="zh-CN" altLang="en-US" sz="1100" dirty="0">
                <a:solidFill>
                  <a:srgbClr val="333333"/>
                </a:solidFill>
              </a:rPr>
              <a:t>"= 1 个 Episode，录制结束后调用 </a:t>
            </a:r>
            <a:r>
              <a:rPr lang="en-US" altLang="zh-CN" sz="1100" dirty="0">
                <a:solidFill>
                  <a:srgbClr val="A56416"/>
                </a:solidFill>
                <a:latin typeface="Menlo"/>
              </a:rPr>
              <a:t>dataset.save_episode()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zh-CN" sz="1600" b="1" dirty="0">
                <a:solidFill>
                  <a:srgbClr val="006C39"/>
                </a:solidFill>
                <a:latin typeface="Century Gothic"/>
              </a:rPr>
              <a:t>1 Frame = </a:t>
            </a:r>
            <a:r>
              <a:rPr lang="zh-CN" altLang="en-US" sz="1600" b="1" dirty="0">
                <a:solidFill>
                  <a:srgbClr val="006C39"/>
                </a:solidFill>
                <a:latin typeface="Century Gothic"/>
              </a:rPr>
              <a:t>一次控制循环迭代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每个 Frame 执行：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观测</a:t>
            </a:r>
            <a:r>
              <a:rPr lang="zh-CN" altLang="en-US" sz="1100" dirty="0">
                <a:solidFill>
                  <a:srgbClr val="969696"/>
                </a:solidFill>
                <a:highlight>
                  <a:srgbClr val="FFFF00"/>
                </a:highlight>
              </a:rPr>
              <a:t> → 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推理</a:t>
            </a:r>
            <a:r>
              <a:rPr lang="zh-CN" altLang="en-US" sz="1100" dirty="0">
                <a:solidFill>
                  <a:srgbClr val="969696"/>
                </a:solidFill>
                <a:highlight>
                  <a:srgbClr val="FFFF00"/>
                </a:highlight>
              </a:rPr>
              <a:t> → 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执行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（帧率 </a:t>
            </a:r>
            <a:r>
              <a:rPr lang="en-US" altLang="zh-CN" sz="1100" dirty="0">
                <a:solidFill>
                  <a:srgbClr val="A56416"/>
                </a:solidFill>
                <a:highlight>
                  <a:srgbClr val="FFFF00"/>
                </a:highlight>
                <a:latin typeface="Menlo"/>
              </a:rPr>
              <a:t>fps=30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，每帧≈33ms</a:t>
            </a:r>
            <a:r>
              <a:rPr lang="zh-CN" altLang="en-US" sz="1100" dirty="0">
                <a:solidFill>
                  <a:srgbClr val="333333"/>
                </a:solidFill>
              </a:rPr>
              <a:t>）</a:t>
            </a:r>
          </a:p>
          <a:p>
            <a:pPr>
              <a:spcBef>
                <a:spcPts val="150"/>
              </a:spcBef>
              <a:buNone/>
            </a:pPr>
            <a:r>
              <a:rPr lang="zh-CN" altLang="en-US" sz="1600" b="1" dirty="0">
                <a:solidFill>
                  <a:srgbClr val="A13F0B"/>
                </a:solidFill>
                <a:highlight>
                  <a:srgbClr val="FFFF00"/>
                </a:highlight>
              </a:rPr>
              <a:t>Chunk</a:t>
            </a:r>
            <a:r>
              <a:rPr lang="zh-CN" altLang="en-US" sz="1600" b="1" dirty="0">
                <a:solidFill>
                  <a:srgbClr val="A13F0B"/>
                </a:solidFill>
              </a:rPr>
              <a:t> 推理优化（</a:t>
            </a:r>
            <a:r>
              <a:rPr lang="en-US" altLang="zh-CN" sz="1600" b="1" dirty="0">
                <a:solidFill>
                  <a:srgbClr val="A56416"/>
                </a:solidFill>
                <a:latin typeface="Menlo"/>
              </a:rPr>
              <a:t>chunk_size=100</a:t>
            </a:r>
            <a:r>
              <a:rPr lang="zh-CN" altLang="en-US" sz="1600" b="1" dirty="0">
                <a:solidFill>
                  <a:srgbClr val="A13F0B"/>
                </a:solidFill>
              </a:rPr>
              <a:t>）：</a:t>
            </a:r>
          </a:p>
          <a:p>
            <a:pPr>
              <a:lnSpc>
                <a:spcPts val="1500"/>
              </a:lnSpc>
              <a:buFont typeface="Arial"/>
              <a:buChar char="•"/>
            </a:pPr>
            <a:r>
              <a:rPr lang="zh-CN" altLang="en-US" sz="1100" dirty="0">
                <a:solidFill>
                  <a:srgbClr val="333333"/>
                </a:solidFill>
              </a:rPr>
              <a:t>第 1 帧：完整执行观测 → 策略推理 → 输出 </a:t>
            </a:r>
            <a:r>
              <a:rPr lang="en-US" altLang="zh-CN" sz="1100" b="1" dirty="0">
                <a:solidFill>
                  <a:srgbClr val="3778B7"/>
                </a:solidFill>
                <a:latin typeface="Menlo"/>
              </a:rPr>
              <a:t>100</a:t>
            </a:r>
            <a:r>
              <a:rPr lang="zh-CN" altLang="en-US" sz="1100" dirty="0">
                <a:solidFill>
                  <a:srgbClr val="333333"/>
                </a:solidFill>
              </a:rPr>
              <a:t> 帧动作序列入队列</a:t>
            </a:r>
          </a:p>
          <a:p>
            <a:pPr>
              <a:lnSpc>
                <a:spcPts val="1500"/>
              </a:lnSpc>
              <a:buFont typeface="Arial"/>
              <a:buChar char="•"/>
            </a:pPr>
            <a:r>
              <a:rPr lang="zh-CN" altLang="en-US" sz="1100" dirty="0">
                <a:solidFill>
                  <a:srgbClr val="333333"/>
                </a:solidFill>
              </a:rPr>
              <a:t>第 2–100 帧：观测正常执行，</a:t>
            </a:r>
            <a:r>
              <a:rPr lang="zh-CN" altLang="en-US" sz="1100" b="1" dirty="0">
                <a:solidFill>
                  <a:srgbClr val="006C39"/>
                </a:solidFill>
              </a:rPr>
              <a:t>推理</a:t>
            </a:r>
            <a:r>
              <a:rPr lang="zh-CN" altLang="en-US" sz="1100" dirty="0">
                <a:solidFill>
                  <a:srgbClr val="333333"/>
                </a:solidFill>
              </a:rPr>
              <a:t>直接从队列取动作，无需重新运行模型</a:t>
            </a:r>
          </a:p>
          <a:p>
            <a:pPr>
              <a:lnSpc>
                <a:spcPts val="1500"/>
              </a:lnSpc>
              <a:buNone/>
            </a:pPr>
            <a:endParaRPr lang="zh-CN" altLang="en-US" sz="1100" dirty="0">
              <a:solidFill>
                <a:srgbClr val="333333"/>
              </a:solidFill>
            </a:endParaRPr>
          </a:p>
        </p:txBody>
      </p:sp>
      <p:sp>
        <p:nvSpPr>
          <p:cNvPr id="20" name="ConfigBox">
            <a:extLst>
              <a:ext uri="{FF2B5EF4-FFF2-40B4-BE49-F238E27FC236}">
                <a16:creationId xmlns:a16="http://schemas.microsoft.com/office/drawing/2014/main" id="{70B0F5AE-01C4-D560-9F4A-3D9A8EB188BD}"/>
              </a:ext>
            </a:extLst>
          </p:cNvPr>
          <p:cNvSpPr/>
          <p:nvPr/>
        </p:nvSpPr>
        <p:spPr>
          <a:xfrm>
            <a:off x="233855" y="5002871"/>
            <a:ext cx="5511134" cy="1206500"/>
          </a:xfrm>
          <a:prstGeom prst="roundRect">
            <a:avLst>
              <a:gd name="adj" fmla="val 5000"/>
            </a:avLst>
          </a:prstGeom>
          <a:solidFill>
            <a:srgbClr val="006C39">
              <a:alpha val="8000"/>
            </a:srgbClr>
          </a:solidFill>
          <a:ln w="12700">
            <a:solidFill>
              <a:srgbClr val="006C39"/>
            </a:solidFill>
          </a:ln>
        </p:spPr>
        <p:txBody>
          <a:bodyPr wrap="square" lIns="91440" tIns="45720" rIns="91440" bIns="45720" anchor="t"/>
          <a:lstStyle/>
          <a:p>
            <a:pPr>
              <a:spcAft>
                <a:spcPts val="400"/>
              </a:spcAft>
              <a:buNone/>
            </a:pPr>
            <a:r>
              <a:rPr lang="zh-CN" altLang="en-US" sz="1400" b="1" dirty="0">
                <a:solidFill>
                  <a:srgbClr val="006C39"/>
                </a:solidFill>
                <a:latin typeface="Century Gothic"/>
                <a:ea typeface="微软雅黑"/>
              </a:rPr>
              <a:t>当前配置（可修改）</a:t>
            </a:r>
            <a:r>
              <a:rPr lang="en-US" altLang="zh-CN" sz="1200" dirty="0">
                <a:solidFill>
                  <a:srgbClr val="969696"/>
                </a:solidFill>
                <a:latin typeface="Menlo"/>
              </a:rPr>
              <a:t> DatasetRecordConfig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>
                <a:solidFill>
                  <a:srgbClr val="A56416"/>
                </a:solidFill>
                <a:latin typeface="Menlo"/>
              </a:rPr>
              <a:t>fps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30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　　　　→ 每秒 30 帧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>
                <a:solidFill>
                  <a:srgbClr val="A56416"/>
                </a:solidFill>
                <a:latin typeface="Menlo"/>
              </a:rPr>
              <a:t>episode_time_s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60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→ 每 Episode 最长 60s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 err="1">
                <a:solidFill>
                  <a:srgbClr val="A56416"/>
                </a:solidFill>
                <a:latin typeface="Menlo"/>
              </a:rPr>
              <a:t>num_episodes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50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　→ 总共录 50 个 Episode</a:t>
            </a:r>
            <a:r>
              <a:rPr lang="en-US" altLang="zh-CN" sz="1200" dirty="0">
                <a:solidFill>
                  <a:srgbClr val="969696"/>
                </a:solidFill>
                <a:ea typeface="微软雅黑"/>
              </a:rPr>
              <a:t>/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五十个完整动作序列</a:t>
            </a:r>
            <a:endParaRPr lang="en-US" altLang="zh-CN" sz="1200" dirty="0">
              <a:solidFill>
                <a:srgbClr val="969696"/>
              </a:solidFill>
              <a:ea typeface="微软雅黑"/>
            </a:endParaRPr>
          </a:p>
          <a:p>
            <a:pPr>
              <a:lnSpc>
                <a:spcPts val="1700"/>
              </a:lnSpc>
            </a:pPr>
            <a:r>
              <a:rPr lang="en-US" altLang="zh-CN" sz="1200" dirty="0" err="1"/>
              <a:t>chunk_size</a:t>
            </a:r>
            <a:r>
              <a:rPr lang="en-US" altLang="zh-CN" sz="1200" dirty="0"/>
              <a:t>: int = 100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 </a:t>
            </a:r>
            <a:r>
              <a:rPr lang="zh-CN" altLang="en-US" sz="1200" dirty="0">
                <a:solidFill>
                  <a:srgbClr val="969696"/>
                </a:solidFill>
              </a:rPr>
              <a:t>→ 每次推理</a:t>
            </a:r>
            <a:r>
              <a:rPr lang="en-US" altLang="zh-CN" sz="1200" dirty="0">
                <a:solidFill>
                  <a:srgbClr val="969696"/>
                </a:solidFill>
              </a:rPr>
              <a:t>100</a:t>
            </a:r>
            <a:r>
              <a:rPr lang="zh-CN" altLang="en-US" sz="1200" dirty="0">
                <a:solidFill>
                  <a:srgbClr val="969696"/>
                </a:solidFill>
              </a:rPr>
              <a:t>个</a:t>
            </a:r>
            <a:r>
              <a:rPr lang="en-US" altLang="zh-CN" sz="1200" dirty="0">
                <a:solidFill>
                  <a:srgbClr val="969696"/>
                </a:solidFill>
              </a:rPr>
              <a:t>frame</a:t>
            </a:r>
            <a:r>
              <a:rPr lang="zh-CN" altLang="en-US" sz="1200" dirty="0">
                <a:solidFill>
                  <a:srgbClr val="969696"/>
                </a:solidFill>
              </a:rPr>
              <a:t>（受制于硬件</a:t>
            </a:r>
            <a:r>
              <a:rPr lang="zh-CN" altLang="en-US" sz="1200" dirty="0">
                <a:solidFill>
                  <a:srgbClr val="969696"/>
                </a:solidFill>
                <a:highlight>
                  <a:srgbClr val="000080"/>
                </a:highlight>
              </a:rPr>
              <a:t>性能限制</a:t>
            </a:r>
            <a:r>
              <a:rPr lang="zh-CN" altLang="en-US" sz="1200" dirty="0">
                <a:solidFill>
                  <a:srgbClr val="969696"/>
                </a:solidFill>
              </a:rPr>
              <a:t>）</a:t>
            </a:r>
            <a:endParaRPr lang="en-US" altLang="zh-CN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A12606-2E8D-A45C-BDF5-A27DD57D016D}"/>
              </a:ext>
            </a:extLst>
          </p:cNvPr>
          <p:cNvSpPr txBox="1"/>
          <p:nvPr/>
        </p:nvSpPr>
        <p:spPr>
          <a:xfrm>
            <a:off x="10812256" y="57600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00" name="Row1BG">
            <a:extLst>
              <a:ext uri="{FF2B5EF4-FFF2-40B4-BE49-F238E27FC236}">
                <a16:creationId xmlns:a16="http://schemas.microsoft.com/office/drawing/2014/main" id="{6E2372D0-B03E-FE5E-9727-554A497562D3}"/>
              </a:ext>
            </a:extLst>
          </p:cNvPr>
          <p:cNvSpPr>
            <a:spLocks noGrp="1"/>
          </p:cNvSpPr>
          <p:nvPr/>
        </p:nvSpPr>
        <p:spPr>
          <a:xfrm>
            <a:off x="6725745" y="2954336"/>
            <a:ext cx="5232400" cy="1155700"/>
          </a:xfrm>
          <a:prstGeom prst="rect">
            <a:avLst/>
          </a:prstGeom>
          <a:solidFill>
            <a:srgbClr val="E8F5EE"/>
          </a:solidFill>
          <a:ln w="635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1" name="Row2BG">
            <a:extLst>
              <a:ext uri="{FF2B5EF4-FFF2-40B4-BE49-F238E27FC236}">
                <a16:creationId xmlns:a16="http://schemas.microsoft.com/office/drawing/2014/main" id="{0CF0949E-8C9D-D1D6-D48F-0889967202C1}"/>
              </a:ext>
            </a:extLst>
          </p:cNvPr>
          <p:cNvSpPr>
            <a:spLocks noGrp="1"/>
          </p:cNvSpPr>
          <p:nvPr/>
        </p:nvSpPr>
        <p:spPr>
          <a:xfrm>
            <a:off x="6725745" y="4249736"/>
            <a:ext cx="5232400" cy="1016000"/>
          </a:xfrm>
          <a:prstGeom prst="rect">
            <a:avLst/>
          </a:prstGeom>
          <a:solidFill>
            <a:srgbClr val="EAF4FB"/>
          </a:solidFill>
          <a:ln w="635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endParaRPr dirty="0"/>
          </a:p>
        </p:txBody>
      </p:sp>
      <p:sp>
        <p:nvSpPr>
          <p:cNvPr id="202" name="Frame1Label">
            <a:extLst>
              <a:ext uri="{FF2B5EF4-FFF2-40B4-BE49-F238E27FC236}">
                <a16:creationId xmlns:a16="http://schemas.microsoft.com/office/drawing/2014/main" id="{01AE2D05-524A-4470-91D2-FAB656857F13}"/>
              </a:ext>
            </a:extLst>
          </p:cNvPr>
          <p:cNvSpPr txBox="1">
            <a:spLocks noGrp="1"/>
          </p:cNvSpPr>
          <p:nvPr/>
        </p:nvSpPr>
        <p:spPr>
          <a:xfrm>
            <a:off x="6776545" y="2979736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006C39"/>
                </a:solidFill>
              </a:rPr>
              <a:t>Frame 1</a:t>
            </a:r>
          </a:p>
        </p:txBody>
      </p:sp>
      <p:sp>
        <p:nvSpPr>
          <p:cNvPr id="203" name="Frame2Label">
            <a:extLst>
              <a:ext uri="{FF2B5EF4-FFF2-40B4-BE49-F238E27FC236}">
                <a16:creationId xmlns:a16="http://schemas.microsoft.com/office/drawing/2014/main" id="{D9E9012F-B7E3-D0FF-F2BF-857019F67F3F}"/>
              </a:ext>
            </a:extLst>
          </p:cNvPr>
          <p:cNvSpPr txBox="1">
            <a:spLocks noGrp="1"/>
          </p:cNvSpPr>
          <p:nvPr/>
        </p:nvSpPr>
        <p:spPr>
          <a:xfrm>
            <a:off x="6725745" y="432007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2D7AB0"/>
                </a:solidFill>
              </a:rPr>
              <a:t>Frame 2~100</a:t>
            </a:r>
          </a:p>
        </p:txBody>
      </p:sp>
      <p:sp>
        <p:nvSpPr>
          <p:cNvPr id="204" name="R1_Obs">
            <a:extLst>
              <a:ext uri="{FF2B5EF4-FFF2-40B4-BE49-F238E27FC236}">
                <a16:creationId xmlns:a16="http://schemas.microsoft.com/office/drawing/2014/main" id="{A41893C7-9ACC-0D01-66AE-01CC2AC49E78}"/>
              </a:ext>
            </a:extLst>
          </p:cNvPr>
          <p:cNvSpPr>
            <a:spLocks noGrp="1"/>
          </p:cNvSpPr>
          <p:nvPr/>
        </p:nvSpPr>
        <p:spPr>
          <a:xfrm>
            <a:off x="6764829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006C39"/>
                </a:solidFill>
              </a:rPr>
              <a:t>观测</a:t>
            </a:r>
          </a:p>
        </p:txBody>
      </p:sp>
      <p:sp>
        <p:nvSpPr>
          <p:cNvPr id="205" name="R1_Arr1">
            <a:extLst>
              <a:ext uri="{FF2B5EF4-FFF2-40B4-BE49-F238E27FC236}">
                <a16:creationId xmlns:a16="http://schemas.microsoft.com/office/drawing/2014/main" id="{28A3A138-15F2-417F-165D-D356D5846CB6}"/>
              </a:ext>
            </a:extLst>
          </p:cNvPr>
          <p:cNvSpPr>
            <a:spLocks noGrp="1"/>
          </p:cNvSpPr>
          <p:nvPr/>
        </p:nvSpPr>
        <p:spPr>
          <a:xfrm>
            <a:off x="8322695" y="3271836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C3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R1_Infer">
            <a:extLst>
              <a:ext uri="{FF2B5EF4-FFF2-40B4-BE49-F238E27FC236}">
                <a16:creationId xmlns:a16="http://schemas.microsoft.com/office/drawing/2014/main" id="{13DD8514-B79B-E1A2-1874-38AFB3BB919A}"/>
              </a:ext>
            </a:extLst>
          </p:cNvPr>
          <p:cNvSpPr>
            <a:spLocks noGrp="1"/>
          </p:cNvSpPr>
          <p:nvPr/>
        </p:nvSpPr>
        <p:spPr>
          <a:xfrm>
            <a:off x="8525895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006C39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推理 ★</a:t>
            </a:r>
          </a:p>
        </p:txBody>
      </p:sp>
      <p:sp>
        <p:nvSpPr>
          <p:cNvPr id="207" name="R1_Arr2">
            <a:extLst>
              <a:ext uri="{FF2B5EF4-FFF2-40B4-BE49-F238E27FC236}">
                <a16:creationId xmlns:a16="http://schemas.microsoft.com/office/drawing/2014/main" id="{0BC770EA-DFCB-CAF3-D731-2FDA17D5E0A2}"/>
              </a:ext>
            </a:extLst>
          </p:cNvPr>
          <p:cNvSpPr>
            <a:spLocks noGrp="1"/>
          </p:cNvSpPr>
          <p:nvPr/>
        </p:nvSpPr>
        <p:spPr>
          <a:xfrm>
            <a:off x="10083760" y="3271836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C3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R1_Exec">
            <a:extLst>
              <a:ext uri="{FF2B5EF4-FFF2-40B4-BE49-F238E27FC236}">
                <a16:creationId xmlns:a16="http://schemas.microsoft.com/office/drawing/2014/main" id="{09FD1362-4DA5-1AAA-2FFC-FFCDBF2E8160}"/>
              </a:ext>
            </a:extLst>
          </p:cNvPr>
          <p:cNvSpPr>
            <a:spLocks noGrp="1"/>
          </p:cNvSpPr>
          <p:nvPr/>
        </p:nvSpPr>
        <p:spPr>
          <a:xfrm>
            <a:off x="10286960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006C39"/>
                </a:solidFill>
              </a:rPr>
              <a:t>执行</a:t>
            </a:r>
          </a:p>
        </p:txBody>
      </p:sp>
      <p:sp>
        <p:nvSpPr>
          <p:cNvPr id="209" name="DownArr">
            <a:extLst>
              <a:ext uri="{FF2B5EF4-FFF2-40B4-BE49-F238E27FC236}">
                <a16:creationId xmlns:a16="http://schemas.microsoft.com/office/drawing/2014/main" id="{6CB2A2B2-5179-3C59-CDA4-3195CAFD9FBD}"/>
              </a:ext>
            </a:extLst>
          </p:cNvPr>
          <p:cNvSpPr>
            <a:spLocks noGrp="1"/>
          </p:cNvSpPr>
          <p:nvPr/>
        </p:nvSpPr>
        <p:spPr>
          <a:xfrm>
            <a:off x="9215927" y="3589336"/>
            <a:ext cx="177800" cy="101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17B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Queue">
            <a:extLst>
              <a:ext uri="{FF2B5EF4-FFF2-40B4-BE49-F238E27FC236}">
                <a16:creationId xmlns:a16="http://schemas.microsoft.com/office/drawing/2014/main" id="{E3962AB9-2BFD-8162-CACE-FA24017E6EF1}"/>
              </a:ext>
            </a:extLst>
          </p:cNvPr>
          <p:cNvSpPr>
            <a:spLocks noGrp="1"/>
          </p:cNvSpPr>
          <p:nvPr/>
        </p:nvSpPr>
        <p:spPr>
          <a:xfrm>
            <a:off x="8398895" y="3690936"/>
            <a:ext cx="1811866" cy="355600"/>
          </a:xfrm>
          <a:prstGeom prst="rect">
            <a:avLst/>
          </a:prstGeom>
          <a:solidFill>
            <a:srgbClr val="FFF8E7"/>
          </a:solidFill>
          <a:ln w="12700">
            <a:solidFill>
              <a:srgbClr val="C17B00"/>
            </a:solidFill>
          </a:ln>
        </p:spPr>
        <p:txBody>
          <a:bodyPr wrap="square" anchor="ctr">
            <a:normAutofit lnSpcReduction="1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211" name="QueueLabel">
            <a:extLst>
              <a:ext uri="{FF2B5EF4-FFF2-40B4-BE49-F238E27FC236}">
                <a16:creationId xmlns:a16="http://schemas.microsoft.com/office/drawing/2014/main" id="{A3033B77-3280-FB97-2F6D-245F4DA0EFF7}"/>
              </a:ext>
            </a:extLst>
          </p:cNvPr>
          <p:cNvSpPr txBox="1">
            <a:spLocks noGrp="1"/>
          </p:cNvSpPr>
          <p:nvPr/>
        </p:nvSpPr>
        <p:spPr>
          <a:xfrm>
            <a:off x="8398895" y="3690936"/>
            <a:ext cx="1811866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750" b="1" dirty="0">
                <a:solidFill>
                  <a:srgbClr val="C17B00"/>
                </a:solidFill>
              </a:rPr>
              <a:t>动作序列队列</a:t>
            </a:r>
            <a:r>
              <a:rPr lang="en-US" altLang="zh-CN" sz="750" dirty="0">
                <a:solidFill>
                  <a:srgbClr val="C17B00"/>
                </a:solidFill>
                <a:latin typeface="Menlo"/>
              </a:rPr>
              <a:t>  (×100帧)</a:t>
            </a:r>
          </a:p>
        </p:txBody>
      </p:sp>
      <p:sp>
        <p:nvSpPr>
          <p:cNvPr id="212" name="UpArr">
            <a:extLst>
              <a:ext uri="{FF2B5EF4-FFF2-40B4-BE49-F238E27FC236}">
                <a16:creationId xmlns:a16="http://schemas.microsoft.com/office/drawing/2014/main" id="{57A58321-4B29-2911-10E5-1569E904ADD8}"/>
              </a:ext>
            </a:extLst>
          </p:cNvPr>
          <p:cNvSpPr>
            <a:spLocks noGrp="1"/>
          </p:cNvSpPr>
          <p:nvPr/>
        </p:nvSpPr>
        <p:spPr>
          <a:xfrm flipV="1">
            <a:off x="9215927" y="4123665"/>
            <a:ext cx="177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R2_Obs">
            <a:extLst>
              <a:ext uri="{FF2B5EF4-FFF2-40B4-BE49-F238E27FC236}">
                <a16:creationId xmlns:a16="http://schemas.microsoft.com/office/drawing/2014/main" id="{E37D8402-4C44-496F-BAB2-205028570C52}"/>
              </a:ext>
            </a:extLst>
          </p:cNvPr>
          <p:cNvSpPr>
            <a:spLocks noGrp="1"/>
          </p:cNvSpPr>
          <p:nvPr/>
        </p:nvSpPr>
        <p:spPr>
          <a:xfrm>
            <a:off x="6764829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2D7AB0"/>
                </a:solidFill>
              </a:rPr>
              <a:t>观测</a:t>
            </a:r>
          </a:p>
        </p:txBody>
      </p:sp>
      <p:sp>
        <p:nvSpPr>
          <p:cNvPr id="214" name="R2_Arr1">
            <a:extLst>
              <a:ext uri="{FF2B5EF4-FFF2-40B4-BE49-F238E27FC236}">
                <a16:creationId xmlns:a16="http://schemas.microsoft.com/office/drawing/2014/main" id="{8DF547C5-5DD7-0714-755B-9E3CF237B270}"/>
              </a:ext>
            </a:extLst>
          </p:cNvPr>
          <p:cNvSpPr>
            <a:spLocks noGrp="1"/>
          </p:cNvSpPr>
          <p:nvPr/>
        </p:nvSpPr>
        <p:spPr>
          <a:xfrm>
            <a:off x="8322695" y="4644365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R2_Infer">
            <a:extLst>
              <a:ext uri="{FF2B5EF4-FFF2-40B4-BE49-F238E27FC236}">
                <a16:creationId xmlns:a16="http://schemas.microsoft.com/office/drawing/2014/main" id="{8466BDE9-9F24-9DDE-286A-38E0CDC15781}"/>
              </a:ext>
            </a:extLst>
          </p:cNvPr>
          <p:cNvSpPr>
            <a:spLocks noGrp="1"/>
          </p:cNvSpPr>
          <p:nvPr/>
        </p:nvSpPr>
        <p:spPr>
          <a:xfrm>
            <a:off x="8525895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2D7AB0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推理（取队列）</a:t>
            </a:r>
          </a:p>
        </p:txBody>
      </p:sp>
      <p:sp>
        <p:nvSpPr>
          <p:cNvPr id="216" name="R2_Arr2">
            <a:extLst>
              <a:ext uri="{FF2B5EF4-FFF2-40B4-BE49-F238E27FC236}">
                <a16:creationId xmlns:a16="http://schemas.microsoft.com/office/drawing/2014/main" id="{1746E846-FCE0-70A4-5478-BAE8D5D66271}"/>
              </a:ext>
            </a:extLst>
          </p:cNvPr>
          <p:cNvSpPr>
            <a:spLocks noGrp="1"/>
          </p:cNvSpPr>
          <p:nvPr/>
        </p:nvSpPr>
        <p:spPr>
          <a:xfrm>
            <a:off x="10083760" y="4644365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R2_Exec">
            <a:extLst>
              <a:ext uri="{FF2B5EF4-FFF2-40B4-BE49-F238E27FC236}">
                <a16:creationId xmlns:a16="http://schemas.microsoft.com/office/drawing/2014/main" id="{F5C8BE0E-8BF4-2D17-C9B8-B8F26ED53874}"/>
              </a:ext>
            </a:extLst>
          </p:cNvPr>
          <p:cNvSpPr>
            <a:spLocks noGrp="1"/>
          </p:cNvSpPr>
          <p:nvPr/>
        </p:nvSpPr>
        <p:spPr>
          <a:xfrm>
            <a:off x="10286960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2D7AB0"/>
                </a:solidFill>
              </a:rPr>
              <a:t>执行</a:t>
            </a:r>
          </a:p>
        </p:txBody>
      </p:sp>
      <p:sp>
        <p:nvSpPr>
          <p:cNvPr id="218" name="R1InferSub">
            <a:extLst>
              <a:ext uri="{FF2B5EF4-FFF2-40B4-BE49-F238E27FC236}">
                <a16:creationId xmlns:a16="http://schemas.microsoft.com/office/drawing/2014/main" id="{2177759C-FD23-0FC2-DBF1-B6B0BE08F2FA}"/>
              </a:ext>
            </a:extLst>
          </p:cNvPr>
          <p:cNvSpPr txBox="1">
            <a:spLocks noGrp="1"/>
          </p:cNvSpPr>
          <p:nvPr/>
        </p:nvSpPr>
        <p:spPr>
          <a:xfrm>
            <a:off x="8525895" y="3411536"/>
            <a:ext cx="1557866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buNone/>
            </a:pPr>
            <a:r>
              <a:rPr lang="zh-CN" altLang="en-US" sz="700" b="0" dirty="0">
                <a:solidFill>
                  <a:srgbClr val="CCFFCC"/>
                </a:solidFill>
              </a:rPr>
              <a:t>策略模型推理</a:t>
            </a:r>
          </a:p>
        </p:txBody>
      </p:sp>
      <p:sp>
        <p:nvSpPr>
          <p:cNvPr id="219" name="R2InferSub">
            <a:extLst>
              <a:ext uri="{FF2B5EF4-FFF2-40B4-BE49-F238E27FC236}">
                <a16:creationId xmlns:a16="http://schemas.microsoft.com/office/drawing/2014/main" id="{B7278B9C-D4F8-3CA2-346E-0EFFF25A87F5}"/>
              </a:ext>
            </a:extLst>
          </p:cNvPr>
          <p:cNvSpPr txBox="1">
            <a:spLocks noGrp="1"/>
          </p:cNvSpPr>
          <p:nvPr/>
        </p:nvSpPr>
        <p:spPr>
          <a:xfrm>
            <a:off x="8525895" y="4784065"/>
            <a:ext cx="1557866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buNone/>
            </a:pPr>
            <a:r>
              <a:rPr lang="zh-CN" altLang="en-US" sz="700" b="0" dirty="0">
                <a:solidFill>
                  <a:srgbClr val="BDD9F0"/>
                </a:solidFill>
              </a:rPr>
              <a:t>无需重新推理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8A88B4-36AA-1FAB-2434-ECAEB015431F}"/>
              </a:ext>
            </a:extLst>
          </p:cNvPr>
          <p:cNvSpPr txBox="1"/>
          <p:nvPr/>
        </p:nvSpPr>
        <p:spPr>
          <a:xfrm>
            <a:off x="5798219" y="4806472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Episode</a:t>
            </a:r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60s</a:t>
            </a:r>
          </a:p>
          <a:p>
            <a:r>
              <a:rPr kumimoji="1" lang="zh-CN" altLang="en-US" dirty="0"/>
              <a:t>那这俩就三秒多</a:t>
            </a:r>
            <a:endParaRPr kumimoji="1" lang="en-US" altLang="zh-CN" dirty="0"/>
          </a:p>
          <a:p>
            <a:r>
              <a:rPr kumimoji="1" lang="zh-CN" altLang="en-US" dirty="0"/>
              <a:t>后面就一直重复这个三秒多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DA3437F1-C44C-3735-CA9B-41BA92A3667F}"/>
              </a:ext>
            </a:extLst>
          </p:cNvPr>
          <p:cNvCxnSpPr>
            <a:cxnSpLocks/>
            <a:stCxn id="208" idx="3"/>
            <a:endCxn id="213" idx="0"/>
          </p:cNvCxnSpPr>
          <p:nvPr/>
        </p:nvCxnSpPr>
        <p:spPr>
          <a:xfrm flipH="1">
            <a:off x="7543762" y="3360736"/>
            <a:ext cx="4301064" cy="1143929"/>
          </a:xfrm>
          <a:prstGeom prst="curvedConnector4">
            <a:avLst>
              <a:gd name="adj1" fmla="val -5315"/>
              <a:gd name="adj2" fmla="val 5999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曲线连接符 32">
            <a:extLst>
              <a:ext uri="{FF2B5EF4-FFF2-40B4-BE49-F238E27FC236}">
                <a16:creationId xmlns:a16="http://schemas.microsoft.com/office/drawing/2014/main" id="{56586751-5A1B-D250-0A50-22E5E30E58BC}"/>
              </a:ext>
            </a:extLst>
          </p:cNvPr>
          <p:cNvCxnSpPr>
            <a:cxnSpLocks/>
            <a:stCxn id="217" idx="2"/>
            <a:endCxn id="204" idx="1"/>
          </p:cNvCxnSpPr>
          <p:nvPr/>
        </p:nvCxnSpPr>
        <p:spPr>
          <a:xfrm rot="5400000" flipH="1">
            <a:off x="8114796" y="2010769"/>
            <a:ext cx="1601129" cy="4301064"/>
          </a:xfrm>
          <a:prstGeom prst="curvedConnector4">
            <a:avLst>
              <a:gd name="adj1" fmla="val -40236"/>
              <a:gd name="adj2" fmla="val 1053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8634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frame</a:t>
            </a:r>
            <a:r>
              <a:rPr lang="zh-CN" altLang="en-US" dirty="0"/>
              <a:t>涉及到的数据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D458B9-D0E1-5BA6-CD1B-B84EF60119B9}"/>
              </a:ext>
            </a:extLst>
          </p:cNvPr>
          <p:cNvSpPr/>
          <p:nvPr/>
        </p:nvSpPr>
        <p:spPr>
          <a:xfrm>
            <a:off x="2313033" y="930831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观测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42C66-FAB9-0B4F-580B-1E4B22434AFC}"/>
              </a:ext>
            </a:extLst>
          </p:cNvPr>
          <p:cNvSpPr/>
          <p:nvPr/>
        </p:nvSpPr>
        <p:spPr>
          <a:xfrm>
            <a:off x="4363039" y="930831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推理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E75683-DC2D-6D19-7F4A-977EE4734C35}"/>
              </a:ext>
            </a:extLst>
          </p:cNvPr>
          <p:cNvSpPr/>
          <p:nvPr/>
        </p:nvSpPr>
        <p:spPr>
          <a:xfrm>
            <a:off x="8717279" y="935345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84D2BC-435B-CBDC-21AE-240C00F12AEE}"/>
              </a:ext>
            </a:extLst>
          </p:cNvPr>
          <p:cNvSpPr txBox="1"/>
          <p:nvPr/>
        </p:nvSpPr>
        <p:spPr>
          <a:xfrm>
            <a:off x="82549" y="1316358"/>
            <a:ext cx="3705679" cy="328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RobotObservation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get_observation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RobotObservation: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Any]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000" dirty="0" err="1"/>
              <a:t>obs</a:t>
            </a:r>
            <a:r>
              <a:rPr lang="en-US" altLang="zh-CN" sz="1000" dirty="0"/>
              <a:t> = {</a:t>
            </a:r>
          </a:p>
          <a:p>
            <a:r>
              <a:rPr lang="en-US" altLang="zh-CN" sz="1000" dirty="0"/>
              <a:t># === </a:t>
            </a:r>
            <a:r>
              <a:rPr lang="zh-CN" altLang="en-US" sz="1000" dirty="0"/>
              <a:t>关节状态 </a:t>
            </a:r>
            <a:r>
              <a:rPr lang="en-US" altLang="zh-CN" sz="1000" dirty="0"/>
              <a:t>(6</a:t>
            </a:r>
            <a:r>
              <a:rPr lang="zh-CN" altLang="en-US" sz="1000" dirty="0"/>
              <a:t>个关节</a:t>
            </a:r>
            <a:r>
              <a:rPr lang="en-US" altLang="zh-CN" sz="1000" dirty="0"/>
              <a:t>) ===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shoulder_pan.pos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15.5</a:t>
            </a:r>
            <a:endParaRPr lang="en-US" altLang="zh-CN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shoulder_lift.pos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A56416"/>
                </a:solidFill>
                <a:latin typeface="Menlo" panose="020B0609030804020204" pitchFamily="49" charset="0"/>
              </a:rPr>
              <a:t>-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30.2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elbow_flex.pos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45.0</a:t>
            </a:r>
            <a:r>
              <a:rPr lang="en-US" altLang="zh-CN" sz="1000" dirty="0"/>
              <a:t> 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wrist_flex.pos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A56416"/>
                </a:solidFill>
                <a:latin typeface="Menlo" panose="020B0609030804020204" pitchFamily="49" charset="0"/>
              </a:rPr>
              <a:t>-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20.0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wrist_roll.pos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10.0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gripper.pos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80.0</a:t>
            </a:r>
            <a:r>
              <a:rPr lang="en-US" altLang="zh-CN" sz="1000" dirty="0"/>
              <a:t> </a:t>
            </a:r>
          </a:p>
          <a:p>
            <a:r>
              <a:rPr lang="en-US" altLang="zh-CN" sz="1000" dirty="0"/>
              <a:t># === </a:t>
            </a:r>
            <a:r>
              <a:rPr lang="zh-CN" altLang="en-US" sz="1000" dirty="0"/>
              <a:t>相机图像 </a:t>
            </a:r>
            <a:r>
              <a:rPr lang="en-US" altLang="zh-CN" sz="1000" dirty="0"/>
              <a:t>(2</a:t>
            </a:r>
            <a:r>
              <a:rPr lang="zh-CN" altLang="en-US" sz="1000" dirty="0"/>
              <a:t>个相机</a:t>
            </a:r>
            <a:r>
              <a:rPr lang="en-US" altLang="zh-CN" sz="1000" dirty="0"/>
              <a:t>) ===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handeye</a:t>
            </a:r>
            <a:r>
              <a:rPr lang="en-US" altLang="zh-CN" sz="1000" dirty="0"/>
              <a:t>": </a:t>
            </a:r>
            <a:r>
              <a:rPr lang="en-US" altLang="zh-CN" sz="1000" dirty="0" err="1"/>
              <a:t>np.ndarray</a:t>
            </a:r>
            <a:r>
              <a:rPr lang="en-US" altLang="zh-CN" sz="1000" dirty="0"/>
              <a:t>(shape=(360, 640, 3),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=uint8), # </a:t>
            </a:r>
            <a:r>
              <a:rPr lang="zh-CN" altLang="en-US" sz="1000" dirty="0"/>
              <a:t>手眼相机</a:t>
            </a:r>
          </a:p>
          <a:p>
            <a:r>
              <a:rPr lang="en-US" altLang="zh-CN" sz="1000" dirty="0"/>
              <a:t>"fixed": </a:t>
            </a:r>
            <a:r>
              <a:rPr lang="en-US" altLang="zh-CN" sz="1000" dirty="0" err="1"/>
              <a:t>np.</a:t>
            </a:r>
            <a:r>
              <a:rPr lang="en-US" altLang="zh-CN" sz="1000" dirty="0" err="1">
                <a:highlight>
                  <a:srgbClr val="FFFF00"/>
                </a:highlight>
              </a:rPr>
              <a:t>ndarray</a:t>
            </a:r>
            <a:r>
              <a:rPr lang="en-US" altLang="zh-CN" sz="1000" dirty="0"/>
              <a:t>(shape=(360, 640, 3),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=uint8), # </a:t>
            </a:r>
            <a:r>
              <a:rPr lang="zh-CN" altLang="en-US" sz="1000" dirty="0"/>
              <a:t>固定相机</a:t>
            </a:r>
          </a:p>
          <a:p>
            <a:r>
              <a:rPr lang="en-US" altLang="zh-CN" sz="1000" dirty="0"/>
              <a:t>}</a:t>
            </a:r>
          </a:p>
          <a:p>
            <a:endParaRPr lang="en-US" altLang="zh-CN" sz="1000" dirty="0"/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build_dataset_frame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endParaRPr lang="zh-CN" altLang="en-US" sz="1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C383E3-A2F6-B9AE-0FE3-B9B1D7EC6E49}"/>
              </a:ext>
            </a:extLst>
          </p:cNvPr>
          <p:cNvSpPr txBox="1"/>
          <p:nvPr/>
        </p:nvSpPr>
        <p:spPr>
          <a:xfrm>
            <a:off x="96611" y="5412102"/>
            <a:ext cx="8246205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从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Any]-&gt;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转换为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build_dataset_frame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dirty="0" err="1">
                <a:solidFill>
                  <a:srgbClr val="333333"/>
                </a:solidFill>
                <a:latin typeface="Menlo" panose="020B0609030804020204" pitchFamily="49" charset="0"/>
              </a:rPr>
              <a:t>obs</a:t>
            </a:r>
            <a:r>
              <a:rPr lang="en-US" altLang="zh-CN" sz="1000" dirty="0">
                <a:solidFill>
                  <a:srgbClr val="333333"/>
                </a:solidFill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altLang="zh-CN" sz="1000" dirty="0" err="1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np.ndarray</a:t>
            </a:r>
            <a:r>
              <a:rPr lang="en-US" altLang="zh-CN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 (NumPy </a:t>
            </a:r>
            <a:r>
              <a:rPr lang="zh-CN" altLang="en-US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数组</a:t>
            </a:r>
            <a:r>
              <a:rPr lang="en-US" altLang="zh-CN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)</a:t>
            </a:r>
            <a:r>
              <a:rPr lang="en-US" altLang="zh-CN" sz="1000" dirty="0">
                <a:highlight>
                  <a:srgbClr val="C0C0C0"/>
                </a:highlight>
              </a:rPr>
              <a:t> </a:t>
            </a:r>
            <a:r>
              <a:rPr lang="en-US" altLang="zh-CN" sz="1000" dirty="0" err="1"/>
              <a:t>np.ndarray</a:t>
            </a:r>
            <a:r>
              <a:rPr lang="en-US" altLang="zh-CN" sz="1000" dirty="0"/>
              <a:t>(shape=(H, W, C),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62EF7D-B325-C3E5-77EB-0E181C197DFF}"/>
              </a:ext>
            </a:extLst>
          </p:cNvPr>
          <p:cNvSpPr txBox="1"/>
          <p:nvPr/>
        </p:nvSpPr>
        <p:spPr>
          <a:xfrm>
            <a:off x="3788228" y="1328600"/>
            <a:ext cx="4929051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00" b="0" dirty="0">
                <a:effectLst/>
                <a:latin typeface="Menlo" panose="020B0609030804020204" pitchFamily="49" charset="0"/>
              </a:rPr>
              <a:t>推理得到输出</a:t>
            </a:r>
            <a:endParaRPr lang="en-US" altLang="zh-CN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action_values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predict_action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dirty="0" err="1">
                <a:solidFill>
                  <a:srgbClr val="428226"/>
                </a:solidFill>
                <a:latin typeface="Menlo" panose="020B0609030804020204" pitchFamily="49" charset="0"/>
              </a:rPr>
              <a:t>observation_frame</a:t>
            </a:r>
            <a:r>
              <a:rPr lang="en-US" altLang="zh-CN" sz="1000" dirty="0">
                <a:solidFill>
                  <a:srgbClr val="428226"/>
                </a:solidFill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000" dirty="0" err="1"/>
              <a:t>action_values</a:t>
            </a:r>
            <a:r>
              <a:rPr lang="en-US" altLang="zh-CN" sz="1000" dirty="0"/>
              <a:t> </a:t>
            </a:r>
            <a:r>
              <a:rPr lang="en-US" altLang="zh-CN" sz="1000" dirty="0">
                <a:highlight>
                  <a:srgbClr val="FFFF00"/>
                </a:highlight>
              </a:rPr>
              <a:t>= </a:t>
            </a:r>
            <a:r>
              <a:rPr lang="en-US" altLang="zh-CN" sz="1000" dirty="0" err="1">
                <a:highlight>
                  <a:srgbClr val="FFFF00"/>
                </a:highlight>
              </a:rPr>
              <a:t>np.array</a:t>
            </a:r>
            <a:r>
              <a:rPr lang="en-US" altLang="zh-CN" sz="1000" dirty="0">
                <a:highlight>
                  <a:srgbClr val="FFFF00"/>
                </a:highlight>
              </a:rPr>
              <a:t>([15.5, -30.2, 45.0, -20.0, 10.0, 80.0], </a:t>
            </a:r>
            <a:r>
              <a:rPr lang="en-US" altLang="zh-CN" sz="1000" dirty="0" err="1">
                <a:highlight>
                  <a:srgbClr val="FFFF00"/>
                </a:highlight>
              </a:rPr>
              <a:t>dtype</a:t>
            </a:r>
            <a:r>
              <a:rPr lang="en-US" altLang="zh-CN" sz="1000" dirty="0">
                <a:highlight>
                  <a:srgbClr val="FFFF00"/>
                </a:highlight>
              </a:rPr>
              <a:t>=np.float32)</a:t>
            </a:r>
          </a:p>
          <a:p>
            <a:endParaRPr kumimoji="1" lang="en-US" altLang="zh-CN" sz="1000" dirty="0">
              <a:solidFill>
                <a:srgbClr val="333333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altLang="zh-CN" sz="1000" dirty="0"/>
              <a:t># </a:t>
            </a:r>
            <a:r>
              <a:rPr lang="zh-CN" altLang="en-US" sz="1000" dirty="0"/>
              <a:t>将 </a:t>
            </a:r>
            <a:r>
              <a:rPr lang="en-US" altLang="zh-CN" sz="1000" dirty="0" err="1"/>
              <a:t>numpy</a:t>
            </a:r>
            <a:r>
              <a:rPr lang="en-US" altLang="zh-CN" sz="1000" dirty="0"/>
              <a:t> </a:t>
            </a:r>
            <a:r>
              <a:rPr lang="zh-CN" altLang="en-US" sz="1000" dirty="0"/>
              <a:t>动作数组转换为 </a:t>
            </a:r>
            <a:r>
              <a:rPr lang="en-US" altLang="zh-CN" sz="1000" dirty="0" err="1"/>
              <a:t>RobotAction</a:t>
            </a:r>
            <a:r>
              <a:rPr lang="en-US" altLang="zh-CN" sz="1000" dirty="0"/>
              <a:t> </a:t>
            </a:r>
            <a:r>
              <a:rPr lang="zh-CN" altLang="en-US" sz="1000" dirty="0">
                <a:highlight>
                  <a:srgbClr val="FFFF00"/>
                </a:highlight>
              </a:rPr>
              <a:t>字典格式</a:t>
            </a:r>
            <a:endParaRPr lang="en-US" altLang="zh-CN" sz="1000" dirty="0">
              <a:highlight>
                <a:srgbClr val="FFFF00"/>
              </a:highlight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act_processed_policy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RobotAction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"{name}"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float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action_values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])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name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action_names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US" altLang="zh-CN" sz="1000" dirty="0"/>
          </a:p>
          <a:p>
            <a:r>
              <a:rPr lang="en-US" altLang="zh-CN" sz="1000" dirty="0" err="1">
                <a:solidFill>
                  <a:srgbClr val="428226"/>
                </a:solidFill>
                <a:latin typeface="Menlo" panose="020B0609030804020204" pitchFamily="49" charset="0"/>
              </a:rPr>
              <a:t>act_processed_policy</a:t>
            </a:r>
            <a:r>
              <a:rPr lang="en-US" altLang="zh-CN" sz="1000" dirty="0"/>
              <a:t>= {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shoulder_pan.pos</a:t>
            </a:r>
            <a:r>
              <a:rPr lang="en-US" altLang="zh-CN" sz="1000" dirty="0"/>
              <a:t>": 15.5, # </a:t>
            </a:r>
            <a:r>
              <a:rPr lang="zh-CN" altLang="en-US" sz="1000" dirty="0"/>
              <a:t>目标角度 </a:t>
            </a:r>
            <a:r>
              <a:rPr lang="en-US" altLang="zh-CN" sz="1000" dirty="0"/>
              <a:t>(degrees)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shoulder_lift.pos</a:t>
            </a:r>
            <a:r>
              <a:rPr lang="en-US" altLang="zh-CN" sz="1000" dirty="0"/>
              <a:t>": -30.2,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elbow_flex.pos</a:t>
            </a:r>
            <a:r>
              <a:rPr lang="en-US" altLang="zh-CN" sz="1000" dirty="0"/>
              <a:t>": 45.0,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wrist_flex.pos</a:t>
            </a:r>
            <a:r>
              <a:rPr lang="en-US" altLang="zh-CN" sz="1000" dirty="0"/>
              <a:t>": -20.0,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wrist_roll.pos</a:t>
            </a:r>
            <a:r>
              <a:rPr lang="en-US" altLang="zh-CN" sz="1000" dirty="0"/>
              <a:t>": 10.0,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gripper.pos</a:t>
            </a:r>
            <a:r>
              <a:rPr lang="en-US" altLang="zh-CN" sz="1000" dirty="0"/>
              <a:t>": 80.0, # </a:t>
            </a:r>
            <a:r>
              <a:rPr lang="zh-CN" altLang="en-US" sz="1000" dirty="0"/>
              <a:t>夹爪目标位置</a:t>
            </a:r>
          </a:p>
          <a:p>
            <a:r>
              <a:rPr lang="en-US" altLang="zh-CN" sz="1000" dirty="0"/>
              <a:t>}</a:t>
            </a:r>
            <a:endParaRPr lang="zh-CN" altLang="en-US" sz="1000" dirty="0"/>
          </a:p>
          <a:p>
            <a:endParaRPr lang="zh-CN" altLang="en-US" sz="1000" dirty="0"/>
          </a:p>
          <a:p>
            <a:endParaRPr kumimoji="1" lang="zh-CN" altLang="en-US" sz="1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978888-8D29-DADC-9333-5095321D8779}"/>
              </a:ext>
            </a:extLst>
          </p:cNvPr>
          <p:cNvSpPr txBox="1"/>
          <p:nvPr/>
        </p:nvSpPr>
        <p:spPr>
          <a:xfrm>
            <a:off x="8717279" y="1521786"/>
            <a:ext cx="2865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/>
              <a:t>robot_action_to_send</a:t>
            </a:r>
            <a:r>
              <a:rPr lang="en-US" altLang="zh-CN" sz="1000" dirty="0"/>
              <a:t>: </a:t>
            </a:r>
            <a:r>
              <a:rPr lang="en-US" altLang="zh-CN" sz="1000" dirty="0" err="1"/>
              <a:t>RobotAction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robot_action_processor</a:t>
            </a:r>
            <a:r>
              <a:rPr lang="en-US" altLang="zh-CN" sz="1000" dirty="0"/>
              <a:t>((</a:t>
            </a:r>
            <a:r>
              <a:rPr lang="en-US" altLang="zh-CN" sz="1000" dirty="0" err="1"/>
              <a:t>act_processed_policy</a:t>
            </a:r>
            <a:r>
              <a:rPr lang="en-US" altLang="zh-CN" sz="1000" dirty="0"/>
              <a:t>, </a:t>
            </a:r>
            <a:r>
              <a:rPr lang="en-US" altLang="zh-CN" sz="1000" dirty="0" err="1"/>
              <a:t>obs</a:t>
            </a:r>
            <a:r>
              <a:rPr lang="en-US" altLang="zh-CN" sz="1000" dirty="0"/>
              <a:t>))</a:t>
            </a:r>
          </a:p>
          <a:p>
            <a:endParaRPr lang="en-US" altLang="zh-CN" sz="1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7AABCE-0A6C-1DB0-2471-4C5161696A89}"/>
              </a:ext>
            </a:extLst>
          </p:cNvPr>
          <p:cNvSpPr txBox="1"/>
          <p:nvPr/>
        </p:nvSpPr>
        <p:spPr>
          <a:xfrm>
            <a:off x="604335" y="4432059"/>
            <a:ext cx="7720331" cy="97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observation.state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15.5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30.2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45.0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10.0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80.0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np.float32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observation.images.handeye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360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640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uint8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observation.images.fixed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360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640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uint8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F7B49F-A5A5-7418-B5D2-05FE5DA0E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31948" y="2623781"/>
            <a:ext cx="4345696" cy="3259272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174E9D41-4E78-5FDA-DDE2-0C07CB7C1B47}"/>
              </a:ext>
            </a:extLst>
          </p:cNvPr>
          <p:cNvSpPr/>
          <p:nvPr/>
        </p:nvSpPr>
        <p:spPr>
          <a:xfrm>
            <a:off x="9767454" y="6004243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4229077-2153-3438-C251-32B4C4009DF6}"/>
              </a:ext>
            </a:extLst>
          </p:cNvPr>
          <p:cNvSpPr/>
          <p:nvPr/>
        </p:nvSpPr>
        <p:spPr>
          <a:xfrm>
            <a:off x="10404796" y="5229710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541C376-260C-522A-DCCC-2705EC6B74C2}"/>
              </a:ext>
            </a:extLst>
          </p:cNvPr>
          <p:cNvSpPr/>
          <p:nvPr/>
        </p:nvSpPr>
        <p:spPr>
          <a:xfrm>
            <a:off x="8803036" y="4718003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DCD0373-6B8D-4CD7-93C1-84B7C0AFEC56}"/>
              </a:ext>
            </a:extLst>
          </p:cNvPr>
          <p:cNvSpPr/>
          <p:nvPr/>
        </p:nvSpPr>
        <p:spPr>
          <a:xfrm>
            <a:off x="9359783" y="3452599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4B703A1-0776-8907-D05D-B14B73426F19}"/>
              </a:ext>
            </a:extLst>
          </p:cNvPr>
          <p:cNvSpPr/>
          <p:nvPr/>
        </p:nvSpPr>
        <p:spPr>
          <a:xfrm>
            <a:off x="10127705" y="3912332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62B5A04-B0DA-6F78-6C06-3CBD4E2B9592}"/>
              </a:ext>
            </a:extLst>
          </p:cNvPr>
          <p:cNvSpPr/>
          <p:nvPr/>
        </p:nvSpPr>
        <p:spPr>
          <a:xfrm>
            <a:off x="10859168" y="4154968"/>
            <a:ext cx="277091" cy="277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78BEFCB-42A2-B9C8-8D63-9599ABCC379C}"/>
              </a:ext>
            </a:extLst>
          </p:cNvPr>
          <p:cNvSpPr/>
          <p:nvPr/>
        </p:nvSpPr>
        <p:spPr>
          <a:xfrm>
            <a:off x="9717301" y="2915228"/>
            <a:ext cx="277091" cy="2770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0435F23-C785-4356-1D3D-AE4BB1E35E18}"/>
              </a:ext>
            </a:extLst>
          </p:cNvPr>
          <p:cNvSpPr/>
          <p:nvPr/>
        </p:nvSpPr>
        <p:spPr>
          <a:xfrm>
            <a:off x="10850578" y="2229672"/>
            <a:ext cx="277091" cy="2770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1D5B-5F24-474D-14F7-7B8FE84D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FCAE66E-491E-92F8-8FC6-ED659E5F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舵机执行逻辑</a:t>
            </a:r>
            <a:endParaRPr lang="en-US" altLang="zh-CN" dirty="0"/>
          </a:p>
        </p:txBody>
      </p:sp>
      <p:sp>
        <p:nvSpPr>
          <p:cNvPr id="101" name="box_101"/>
          <p:cNvSpPr>
            <a:spLocks noGrp="1"/>
          </p:cNvSpPr>
          <p:nvPr/>
        </p:nvSpPr>
        <p:spPr>
          <a:xfrm>
            <a:off x="680358" y="11590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6C39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record.py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推理逻辑：观测推理执行的循环 record_loop()</a:t>
            </a:r>
          </a:p>
        </p:txBody>
      </p:sp>
      <p:sp>
        <p:nvSpPr>
          <p:cNvPr id="200" name="arrow_200"/>
          <p:cNvSpPr txBox="1"/>
          <p:nvPr/>
        </p:nvSpPr>
        <p:spPr>
          <a:xfrm>
            <a:off x="680358" y="16924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</a:t>
            </a:r>
          </a:p>
        </p:txBody>
      </p:sp>
      <p:sp>
        <p:nvSpPr>
          <p:cNvPr id="102" name="box_102"/>
          <p:cNvSpPr>
            <a:spLocks noGrp="1"/>
          </p:cNvSpPr>
          <p:nvPr/>
        </p:nvSpPr>
        <p:spPr>
          <a:xfrm>
            <a:off x="680358" y="19464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6C39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so101_follower.py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机器人层：机器人业务逻辑（观测/</a:t>
            </a:r>
            <a:r>
              <a:rPr lang="zh-CN" altLang="en-US" sz="1050" dirty="0">
                <a:solidFill>
                  <a:srgbClr val="CCEECC"/>
                </a:solidFill>
              </a:rPr>
              <a:t>执行</a:t>
            </a:r>
            <a:r>
              <a:rPr lang="zh-CN" altLang="en-US" sz="1050" b="0" dirty="0">
                <a:solidFill>
                  <a:srgbClr val="CCEECC"/>
                </a:solidFill>
              </a:rPr>
              <a:t>）</a:t>
            </a:r>
          </a:p>
        </p:txBody>
      </p:sp>
      <p:sp>
        <p:nvSpPr>
          <p:cNvPr id="201" name="arrow_201"/>
          <p:cNvSpPr txBox="1"/>
          <p:nvPr/>
        </p:nvSpPr>
        <p:spPr>
          <a:xfrm>
            <a:off x="680358" y="24798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</a:t>
            </a:r>
            <a:r>
              <a:rPr lang="zh-CN" altLang="en-US" sz="1600" b="0" dirty="0">
                <a:solidFill>
                  <a:srgbClr val="555555"/>
                </a:solidFill>
                <a:latin typeface="Consolas"/>
              </a:rPr>
              <a:t>self.bus</a:t>
            </a:r>
            <a:endParaRPr lang="zh-CN" altLang="en-US" sz="1050" b="0" dirty="0">
              <a:solidFill>
                <a:srgbClr val="555555"/>
              </a:solidFill>
              <a:latin typeface="Consolas"/>
            </a:endParaRPr>
          </a:p>
        </p:txBody>
      </p:sp>
      <p:sp>
        <p:nvSpPr>
          <p:cNvPr id="103" name="box_103"/>
          <p:cNvSpPr>
            <a:spLocks noGrp="1"/>
          </p:cNvSpPr>
          <p:nvPr/>
        </p:nvSpPr>
        <p:spPr>
          <a:xfrm>
            <a:off x="680358" y="27338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motors_bus.py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舵机总线层：协议无关的抽象（下面支持不同的硬件）</a:t>
            </a:r>
          </a:p>
        </p:txBody>
      </p:sp>
      <p:sp>
        <p:nvSpPr>
          <p:cNvPr id="202" name="arrow_202"/>
          <p:cNvSpPr txBox="1"/>
          <p:nvPr/>
        </p:nvSpPr>
        <p:spPr>
          <a:xfrm>
            <a:off x="680358" y="32672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继承</a:t>
            </a:r>
          </a:p>
        </p:txBody>
      </p:sp>
      <p:sp>
        <p:nvSpPr>
          <p:cNvPr id="104" name="box_104"/>
          <p:cNvSpPr>
            <a:spLocks noGrp="1"/>
          </p:cNvSpPr>
          <p:nvPr/>
        </p:nvSpPr>
        <p:spPr>
          <a:xfrm>
            <a:off x="680358" y="35212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feetech/feetech.py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r>
              <a:rPr lang="zh-CN" altLang="en-US" sz="1050" b="0" dirty="0">
                <a:solidFill>
                  <a:srgbClr val="CCEECC"/>
                </a:solidFill>
              </a:rPr>
              <a:t>硬件实现层：把上层通用的电机操作，变成 </a:t>
            </a:r>
            <a:r>
              <a:rPr lang="en-US" altLang="zh-CN" sz="1050" b="0" dirty="0" err="1">
                <a:solidFill>
                  <a:srgbClr val="CCEECC"/>
                </a:solidFill>
              </a:rPr>
              <a:t>Feetech</a:t>
            </a:r>
            <a:r>
              <a:rPr lang="en-US" altLang="zh-CN" sz="1050" b="0" dirty="0">
                <a:solidFill>
                  <a:srgbClr val="CCEECC"/>
                </a:solidFill>
              </a:rPr>
              <a:t> </a:t>
            </a:r>
            <a:r>
              <a:rPr lang="zh-CN" altLang="en-US" sz="1050" b="0" dirty="0">
                <a:solidFill>
                  <a:srgbClr val="CCEECC"/>
                </a:solidFill>
              </a:rPr>
              <a:t>舵机特有的寄存器地址、编码格式和协议调用。</a:t>
            </a:r>
          </a:p>
        </p:txBody>
      </p:sp>
      <p:sp>
        <p:nvSpPr>
          <p:cNvPr id="203" name="arrow_203"/>
          <p:cNvSpPr txBox="1"/>
          <p:nvPr/>
        </p:nvSpPr>
        <p:spPr>
          <a:xfrm>
            <a:off x="680358" y="40546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import scservo_sdk as scs</a:t>
            </a:r>
          </a:p>
        </p:txBody>
      </p:sp>
      <p:sp>
        <p:nvSpPr>
          <p:cNvPr id="105" name="box_105"/>
          <p:cNvSpPr>
            <a:spLocks noGrp="1"/>
          </p:cNvSpPr>
          <p:nvPr/>
        </p:nvSpPr>
        <p:spPr>
          <a:xfrm>
            <a:off x="680358" y="43086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scservo_sdk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SDK层：组包/拆包、串口收发（GroupSyncRead/GroupSyncWrite）</a:t>
            </a:r>
          </a:p>
        </p:txBody>
      </p:sp>
      <p:sp>
        <p:nvSpPr>
          <p:cNvPr id="204" name="arrow_204"/>
          <p:cNvSpPr txBox="1"/>
          <p:nvPr/>
        </p:nvSpPr>
        <p:spPr>
          <a:xfrm>
            <a:off x="680358" y="48420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/dev/ttyACM0</a:t>
            </a:r>
          </a:p>
        </p:txBody>
      </p:sp>
      <p:sp>
        <p:nvSpPr>
          <p:cNvPr id="106" name="box_106"/>
          <p:cNvSpPr>
            <a:spLocks noGrp="1"/>
          </p:cNvSpPr>
          <p:nvPr/>
        </p:nvSpPr>
        <p:spPr>
          <a:xfrm>
            <a:off x="680358" y="50960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A13F0B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STS-3215 × 6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物理层 · /dev/ttyACM0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E88FC7-C3DF-D336-FCE2-85243328CCAD}"/>
              </a:ext>
            </a:extLst>
          </p:cNvPr>
          <p:cNvSpPr txBox="1"/>
          <p:nvPr/>
        </p:nvSpPr>
        <p:spPr>
          <a:xfrm>
            <a:off x="5074261" y="1099079"/>
            <a:ext cx="747296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4282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RobotObservation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robot.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get_observation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altLang="zh-CN" sz="1400" dirty="0">
                <a:solidFill>
                  <a:srgbClr val="969696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 err="1">
                <a:solidFill>
                  <a:srgbClr val="969696"/>
                </a:solidFill>
                <a:latin typeface="Menlo" panose="020B0609030804020204" pitchFamily="49" charset="0"/>
              </a:rPr>
              <a:t>dict</a:t>
            </a:r>
            <a:r>
              <a:rPr lang="en-US" altLang="zh-CN" sz="1400" dirty="0">
                <a:solidFill>
                  <a:srgbClr val="969696"/>
                </a:solidFill>
                <a:latin typeface="Menlo" panose="020B0609030804020204" pitchFamily="49" charset="0"/>
              </a:rPr>
              <a:t>[str, Any]</a:t>
            </a:r>
            <a:endParaRPr lang="en-US" altLang="zh-CN" sz="1400" dirty="0">
              <a:solidFill>
                <a:srgbClr val="428226"/>
              </a:solidFill>
              <a:latin typeface="Menlo" panose="020B060903080402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FF0EBE-DA6F-A6CD-9D31-8B36DEFCE4F9}"/>
              </a:ext>
            </a:extLst>
          </p:cNvPr>
          <p:cNvSpPr txBox="1"/>
          <p:nvPr/>
        </p:nvSpPr>
        <p:spPr>
          <a:xfrm>
            <a:off x="5074261" y="1496265"/>
            <a:ext cx="54886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 err="1"/>
              <a:t>obs_dict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self.bus.sync_read</a:t>
            </a:r>
            <a:r>
              <a:rPr lang="en-US" altLang="zh-CN" sz="1400" dirty="0"/>
              <a:t>("</a:t>
            </a:r>
            <a:r>
              <a:rPr lang="en-US" altLang="zh-CN" sz="1400" dirty="0" err="1">
                <a:highlight>
                  <a:srgbClr val="FFFF00"/>
                </a:highlight>
              </a:rPr>
              <a:t>Present_Position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 err="1"/>
              <a:t>self.bus.sync_write</a:t>
            </a:r>
            <a:r>
              <a:rPr lang="en-US" altLang="zh-CN" sz="1400" dirty="0"/>
              <a:t>("</a:t>
            </a:r>
            <a:r>
              <a:rPr lang="en-US" altLang="zh-CN" sz="1400" dirty="0" err="1">
                <a:highlight>
                  <a:srgbClr val="FFFF00"/>
                </a:highlight>
              </a:rPr>
              <a:t>Goal_Position</a:t>
            </a:r>
            <a:r>
              <a:rPr lang="en-US" altLang="zh-CN" sz="1400" dirty="0"/>
              <a:t>", </a:t>
            </a:r>
            <a:r>
              <a:rPr lang="en-US" altLang="zh-CN" sz="1400" dirty="0" err="1"/>
              <a:t>goal_pos</a:t>
            </a:r>
            <a:r>
              <a:rPr lang="en-US" altLang="zh-CN" sz="1400" dirty="0"/>
              <a:t>)</a:t>
            </a:r>
          </a:p>
          <a:p>
            <a:pPr>
              <a:buNone/>
            </a:pPr>
            <a:r>
              <a:rPr lang="en-US" altLang="zh-CN" sz="1400" dirty="0" err="1"/>
              <a:t>Present_</a:t>
            </a:r>
            <a:r>
              <a:rPr lang="en-US" altLang="zh-CN" sz="1400" dirty="0" err="1">
                <a:highlight>
                  <a:srgbClr val="FFFF00"/>
                </a:highlight>
              </a:rPr>
              <a:t>Position</a:t>
            </a:r>
            <a:r>
              <a:rPr lang="zh-CN" altLang="en-US" sz="1400" dirty="0"/>
              <a:t>会在下面被解析成寄存器地址偏移量</a:t>
            </a:r>
            <a:r>
              <a:rPr lang="en-US" altLang="zh-CN" sz="1400" dirty="0" err="1"/>
              <a:t>addr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 err="1"/>
              <a:t>goal_pos</a:t>
            </a:r>
            <a:r>
              <a:rPr lang="zh-CN" altLang="en-US" sz="1400" dirty="0"/>
              <a:t>是要写入对</a:t>
            </a:r>
            <a:r>
              <a:rPr lang="en-US" altLang="zh-CN" sz="1400" dirty="0" err="1"/>
              <a:t>dict</a:t>
            </a:r>
            <a:r>
              <a:rPr lang="zh-CN" altLang="en-US" sz="1400" dirty="0"/>
              <a:t>进行一次去掉</a:t>
            </a:r>
            <a:r>
              <a:rPr lang="en-US" altLang="zh-CN" sz="1400" dirty="0"/>
              <a:t>”.pos”</a:t>
            </a:r>
            <a:r>
              <a:rPr lang="zh-CN" altLang="en-US" sz="1400" dirty="0"/>
              <a:t>字符的预处理</a:t>
            </a:r>
            <a:endParaRPr lang="en-US" altLang="zh-CN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367D80-8B39-AE1E-6F92-C7C8B79D9124}"/>
              </a:ext>
            </a:extLst>
          </p:cNvPr>
          <p:cNvSpPr txBox="1"/>
          <p:nvPr/>
        </p:nvSpPr>
        <p:spPr>
          <a:xfrm>
            <a:off x="5048518" y="2479429"/>
            <a:ext cx="7067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ids_values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sync_read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num_retry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num_retry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raise_on_error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err_msg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...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kumimoji="1" lang="en-US" altLang="zh-CN" sz="1400" dirty="0"/>
              <a:t>ids</a:t>
            </a:r>
            <a:r>
              <a:rPr kumimoji="1" lang="zh-CN" altLang="en-US" sz="1400" dirty="0"/>
              <a:t>是</a:t>
            </a:r>
            <a:r>
              <a:rPr kumimoji="1" lang="en-US" altLang="zh-CN" sz="1400" dirty="0"/>
              <a:t>123456</a:t>
            </a:r>
            <a:r>
              <a:rPr kumimoji="1" lang="zh-CN" altLang="en-US" sz="1400" dirty="0"/>
              <a:t>六个关节，</a:t>
            </a:r>
            <a:r>
              <a:rPr lang="en-US" altLang="zh-CN" sz="1400" dirty="0">
                <a:solidFill>
                  <a:srgbClr val="3778B7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 err="1">
                <a:solidFill>
                  <a:srgbClr val="3778B7"/>
                </a:solidFill>
                <a:latin typeface="Menlo" panose="020B0609030804020204" pitchFamily="49" charset="0"/>
              </a:rPr>
              <a:t>addr</a:t>
            </a:r>
            <a:r>
              <a:rPr lang="zh-CN" altLang="en-US" sz="1400" dirty="0">
                <a:solidFill>
                  <a:srgbClr val="3778B7"/>
                </a:solidFill>
                <a:latin typeface="Menlo" panose="020B0609030804020204" pitchFamily="49" charset="0"/>
              </a:rPr>
              <a:t>是寄存器偏移地址，</a:t>
            </a:r>
            <a:r>
              <a:rPr lang="en-US" altLang="zh-CN" sz="1400" dirty="0" err="1">
                <a:solidFill>
                  <a:srgbClr val="3778B7"/>
                </a:solidFill>
                <a:latin typeface="Menlo" panose="020B0609030804020204" pitchFamily="49" charset="0"/>
              </a:rPr>
              <a:t>len</a:t>
            </a:r>
            <a:r>
              <a:rPr lang="zh-CN" altLang="en-US" sz="1400" dirty="0">
                <a:solidFill>
                  <a:srgbClr val="3778B7"/>
                </a:solidFill>
                <a:latin typeface="Menlo" panose="020B0609030804020204" pitchFamily="49" charset="0"/>
              </a:rPr>
              <a:t>字节数</a:t>
            </a:r>
            <a:endParaRPr kumimoji="1" lang="en-US" altLang="zh-CN" sz="1400" dirty="0"/>
          </a:p>
          <a:p>
            <a:r>
              <a:rPr lang="en-US" altLang="zh-CN" sz="1400" dirty="0" err="1"/>
              <a:t>Present_Position</a:t>
            </a:r>
            <a:r>
              <a:rPr lang="en-US" altLang="zh-CN" sz="1400" dirty="0"/>
              <a:t>: </a:t>
            </a:r>
            <a:r>
              <a:rPr lang="zh-CN" altLang="en-US" sz="1400" dirty="0"/>
              <a:t>地址</a:t>
            </a:r>
            <a:r>
              <a:rPr lang="en-US" altLang="zh-CN" sz="1400" dirty="0"/>
              <a:t>56, 2</a:t>
            </a:r>
            <a:r>
              <a:rPr lang="zh-CN" altLang="en-US" sz="1400" dirty="0"/>
              <a:t>字节 </a:t>
            </a:r>
            <a:r>
              <a:rPr lang="en-US" altLang="zh-CN" sz="1400" dirty="0"/>
              <a:t> </a:t>
            </a:r>
            <a:r>
              <a:rPr lang="en-US" altLang="zh-CN" sz="1400" dirty="0" err="1"/>
              <a:t>Goal_Position</a:t>
            </a:r>
            <a:r>
              <a:rPr lang="en-US" altLang="zh-CN" sz="1400" dirty="0"/>
              <a:t>: </a:t>
            </a:r>
            <a:r>
              <a:rPr lang="zh-CN" altLang="en-US" sz="1400" dirty="0"/>
              <a:t>地址</a:t>
            </a:r>
            <a:r>
              <a:rPr lang="en-US" altLang="zh-CN" sz="1400" dirty="0"/>
              <a:t>42, 2</a:t>
            </a:r>
            <a:r>
              <a:rPr lang="zh-CN" altLang="en-US" sz="1400" dirty="0"/>
              <a:t>字节</a:t>
            </a:r>
            <a:endParaRPr lang="en-US" altLang="zh-CN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ADE6B7-1AF0-9956-FF27-E69E5B342060}"/>
              </a:ext>
            </a:extLst>
          </p:cNvPr>
          <p:cNvSpPr txBox="1"/>
          <p:nvPr/>
        </p:nvSpPr>
        <p:spPr>
          <a:xfrm>
            <a:off x="5048518" y="3453246"/>
            <a:ext cx="83127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scservo_sdk</a:t>
            </a:r>
            <a:r>
              <a:rPr lang="en-US" altLang="zh-CN" sz="1400" b="0" dirty="0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scs</a:t>
            </a:r>
            <a:r>
              <a:rPr lang="zh-CN" altLang="en-US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直接到</a:t>
            </a:r>
            <a:r>
              <a:rPr lang="en-US" altLang="zh-CN" sz="1400" dirty="0" err="1">
                <a:solidFill>
                  <a:srgbClr val="3778B7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scservo_sdk</a:t>
            </a:r>
            <a:r>
              <a:rPr lang="en-US" altLang="zh-CN" sz="1400" dirty="0">
                <a:solidFill>
                  <a:srgbClr val="3778B7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endParaRPr lang="en-US" altLang="zh-CN" sz="14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400" dirty="0"/>
              <a:t>result = </a:t>
            </a:r>
            <a:r>
              <a:rPr lang="en-US" altLang="zh-CN" sz="1400" dirty="0" err="1"/>
              <a:t>self.packet_handler.</a:t>
            </a:r>
            <a:r>
              <a:rPr lang="en-US" altLang="zh-CN" sz="1400" dirty="0" err="1">
                <a:highlight>
                  <a:srgbClr val="FFFF00"/>
                </a:highlight>
              </a:rPr>
              <a:t>txPacket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self.port_handler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txpacket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handler</a:t>
            </a:r>
            <a:r>
              <a:rPr lang="zh-CN" altLang="en-US" sz="1400" dirty="0"/>
              <a:t>是在</a:t>
            </a:r>
            <a:r>
              <a:rPr lang="en-US" altLang="zh-CN" sz="1400" dirty="0" err="1"/>
              <a:t>sdk</a:t>
            </a:r>
            <a:r>
              <a:rPr lang="zh-CN" altLang="en-US" sz="1400" dirty="0"/>
              <a:t>内部持有一个</a:t>
            </a:r>
            <a:r>
              <a:rPr lang="en-US" altLang="zh-CN" sz="1400" dirty="0" err="1"/>
              <a:t>serial.Serial</a:t>
            </a:r>
            <a:r>
              <a:rPr lang="zh-CN" altLang="en-US" sz="1400" dirty="0"/>
              <a:t>实例，</a:t>
            </a:r>
            <a:r>
              <a:rPr lang="en-US" altLang="zh-CN" sz="1400" dirty="0" err="1"/>
              <a:t>txpacket</a:t>
            </a:r>
            <a:r>
              <a:rPr lang="zh-CN" altLang="en-US" sz="1400" dirty="0"/>
              <a:t>是</a:t>
            </a:r>
            <a:r>
              <a:rPr lang="en-US" altLang="zh-CN" sz="1400" b="1" dirty="0"/>
              <a:t> (list[int])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CB0F7F-2E4D-9A11-0AFD-BCDC9FA90959}"/>
              </a:ext>
            </a:extLst>
          </p:cNvPr>
          <p:cNvSpPr txBox="1"/>
          <p:nvPr/>
        </p:nvSpPr>
        <p:spPr>
          <a:xfrm>
            <a:off x="5048518" y="4326450"/>
            <a:ext cx="604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中间有很长调用链，在下一页</a:t>
            </a:r>
            <a:endParaRPr lang="en-US" altLang="zh-CN" sz="14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port.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writePort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txpacket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400" dirty="0">
                <a:solidFill>
                  <a:srgbClr val="1A1A1A"/>
                </a:solidFill>
                <a:latin typeface="Menlo" panose="020B0609030804020204" pitchFamily="49" charset="0"/>
              </a:rPr>
              <a:t>调用到</a:t>
            </a:r>
            <a:r>
              <a:rPr kumimoji="1" lang="en-US" altLang="zh-CN" sz="1400" dirty="0" err="1"/>
              <a:t>Pyserical</a:t>
            </a:r>
            <a:endParaRPr lang="en-US" altLang="zh-CN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4C90DF-F0F9-1790-95F3-62C808BD0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99064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E399-E546-CC1E-8397-41DADB65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70878160-1341-0C19-ABA6-82EC2DEF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scservo_sdk</a:t>
            </a:r>
            <a:r>
              <a:rPr lang="zh-CN" altLang="en-US" dirty="0"/>
              <a:t>内部逻辑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589992-E9DC-D158-2CFD-C214ADBE6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7C75A-59BC-7754-058B-FEBDAC4430ED}"/>
              </a:ext>
            </a:extLst>
          </p:cNvPr>
          <p:cNvSpPr/>
          <p:nvPr/>
        </p:nvSpPr>
        <p:spPr>
          <a:xfrm>
            <a:off x="1954373" y="1008731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sync_read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C5B3AA-186D-5650-D3C7-044566946592}"/>
              </a:ext>
            </a:extLst>
          </p:cNvPr>
          <p:cNvSpPr/>
          <p:nvPr/>
        </p:nvSpPr>
        <p:spPr>
          <a:xfrm>
            <a:off x="4180122" y="1008731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sync_write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4CF92-3B45-AB1D-8291-60F87C1D9786}"/>
              </a:ext>
            </a:extLst>
          </p:cNvPr>
          <p:cNvSpPr txBox="1"/>
          <p:nvPr/>
        </p:nvSpPr>
        <p:spPr>
          <a:xfrm>
            <a:off x="588823" y="1804624"/>
            <a:ext cx="341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self.sync_reader.txRxPacket</a:t>
            </a:r>
            <a:r>
              <a:rPr lang="en-US" altLang="zh-CN" dirty="0"/>
              <a:t>()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B1217-961D-7CEC-CC24-1D5AB12305B7}"/>
              </a:ext>
            </a:extLst>
          </p:cNvPr>
          <p:cNvSpPr txBox="1"/>
          <p:nvPr/>
        </p:nvSpPr>
        <p:spPr>
          <a:xfrm>
            <a:off x="4103919" y="1823143"/>
            <a:ext cx="321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self.sync_writer.txPacket</a:t>
            </a:r>
            <a:r>
              <a:rPr lang="en-US" altLang="zh-CN" dirty="0"/>
              <a:t>()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CA744F-2FED-4CF9-4A2E-7AB08B465843}"/>
              </a:ext>
            </a:extLst>
          </p:cNvPr>
          <p:cNvSpPr txBox="1"/>
          <p:nvPr/>
        </p:nvSpPr>
        <p:spPr>
          <a:xfrm>
            <a:off x="6299936" y="1064009"/>
            <a:ext cx="253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</a:rPr>
              <a:t>motors_bus.py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B45BB3-E4AF-8CD5-16E7-2DB930344325}"/>
              </a:ext>
            </a:extLst>
          </p:cNvPr>
          <p:cNvSpPr txBox="1"/>
          <p:nvPr/>
        </p:nvSpPr>
        <p:spPr>
          <a:xfrm>
            <a:off x="6746591" y="4449463"/>
            <a:ext cx="4904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protocol_packet_handler.py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0F009B-AFA5-AE5A-CC5B-02C63A64FBC0}"/>
              </a:ext>
            </a:extLst>
          </p:cNvPr>
          <p:cNvSpPr txBox="1"/>
          <p:nvPr/>
        </p:nvSpPr>
        <p:spPr>
          <a:xfrm>
            <a:off x="4051650" y="3120044"/>
            <a:ext cx="39037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zh-CN" sz="11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self.ph.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syncWriteTxOnly</a:t>
            </a: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zh-CN" altLang="en-US" dirty="0"/>
              <a:t>发送广播 </a:t>
            </a:r>
            <a:r>
              <a:rPr lang="en-US" altLang="zh-CN" dirty="0" err="1"/>
              <a:t>SyncWrite</a:t>
            </a:r>
            <a:r>
              <a:rPr lang="en-US" altLang="zh-CN" dirty="0"/>
              <a:t> </a:t>
            </a:r>
            <a:r>
              <a:rPr lang="zh-CN" altLang="en-US" dirty="0"/>
              <a:t>指令包（</a:t>
            </a:r>
            <a:r>
              <a:rPr lang="en-US" altLang="zh-CN" dirty="0"/>
              <a:t>INST_SYNC_WRITE</a:t>
            </a:r>
            <a:r>
              <a:rPr lang="zh-CN" altLang="en-US" dirty="0"/>
              <a:t>），一次性写多个电机寄存器。</a:t>
            </a:r>
          </a:p>
          <a:p>
            <a:pPr algn="l">
              <a:buNone/>
            </a:pP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90C5F-B737-0D3C-BBC0-F6F1C08EC406}"/>
              </a:ext>
            </a:extLst>
          </p:cNvPr>
          <p:cNvSpPr txBox="1"/>
          <p:nvPr/>
        </p:nvSpPr>
        <p:spPr>
          <a:xfrm>
            <a:off x="9270486" y="1077771"/>
            <a:ext cx="266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Lerobot</a:t>
            </a:r>
            <a:r>
              <a:rPr kumimoji="1" lang="zh-CN" altLang="en-US" dirty="0"/>
              <a:t>项目内舵机部分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BC9E30-EDE0-B076-B604-C4F5F52D67B6}"/>
              </a:ext>
            </a:extLst>
          </p:cNvPr>
          <p:cNvSpPr txBox="1"/>
          <p:nvPr/>
        </p:nvSpPr>
        <p:spPr>
          <a:xfrm>
            <a:off x="1131236" y="2629110"/>
            <a:ext cx="289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GroupSyncRead.txRxPacket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967DBC-5E91-E789-B7BF-52F9FCAF504D}"/>
              </a:ext>
            </a:extLst>
          </p:cNvPr>
          <p:cNvSpPr txBox="1"/>
          <p:nvPr/>
        </p:nvSpPr>
        <p:spPr>
          <a:xfrm>
            <a:off x="540530" y="2938910"/>
            <a:ext cx="45108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txRxPacket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(self):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result =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 != COMM_SUCCESS: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algn="l">
              <a:buNone/>
            </a:pPr>
            <a:endParaRPr lang="en-US" altLang="zh-CN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</a:t>
            </a:r>
            <a:endParaRPr lang="en-US" altLang="zh-CN" sz="14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70FB358-736C-F5E0-7EEA-9A61625821B8}"/>
              </a:ext>
            </a:extLst>
          </p:cNvPr>
          <p:cNvSpPr txBox="1"/>
          <p:nvPr/>
        </p:nvSpPr>
        <p:spPr>
          <a:xfrm>
            <a:off x="4180122" y="2651914"/>
            <a:ext cx="2707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FC4326-D54D-C478-41B5-6268FB31B4C9}"/>
              </a:ext>
            </a:extLst>
          </p:cNvPr>
          <p:cNvSpPr txBox="1"/>
          <p:nvPr/>
        </p:nvSpPr>
        <p:spPr>
          <a:xfrm>
            <a:off x="7321289" y="2709755"/>
            <a:ext cx="4608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highlight>
                  <a:srgbClr val="FFFF00"/>
                </a:highlight>
              </a:rPr>
              <a:t>scservo_sdk</a:t>
            </a:r>
            <a:r>
              <a:rPr lang="en-US" altLang="zh-CN" dirty="0">
                <a:solidFill>
                  <a:srgbClr val="00B0F0"/>
                </a:solidFill>
                <a:highlight>
                  <a:srgbClr val="FFFF00"/>
                </a:highlight>
              </a:rPr>
              <a:t>/ </a:t>
            </a:r>
            <a:r>
              <a:rPr kumimoji="1" lang="en-US" altLang="zh-CN" dirty="0" err="1">
                <a:solidFill>
                  <a:srgbClr val="00B0F0"/>
                </a:solidFill>
              </a:rPr>
              <a:t>group_sync_write.py</a:t>
            </a:r>
            <a:endParaRPr kumimoji="1" lang="en-US" altLang="zh-CN" dirty="0">
              <a:solidFill>
                <a:srgbClr val="00B0F0"/>
              </a:solidFill>
            </a:endParaRPr>
          </a:p>
          <a:p>
            <a:r>
              <a:rPr kumimoji="1" lang="en-US" altLang="zh-CN" dirty="0" err="1">
                <a:solidFill>
                  <a:srgbClr val="00B0F0"/>
                </a:solidFill>
              </a:rPr>
              <a:t>group_sync_read.py</a:t>
            </a:r>
            <a:endParaRPr kumimoji="1" lang="zh-CN" altLang="en-US" dirty="0">
              <a:solidFill>
                <a:srgbClr val="00B0F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47E6A0-2580-AACD-0692-FB02EA9458C1}"/>
              </a:ext>
            </a:extLst>
          </p:cNvPr>
          <p:cNvSpPr txBox="1"/>
          <p:nvPr/>
        </p:nvSpPr>
        <p:spPr>
          <a:xfrm>
            <a:off x="1337473" y="4387483"/>
            <a:ext cx="1726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port.clearPort</a:t>
            </a:r>
            <a:endParaRPr lang="en-US" altLang="zh-CN" dirty="0"/>
          </a:p>
          <a:p>
            <a:r>
              <a:rPr lang="en-US" altLang="zh-CN" dirty="0" err="1"/>
              <a:t>port.writePort</a:t>
            </a:r>
            <a:endParaRPr lang="en-US" altLang="zh-CN" dirty="0"/>
          </a:p>
          <a:p>
            <a:r>
              <a:rPr lang="en-US" altLang="zh-CN" dirty="0" err="1"/>
              <a:t>port.readPort</a:t>
            </a:r>
            <a:endParaRPr lang="en-US" altLang="zh-CN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0B6E1-B012-EE1D-FB09-70AB5467DC9D}"/>
              </a:ext>
            </a:extLst>
          </p:cNvPr>
          <p:cNvSpPr txBox="1"/>
          <p:nvPr/>
        </p:nvSpPr>
        <p:spPr>
          <a:xfrm>
            <a:off x="4103919" y="4352456"/>
            <a:ext cx="1864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clear</a:t>
            </a:r>
            <a:r>
              <a:rPr lang="en-US" altLang="zh-CN" dirty="0" err="1"/>
              <a:t>Port</a:t>
            </a:r>
            <a:endParaRPr lang="en-US" altLang="zh-CN" dirty="0"/>
          </a:p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write</a:t>
            </a:r>
            <a:r>
              <a:rPr lang="en-US" altLang="zh-CN" dirty="0" err="1"/>
              <a:t>Port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A9076DF-D17D-38D5-48C5-4C128F4C2312}"/>
              </a:ext>
            </a:extLst>
          </p:cNvPr>
          <p:cNvSpPr txBox="1"/>
          <p:nvPr/>
        </p:nvSpPr>
        <p:spPr>
          <a:xfrm>
            <a:off x="6787064" y="505532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port_handler.py   </a:t>
            </a:r>
            <a:r>
              <a:rPr lang="en-US" altLang="zh-CN" dirty="0">
                <a:solidFill>
                  <a:srgbClr val="00B0F0"/>
                </a:solidFill>
              </a:rPr>
              <a:t>-&gt;  </a:t>
            </a:r>
            <a:r>
              <a:rPr lang="zh-CN" altLang="en-US" dirty="0">
                <a:solidFill>
                  <a:srgbClr val="00B0F0"/>
                </a:solidFill>
              </a:rPr>
              <a:t>后面到了</a:t>
            </a:r>
            <a:r>
              <a:rPr lang="en-US" altLang="zh-CN" dirty="0" err="1">
                <a:solidFill>
                  <a:srgbClr val="00B0F0"/>
                </a:solidFill>
                <a:highlight>
                  <a:srgbClr val="FFFF00"/>
                </a:highlight>
              </a:rPr>
              <a:t>pyserial</a:t>
            </a:r>
            <a:endParaRPr lang="zh-CN" altLang="en-US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24AC82A-8A7B-70E3-9A70-B0E12EC67136}"/>
              </a:ext>
            </a:extLst>
          </p:cNvPr>
          <p:cNvSpPr txBox="1"/>
          <p:nvPr/>
        </p:nvSpPr>
        <p:spPr>
          <a:xfrm>
            <a:off x="4573106" y="5517482"/>
            <a:ext cx="676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这三个都有耗时</a:t>
            </a:r>
            <a:r>
              <a:rPr kumimoji="1" lang="en-US" altLang="zh-CN" dirty="0"/>
              <a:t>0.5-5</a:t>
            </a:r>
            <a:r>
              <a:rPr kumimoji="1" lang="zh-CN" altLang="en-US" dirty="0"/>
              <a:t>毫秒（已经打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确认了）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F119507-8499-9ADF-B8A7-CFC05438431A}"/>
              </a:ext>
            </a:extLst>
          </p:cNvPr>
          <p:cNvCxnSpPr>
            <a:cxnSpLocks/>
          </p:cNvCxnSpPr>
          <p:nvPr/>
        </p:nvCxnSpPr>
        <p:spPr>
          <a:xfrm flipH="1">
            <a:off x="4028287" y="916123"/>
            <a:ext cx="23363" cy="42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F1211E6-685E-53C4-FC31-D3523687C262}"/>
              </a:ext>
            </a:extLst>
          </p:cNvPr>
          <p:cNvSpPr txBox="1"/>
          <p:nvPr/>
        </p:nvSpPr>
        <p:spPr>
          <a:xfrm>
            <a:off x="244884" y="1030954"/>
            <a:ext cx="1789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读需要</a:t>
            </a:r>
            <a:r>
              <a:rPr kumimoji="1" lang="zh-CN" altLang="en-US" dirty="0">
                <a:highlight>
                  <a:srgbClr val="FFFF00"/>
                </a:highlight>
              </a:rPr>
              <a:t>先</a:t>
            </a:r>
            <a:r>
              <a:rPr kumimoji="1" lang="en-US" altLang="zh-CN" dirty="0" err="1">
                <a:highlight>
                  <a:srgbClr val="FFFF00"/>
                </a:highlight>
              </a:rPr>
              <a:t>tx</a:t>
            </a:r>
            <a:r>
              <a:rPr kumimoji="1" lang="zh-CN" altLang="en-US" dirty="0">
                <a:highlight>
                  <a:srgbClr val="FFFF00"/>
                </a:highlight>
              </a:rPr>
              <a:t>在</a:t>
            </a:r>
            <a:r>
              <a:rPr kumimoji="1" lang="en-US" altLang="zh-CN" dirty="0" err="1">
                <a:highlight>
                  <a:srgbClr val="FFFF00"/>
                </a:highlight>
              </a:rPr>
              <a:t>rx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先发送要读信号</a:t>
            </a:r>
            <a:endParaRPr kumimoji="1" lang="en-US" altLang="zh-CN" dirty="0"/>
          </a:p>
          <a:p>
            <a:r>
              <a:rPr kumimoji="1" lang="zh-CN" altLang="en-US" dirty="0"/>
              <a:t>再读串口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B34A01-C03C-5FAB-DE40-209A0D5701A7}"/>
              </a:ext>
            </a:extLst>
          </p:cNvPr>
          <p:cNvSpPr txBox="1"/>
          <p:nvPr/>
        </p:nvSpPr>
        <p:spPr>
          <a:xfrm>
            <a:off x="8492237" y="3776064"/>
            <a:ext cx="115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写仅需</a:t>
            </a:r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99F7A4-062F-284C-EA0C-2FBBC5D6002F}"/>
              </a:ext>
            </a:extLst>
          </p:cNvPr>
          <p:cNvSpPr txBox="1"/>
          <p:nvPr/>
        </p:nvSpPr>
        <p:spPr>
          <a:xfrm>
            <a:off x="847891" y="4621898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</a:p>
          <a:p>
            <a:r>
              <a:rPr kumimoji="1" lang="en-US" altLang="zh-CN" dirty="0"/>
              <a:t>Rx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5251E9-1936-51CB-FA71-C05E313E73A2}"/>
              </a:ext>
            </a:extLst>
          </p:cNvPr>
          <p:cNvSpPr txBox="1"/>
          <p:nvPr/>
        </p:nvSpPr>
        <p:spPr>
          <a:xfrm>
            <a:off x="5858572" y="4474751"/>
            <a:ext cx="514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0B5AB5-16B8-1A59-9D3E-8AA71BBEFE72}"/>
              </a:ext>
            </a:extLst>
          </p:cNvPr>
          <p:cNvSpPr txBox="1"/>
          <p:nvPr/>
        </p:nvSpPr>
        <p:spPr>
          <a:xfrm>
            <a:off x="9922844" y="3845309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Serial</a:t>
            </a:r>
            <a:r>
              <a:rPr kumimoji="1" lang="zh-CN" altLang="en-US" dirty="0">
                <a:highlight>
                  <a:srgbClr val="FFFF00"/>
                </a:highlight>
              </a:rPr>
              <a:t>协议</a:t>
            </a:r>
            <a:r>
              <a:rPr kumimoji="1" lang="en-US" altLang="zh-CN" dirty="0">
                <a:highlight>
                  <a:srgbClr val="FFFF00"/>
                </a:highlight>
              </a:rPr>
              <a:t>1Mbps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C7E396-E258-58C9-6844-A0C1C1081DA8}"/>
              </a:ext>
            </a:extLst>
          </p:cNvPr>
          <p:cNvSpPr txBox="1"/>
          <p:nvPr/>
        </p:nvSpPr>
        <p:spPr>
          <a:xfrm>
            <a:off x="7102478" y="1776371"/>
            <a:ext cx="346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feetech.py</a:t>
            </a:r>
            <a:r>
              <a:rPr kumimoji="1" lang="zh-CN" altLang="en-US" dirty="0"/>
              <a:t>包装到</a:t>
            </a:r>
            <a:r>
              <a:rPr kumimoji="1" lang="en-US" altLang="zh-CN" dirty="0" err="1"/>
              <a:t>scservo_sdk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38470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0E62-EAEC-AE8D-D89A-2C56EB03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0351D68F-A66A-1348-BA5A-43234678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发</a:t>
            </a:r>
            <a:r>
              <a:rPr lang="en-US" altLang="zh-CN" dirty="0"/>
              <a:t>/</a:t>
            </a:r>
            <a:r>
              <a:rPr lang="zh-CN" altLang="en-US" dirty="0"/>
              <a:t>收包，这一步在</a:t>
            </a:r>
            <a:r>
              <a:rPr lang="en-US" altLang="zh-CN" dirty="0" err="1"/>
              <a:t>scservo_sdk</a:t>
            </a:r>
            <a:r>
              <a:rPr lang="zh-CN" altLang="en-US" dirty="0"/>
              <a:t>里面解析完成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576EF9-876A-2B0E-C98A-6B538707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96E924-9687-B069-BDCE-95C88C7B01B5}"/>
              </a:ext>
            </a:extLst>
          </p:cNvPr>
          <p:cNvSpPr txBox="1"/>
          <p:nvPr/>
        </p:nvSpPr>
        <p:spPr>
          <a:xfrm>
            <a:off x="614748" y="1005696"/>
            <a:ext cx="90027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Sync Read</a:t>
            </a:r>
            <a:r>
              <a:rPr lang="zh-CN" altLang="en-US" b="1" dirty="0"/>
              <a:t>（读）：发 </a:t>
            </a:r>
            <a:r>
              <a:rPr lang="en-US" altLang="zh-CN" b="1" dirty="0"/>
              <a:t>1 </a:t>
            </a:r>
            <a:r>
              <a:rPr lang="zh-CN" altLang="en-US" b="1" dirty="0"/>
              <a:t>个包收</a:t>
            </a:r>
            <a:r>
              <a:rPr lang="en-US" altLang="zh-CN" b="1" dirty="0"/>
              <a:t>6</a:t>
            </a:r>
            <a:r>
              <a:rPr lang="zh-CN" altLang="en-US" b="1" dirty="0"/>
              <a:t>个包</a:t>
            </a:r>
            <a:endParaRPr lang="en-US" altLang="zh-CN" dirty="0"/>
          </a:p>
          <a:p>
            <a:r>
              <a:rPr lang="en-US" altLang="zh-CN" dirty="0"/>
              <a:t>[FF][FF][FE][0A][82][38][02][01][02][03][04][05][06][CHK]</a:t>
            </a:r>
          </a:p>
          <a:p>
            <a:r>
              <a:rPr lang="en-US" altLang="zh-CN" dirty="0"/>
              <a:t> 2   </a:t>
            </a:r>
            <a:r>
              <a:rPr lang="zh-CN" altLang="en-US" dirty="0"/>
              <a:t>       </a:t>
            </a:r>
            <a:r>
              <a:rPr lang="en-US" altLang="zh-CN" dirty="0"/>
              <a:t> 1   </a:t>
            </a:r>
            <a:r>
              <a:rPr lang="zh-CN" altLang="en-US" dirty="0"/>
              <a:t> </a:t>
            </a:r>
            <a:r>
              <a:rPr lang="en-US" altLang="zh-CN" dirty="0"/>
              <a:t>1   </a:t>
            </a:r>
            <a:r>
              <a:rPr lang="zh-CN" altLang="en-US" dirty="0"/>
              <a:t>  </a:t>
            </a:r>
            <a:r>
              <a:rPr lang="en-US" altLang="zh-CN" dirty="0"/>
              <a:t>1   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    </a:t>
            </a:r>
            <a:r>
              <a:rPr lang="en-US" altLang="zh-CN" dirty="0"/>
              <a:t>   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ID(6)          </a:t>
            </a:r>
            <a:r>
              <a:rPr lang="zh-CN" altLang="en-US" dirty="0"/>
              <a:t>          </a:t>
            </a:r>
            <a:r>
              <a:rPr lang="en-US" altLang="zh-CN" dirty="0"/>
              <a:t>     1	14</a:t>
            </a:r>
            <a:r>
              <a:rPr lang="zh-CN" altLang="en-US" dirty="0"/>
              <a:t>字节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接收包</a:t>
            </a:r>
            <a:r>
              <a:rPr lang="zh-CN" altLang="en-US" dirty="0"/>
              <a:t>：每舵机 </a:t>
            </a:r>
            <a:r>
              <a:rPr lang="en-US" altLang="zh-CN" dirty="0"/>
              <a:t>8 </a:t>
            </a:r>
            <a:r>
              <a:rPr lang="zh-CN" altLang="en-US" dirty="0"/>
              <a:t>字节 </a:t>
            </a:r>
            <a:r>
              <a:rPr lang="en-US" altLang="zh-CN" dirty="0"/>
              <a:t>× 6 = 48 </a:t>
            </a:r>
            <a:r>
              <a:rPr lang="zh-CN" altLang="en-US" dirty="0"/>
              <a:t>字节</a:t>
            </a:r>
          </a:p>
          <a:p>
            <a:r>
              <a:rPr lang="en-US" altLang="zh-CN" dirty="0"/>
              <a:t>[FF][FF][ID][04][00][AB][CD][CHK]</a:t>
            </a:r>
          </a:p>
          <a:p>
            <a:r>
              <a:rPr lang="en-US" altLang="zh-CN" dirty="0"/>
              <a:t> 2    </a:t>
            </a:r>
            <a:r>
              <a:rPr lang="zh-CN" altLang="en-US" dirty="0"/>
              <a:t>     </a:t>
            </a:r>
            <a:r>
              <a:rPr lang="en-US" altLang="zh-CN" dirty="0"/>
              <a:t>1  </a:t>
            </a:r>
            <a:r>
              <a:rPr lang="zh-CN" altLang="en-US" dirty="0"/>
              <a:t>  </a:t>
            </a:r>
            <a:r>
              <a:rPr lang="en-US" altLang="zh-CN" dirty="0"/>
              <a:t> 1  </a:t>
            </a:r>
            <a:r>
              <a:rPr lang="zh-CN" altLang="en-US" dirty="0"/>
              <a:t> </a:t>
            </a:r>
            <a:r>
              <a:rPr lang="en-US" altLang="zh-CN" dirty="0"/>
              <a:t> 1   </a:t>
            </a:r>
            <a:r>
              <a:rPr lang="zh-CN" altLang="en-US" dirty="0"/>
              <a:t>  </a:t>
            </a:r>
            <a:r>
              <a:rPr lang="en-US" altLang="zh-CN" dirty="0"/>
              <a:t>1  </a:t>
            </a:r>
            <a:r>
              <a:rPr lang="zh-CN" altLang="en-US" dirty="0"/>
              <a:t>  </a:t>
            </a:r>
            <a:r>
              <a:rPr lang="en-US" altLang="zh-CN" dirty="0"/>
              <a:t> 1    1				8</a:t>
            </a:r>
            <a:r>
              <a:rPr lang="zh-CN" altLang="en-US" dirty="0"/>
              <a:t>字节</a:t>
            </a:r>
            <a:endParaRPr lang="en-US" altLang="zh-CN" dirty="0"/>
          </a:p>
          <a:p>
            <a:pPr algn="l">
              <a:buNone/>
            </a:pPr>
            <a:endParaRPr lang="en-US" altLang="zh-CN" dirty="0">
              <a:solidFill>
                <a:srgbClr val="A31515"/>
              </a:solidFill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altLang="zh-CN" dirty="0">
              <a:solidFill>
                <a:srgbClr val="A31515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/>
              <a:t>Sync Write</a:t>
            </a:r>
            <a:r>
              <a:rPr lang="zh-CN" altLang="en-US" b="1" dirty="0"/>
              <a:t>（写）：发 </a:t>
            </a:r>
            <a:r>
              <a:rPr lang="en-US" altLang="zh-CN" b="1" dirty="0"/>
              <a:t>1 </a:t>
            </a:r>
            <a:r>
              <a:rPr lang="zh-CN" altLang="en-US" b="1" dirty="0"/>
              <a:t>个包</a:t>
            </a:r>
          </a:p>
          <a:p>
            <a:r>
              <a:rPr lang="en-US" altLang="zh-CN" dirty="0"/>
              <a:t>[FF][FF][FE][LEN][83][42][02</a:t>
            </a:r>
            <a:r>
              <a:rPr lang="en-US" altLang="zh-CN" dirty="0">
                <a:highlight>
                  <a:srgbClr val="FFFF00"/>
                </a:highlight>
              </a:rPr>
              <a:t>][ID1][pos1_L][pos1_H][ID2][pos2_L][pos2_H]...</a:t>
            </a:r>
            <a:r>
              <a:rPr lang="en-US" altLang="zh-CN" dirty="0"/>
              <a:t>[CHK]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          </a:t>
            </a:r>
            <a:r>
              <a:rPr lang="en-US" altLang="zh-CN" dirty="0"/>
              <a:t>1</a:t>
            </a:r>
            <a:r>
              <a:rPr lang="zh-CN" altLang="en-US" dirty="0"/>
              <a:t>    </a:t>
            </a:r>
            <a:r>
              <a:rPr lang="en-US" altLang="zh-CN" dirty="0"/>
              <a:t>1</a:t>
            </a:r>
            <a:r>
              <a:rPr lang="zh-CN" altLang="en-US" dirty="0"/>
              <a:t>        </a:t>
            </a:r>
            <a:r>
              <a:rPr lang="en-US" altLang="zh-CN" dirty="0"/>
              <a:t>1</a:t>
            </a:r>
            <a:r>
              <a:rPr lang="zh-CN" altLang="en-US" dirty="0"/>
              <a:t>  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dirty="0"/>
              <a:t>1</a:t>
            </a:r>
            <a:r>
              <a:rPr lang="zh-CN" altLang="en-US" dirty="0"/>
              <a:t>   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6=18</a:t>
            </a:r>
            <a:r>
              <a:rPr lang="zh-CN" altLang="en-US" dirty="0"/>
              <a:t>                                                            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H0 H1 </a:t>
            </a:r>
            <a:r>
              <a:rPr lang="zh-CN" altLang="en-US" dirty="0"/>
              <a:t>广播 包长 指令地址 字节数  ← </a:t>
            </a:r>
            <a:r>
              <a:rPr lang="en-US" altLang="zh-CN" dirty="0"/>
              <a:t>6</a:t>
            </a:r>
            <a:r>
              <a:rPr lang="zh-CN" altLang="en-US" dirty="0"/>
              <a:t>个舵机的</a:t>
            </a:r>
            <a:r>
              <a:rPr lang="en-US" altLang="zh-CN" dirty="0"/>
              <a:t>ID+</a:t>
            </a:r>
            <a:r>
              <a:rPr lang="zh-CN" altLang="en-US" dirty="0"/>
              <a:t>数据交替排列 →</a:t>
            </a:r>
            <a:endParaRPr lang="en-US" altLang="zh-CN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24</a:t>
            </a:r>
            <a:r>
              <a:rPr lang="zh-CN" altLang="en-US" b="1" dirty="0"/>
              <a:t>字节）</a:t>
            </a:r>
          </a:p>
          <a:p>
            <a:endParaRPr lang="zh-CN" altLang="en-US" dirty="0"/>
          </a:p>
          <a:p>
            <a:r>
              <a:rPr lang="zh-CN" altLang="en-US" dirty="0"/>
              <a:t>电机收到后，各自解析属于自己的 </a:t>
            </a:r>
            <a:r>
              <a:rPr lang="en-US" altLang="zh-CN" dirty="0"/>
              <a:t>2 </a:t>
            </a:r>
            <a:r>
              <a:rPr lang="zh-CN" altLang="en-US" dirty="0"/>
              <a:t>字节，写入对应寄存器，</a:t>
            </a:r>
            <a:r>
              <a:rPr lang="zh-CN" altLang="en-US" b="1" dirty="0"/>
              <a:t>不回包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FFFF-</a:t>
            </a:r>
            <a:r>
              <a:rPr lang="zh-CN" altLang="en-US" dirty="0"/>
              <a:t>包头。 </a:t>
            </a:r>
            <a:r>
              <a:rPr lang="en-US" altLang="zh-CN" dirty="0"/>
              <a:t>FE-</a:t>
            </a:r>
            <a:r>
              <a:rPr lang="zh-CN" altLang="en-US" dirty="0"/>
              <a:t>广播地址。</a:t>
            </a:r>
            <a:r>
              <a:rPr lang="en-US" altLang="zh-CN" dirty="0"/>
              <a:t>0A-</a:t>
            </a:r>
            <a:r>
              <a:rPr lang="zh-CN" altLang="en-US" dirty="0"/>
              <a:t>包长</a:t>
            </a:r>
            <a:r>
              <a:rPr lang="en-US" altLang="zh-CN" dirty="0"/>
              <a:t>=10byte</a:t>
            </a:r>
            <a:r>
              <a:rPr lang="zh-CN" altLang="en-US" dirty="0"/>
              <a:t>。</a:t>
            </a:r>
            <a:r>
              <a:rPr lang="en-US" altLang="zh-CN" dirty="0"/>
              <a:t>82-</a:t>
            </a:r>
            <a:r>
              <a:rPr lang="zh-CN" altLang="en-US" dirty="0"/>
              <a:t>指令码。</a:t>
            </a:r>
            <a:r>
              <a:rPr lang="en-US" altLang="zh-CN" dirty="0"/>
              <a:t>3802-</a:t>
            </a:r>
            <a:r>
              <a:rPr lang="zh-CN" altLang="en-US" dirty="0"/>
              <a:t>寄存器起始地址。</a:t>
            </a:r>
            <a:endParaRPr lang="en-US" altLang="zh-CN" dirty="0"/>
          </a:p>
          <a:p>
            <a:r>
              <a:rPr lang="en-US" altLang="zh-CN" dirty="0"/>
              <a:t>CHK-</a:t>
            </a:r>
            <a:r>
              <a:rPr lang="zh-CN" altLang="en-US" dirty="0"/>
              <a:t>校验和</a:t>
            </a:r>
            <a:r>
              <a:rPr lang="en-US" altLang="zh-CN" dirty="0"/>
              <a:t>SUM</a:t>
            </a:r>
            <a:r>
              <a:rPr lang="zh-CN" altLang="en-US" dirty="0"/>
              <a:t>。 读和写的包都差不多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5DC707-22E0-BA95-E10F-AE078DEF3214}"/>
              </a:ext>
            </a:extLst>
          </p:cNvPr>
          <p:cNvSpPr txBox="1"/>
          <p:nvPr/>
        </p:nvSpPr>
        <p:spPr>
          <a:xfrm>
            <a:off x="6568169" y="4664466"/>
            <a:ext cx="6098720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.sync_writer.</a:t>
            </a:r>
            <a:r>
              <a:rPr lang="en-US" altLang="zh-CN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addParam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id_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data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36F172-CE11-D79A-E500-99B2BEC35616}"/>
              </a:ext>
            </a:extLst>
          </p:cNvPr>
          <p:cNvSpPr txBox="1"/>
          <p:nvPr/>
        </p:nvSpPr>
        <p:spPr>
          <a:xfrm>
            <a:off x="6096000" y="2051988"/>
            <a:ext cx="6335484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.sync_reader.</a:t>
            </a:r>
            <a:r>
              <a:rPr lang="en-US" altLang="zh-CN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addParam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id_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9996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写：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698912-89BF-23E5-BE69-4675EA687ECC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ser.write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37BC7C-B7EC-80D5-8891-DC4C9E0E9AAB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ACF2E5-B4ED-599B-F394-F8066428015D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os.write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847CD-691F-C3B3-A242-D8B103B7CD8D}"/>
              </a:ext>
            </a:extLst>
          </p:cNvPr>
          <p:cNvSpPr/>
          <p:nvPr/>
        </p:nvSpPr>
        <p:spPr>
          <a:xfrm>
            <a:off x="10473889" y="240075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9485E1-C988-F333-604F-D613AF4FDA34}"/>
              </a:ext>
            </a:extLst>
          </p:cNvPr>
          <p:cNvSpPr txBox="1"/>
          <p:nvPr/>
        </p:nvSpPr>
        <p:spPr>
          <a:xfrm>
            <a:off x="-5388" y="893600"/>
            <a:ext cx="6230114" cy="3670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self, 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data: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调用方传入的待发送数据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可以是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bytearray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其他可转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的类型。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返回值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实际写入的总字节数。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循环发送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直到全部写完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或因为超时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取消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异常而退出。</a:t>
            </a:r>
            <a:endParaRPr lang="en-US" altLang="zh-CN" sz="105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转成字节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计算长度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真正执行系统调用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os.write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d),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将用户态缓冲区写入串口驱动。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timeout.is_infinite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当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不为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None,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使用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select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变为“可写”。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expired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SerialTimeoutException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'Write timeout'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等待串口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重新变为可写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同时监听取消写操作的管道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abort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self.pipe_abort_write_r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丢弃已经成功发出的前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个字节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继续发送剩余部分。</a:t>
            </a:r>
            <a:endParaRPr lang="zh-CN" altLang="en-US" sz="105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B84580-5122-7A8F-1AF2-27F4F1BAA4A5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write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71AFAD-2FAC-488A-E7E3-30794198E006}"/>
              </a:ext>
            </a:extLst>
          </p:cNvPr>
          <p:cNvSpPr/>
          <p:nvPr/>
        </p:nvSpPr>
        <p:spPr>
          <a:xfrm>
            <a:off x="9540110" y="2010461"/>
            <a:ext cx="811418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477CDE-A849-2AE3-1EC9-32A6CE0EC94F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6AEB5C-C834-0439-D6C9-AAEC25BA2300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269333-F9A6-F6D6-62EC-6E9FF255B4B5}"/>
              </a:ext>
            </a:extLst>
          </p:cNvPr>
          <p:cNvSpPr/>
          <p:nvPr/>
        </p:nvSpPr>
        <p:spPr>
          <a:xfrm>
            <a:off x="8284010" y="2010461"/>
            <a:ext cx="1140056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F66FD73F-9FDC-0E65-C49F-052C0C45D747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598FBCA-9D92-DCF5-1F4B-C30CCAE6F36C}"/>
              </a:ext>
            </a:extLst>
          </p:cNvPr>
          <p:cNvCxnSpPr>
            <a:stCxn id="22" idx="2"/>
            <a:endCxn id="15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8396CD61-FFA6-A244-BA3D-15DB9C5E2FEB}"/>
              </a:ext>
            </a:extLst>
          </p:cNvPr>
          <p:cNvCxnSpPr>
            <a:cxnSpLocks/>
            <a:stCxn id="15" idx="2"/>
            <a:endCxn id="22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2E60DE6-492D-C6DE-4CF9-D88E76E923B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8DBCF5-F288-EE29-035F-2C804E633512}"/>
              </a:ext>
            </a:extLst>
          </p:cNvPr>
          <p:cNvSpPr txBox="1"/>
          <p:nvPr/>
        </p:nvSpPr>
        <p:spPr>
          <a:xfrm>
            <a:off x="57550" y="5164566"/>
            <a:ext cx="4724370" cy="7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1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self.is_open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glibc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07A634-C6B7-0491-9CCB-19C1FE6E358C}"/>
              </a:ext>
            </a:extLst>
          </p:cNvPr>
          <p:cNvSpPr txBox="1"/>
          <p:nvPr/>
        </p:nvSpPr>
        <p:spPr>
          <a:xfrm>
            <a:off x="5097628" y="4742222"/>
            <a:ext cx="4724370" cy="1335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TCSBRK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weak_alias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56D14C-6B05-97CD-486A-E41960B2BA35}"/>
              </a:ext>
            </a:extLst>
          </p:cNvPr>
          <p:cNvSpPr txBox="1"/>
          <p:nvPr/>
        </p:nvSpPr>
        <p:spPr>
          <a:xfrm>
            <a:off x="8646701" y="5564483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直接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ioctl</a:t>
            </a:r>
            <a:endParaRPr kumimoji="1" lang="en-US" altLang="zh-CN" dirty="0"/>
          </a:p>
          <a:p>
            <a:r>
              <a:rPr lang="zh-CN" altLang="en-US" dirty="0"/>
              <a:t>等串口待发送数据真正发完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5D5C7D-BAEC-BD40-4B0C-2288332F9302}"/>
              </a:ext>
            </a:extLst>
          </p:cNvPr>
          <p:cNvSpPr txBox="1"/>
          <p:nvPr/>
        </p:nvSpPr>
        <p:spPr>
          <a:xfrm>
            <a:off x="109336" y="4446788"/>
            <a:ext cx="874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Flush</a:t>
            </a:r>
            <a:r>
              <a:rPr kumimoji="1" lang="zh-CN" altLang="en-US" dirty="0"/>
              <a:t>直接调用</a:t>
            </a:r>
            <a:r>
              <a:rPr lang="en-US" altLang="zh-CN" dirty="0" err="1">
                <a:solidFill>
                  <a:srgbClr val="A56416"/>
                </a:solidFill>
                <a:latin typeface="Menlo" panose="020B0609030804020204" pitchFamily="49" charset="0"/>
              </a:rPr>
              <a:t>tcdrain</a:t>
            </a:r>
            <a:r>
              <a:rPr lang="zh-CN" altLang="en-US" dirty="0">
                <a:solidFill>
                  <a:srgbClr val="A56416"/>
                </a:solidFill>
                <a:latin typeface="Menlo" panose="020B0609030804020204" pitchFamily="49" charset="0"/>
              </a:rPr>
              <a:t>直接调用</a:t>
            </a:r>
            <a:r>
              <a:rPr lang="en-US" altLang="zh-CN" dirty="0">
                <a:solidFill>
                  <a:srgbClr val="B052A1"/>
                </a:solidFill>
                <a:latin typeface="Menlo" panose="020B0609030804020204" pitchFamily="49" charset="0"/>
              </a:rPr>
              <a:t>SYSCALL_CANCEL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ioctl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fd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TCSBRK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3778B7"/>
                </a:solidFill>
                <a:latin typeface="Menlo" panose="020B0609030804020204" pitchFamily="49" charset="0"/>
              </a:rPr>
              <a:t>1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altLang="zh-CN" dirty="0"/>
              <a:t>POSIX </a:t>
            </a:r>
            <a:r>
              <a:rPr lang="zh-CN" altLang="en-US" dirty="0"/>
              <a:t>标准函数，</a:t>
            </a:r>
            <a:r>
              <a:rPr lang="zh-CN" altLang="en-US" b="1" dirty="0"/>
              <a:t>等待所有输出数据被发送完毕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2828F3-C691-6607-D62C-A06FB380D5D5}"/>
              </a:ext>
            </a:extLst>
          </p:cNvPr>
          <p:cNvSpPr/>
          <p:nvPr/>
        </p:nvSpPr>
        <p:spPr>
          <a:xfrm>
            <a:off x="10789958" y="3746490"/>
            <a:ext cx="735735" cy="73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ioctl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029F5-1D01-5B99-ECB5-5659E1C911D1}"/>
              </a:ext>
            </a:extLst>
          </p:cNvPr>
          <p:cNvSpPr/>
          <p:nvPr/>
        </p:nvSpPr>
        <p:spPr>
          <a:xfrm>
            <a:off x="9216683" y="3746491"/>
            <a:ext cx="1504523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5BC38-0DBB-FE11-C3B1-305E0A0D04BD}"/>
              </a:ext>
            </a:extLst>
          </p:cNvPr>
          <p:cNvSpPr/>
          <p:nvPr/>
        </p:nvSpPr>
        <p:spPr>
          <a:xfrm>
            <a:off x="7936505" y="3746491"/>
            <a:ext cx="1211425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378FA7-4167-DCDA-82C5-A7B5106B30CB}"/>
              </a:ext>
            </a:extLst>
          </p:cNvPr>
          <p:cNvSpPr/>
          <p:nvPr/>
        </p:nvSpPr>
        <p:spPr>
          <a:xfrm>
            <a:off x="6587371" y="3746491"/>
            <a:ext cx="1235482" cy="731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ser.flush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1BA726-DA26-B044-79CA-CCE506A5682F}"/>
              </a:ext>
            </a:extLst>
          </p:cNvPr>
          <p:cNvSpPr txBox="1"/>
          <p:nvPr/>
        </p:nvSpPr>
        <p:spPr>
          <a:xfrm>
            <a:off x="7843338" y="4763574"/>
            <a:ext cx="325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cpython</a:t>
            </a:r>
            <a:r>
              <a:rPr lang="en-US" altLang="zh-CN" dirty="0"/>
              <a:t>/Modules/</a:t>
            </a:r>
            <a:r>
              <a:rPr lang="en-US" altLang="zh-CN" dirty="0" err="1"/>
              <a:t>termios.c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97234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497F5-6951-9E42-8F4E-D0E9C0853E2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b71dc2f-75d1-4bcd-b8e9-c534ffaed1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2701</TotalTime>
  <Words>2057</Words>
  <Application>Microsoft Macintosh PowerPoint</Application>
  <PresentationFormat>宽屏</PresentationFormat>
  <Paragraphs>256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微软雅黑</vt:lpstr>
      <vt:lpstr>Arial</vt:lpstr>
      <vt:lpstr>Century Gothic</vt:lpstr>
      <vt:lpstr>Consolas</vt:lpstr>
      <vt:lpstr>Courier New</vt:lpstr>
      <vt:lpstr>Menlo</vt:lpstr>
      <vt:lpstr>内页​​</vt:lpstr>
      <vt:lpstr>PowerPoint 演示文稿</vt:lpstr>
      <vt:lpstr>软件栈</vt:lpstr>
      <vt:lpstr>一个frame涉及到的数据</vt:lpstr>
      <vt:lpstr>舵机执行逻辑</vt:lpstr>
      <vt:lpstr>scservo_sdk内部逻辑</vt:lpstr>
      <vt:lpstr>发/收包，这一步在scservo_sdk里面解析完成</vt:lpstr>
      <vt:lpstr>写：Pyserial到内核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- Vel</dc:creator>
  <cp:keywords/>
  <dc:description/>
  <cp:lastModifiedBy>- Vel</cp:lastModifiedBy>
  <cp:revision>18</cp:revision>
  <dcterms:created xsi:type="dcterms:W3CDTF">2026-04-03T03:36:25Z</dcterms:created>
  <dcterms:modified xsi:type="dcterms:W3CDTF">2026-04-15T03:18:06Z</dcterms:modified>
  <cp:category/>
</cp:coreProperties>
</file>